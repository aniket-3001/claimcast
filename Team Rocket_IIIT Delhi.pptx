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871C0-8BEE-4F2C-9BA2-9663CC719E2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2771B-BEB5-4FB3-B61F-E76DEDD33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7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C9A4A-20DB-4C13-9C25-10139B0F9FD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1653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A272-1B98-7756-B21D-54AAC768F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D5F1B-4535-A2CC-2E76-4C3E08AB7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4CE0A-13B3-E099-E264-C749A7B6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7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1EDA-F949-7762-7345-3EC6336A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A73D-C754-E2B5-B616-EE148043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2A365-36F6-273A-E85F-BE3BCFAA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5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CC3A-3FE1-0608-AF69-62F314B8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7BFE7-64BF-F955-094B-CA2D54AD6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3996-BA9A-1D0B-135F-621431AB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6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690F-9551-239D-5BE0-BB7D7E64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0743-FEC6-B634-E47C-2987E9236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011FE-B5BC-2B1A-0E68-A1AA89031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5E66-F455-7267-A757-23F63A21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1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B620-4238-7450-B7BC-8A6EA49F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7683-D4EF-2932-696B-91C26373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3E9DB-B890-C5C4-54FD-A2AB329D6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FCF46-E11B-100C-6B4F-FB77397BB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BEB23-E520-032B-ECF0-C43E6673B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0DAEA-7228-8F58-41E8-8B79C6E6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9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3E66-949C-AC89-6293-B7A652B9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72F4F-E0A7-505D-B933-0946FE12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74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C9473-7CFF-9FF1-EBDE-A4075A96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5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FF25-1B80-BD56-5515-20E9EE08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FCBF-D5F2-3396-AB47-A27716D1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207F9-5A0E-F62C-4DA1-4DCB33A1F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BD095-FCD1-90DA-7B92-6409F2C0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4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142A-5BB7-2BA1-A4F3-94EB9E8B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38CC8-3D10-819F-0FB9-BEF0A1036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9A2A6-26B8-2245-BD02-03BC123ED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4A55A-9700-199B-4EAC-4DA03BE5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8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DEF5-A1E3-0C1C-2C6E-142BA128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65151-E340-3CEB-4AFA-7C5714CDE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38010-95BD-A089-B2CF-B4AF734A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8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232CA-53A0-450B-6F51-AB548EF1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16648-C986-9603-5B32-52BCDD9F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CB21-880F-CDC8-E646-6D4260DE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387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16AD6-6273-F245-1B4D-3F28F5ED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9F935-570D-F9DE-AA2F-2A8E4ECB0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6088-B3A2-F26B-E57E-9062E942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45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3675887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3A76E-8DAD-6730-42AF-16D46B969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566928"/>
            <a:ext cx="10543032" cy="310896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CBEA"/>
                </a:solidFill>
                <a:latin typeface="Segoe UI"/>
              </a:rPr>
              <a:t>PRECISION CARE CHALLENGE 2026   ·   PHASE 1, IDEA SUBMISSION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0015F-B2D4-B19B-0042-89659684D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1243584"/>
            <a:ext cx="10543032" cy="1188720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FFFF"/>
                </a:solidFill>
                <a:latin typeface="Rockwell"/>
              </a:rPr>
              <a:t>ClaimCast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641848" y="2615184"/>
            <a:ext cx="896112" cy="41148"/>
          </a:xfrm>
          <a:prstGeom prst="rect">
            <a:avLst/>
          </a:prstGeom>
          <a:solidFill>
            <a:srgbClr val="FF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34640"/>
            <a:ext cx="96286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4DCEF"/>
                </a:solidFill>
                <a:latin typeface="Segoe UI"/>
              </a:rPr>
              <a:t>Know what your hospital bill will actually cost you.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Before</a:t>
            </a:r>
            <a:r>
              <a:rPr sz="1800" b="0" i="0">
                <a:solidFill>
                  <a:srgbClr val="C4DCEF"/>
                </a:solidFill>
                <a:latin typeface="Segoe UI"/>
              </a:rPr>
              <a:t> you are admitted, not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after</a:t>
            </a:r>
            <a:r>
              <a:rPr sz="1800" b="0" i="0">
                <a:solidFill>
                  <a:srgbClr val="C4DCEF"/>
                </a:solidFill>
                <a:latin typeface="Segoe UI"/>
              </a:rPr>
              <a:t> you are discharged.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59936"/>
            <a:ext cx="10543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TRACK: HOSPITALITY</a:t>
            </a:r>
            <a:r>
              <a:rPr sz="1200" b="0" i="0">
                <a:solidFill>
                  <a:srgbClr val="23282D"/>
                </a:solidFill>
                <a:latin typeface="Segoe UI"/>
              </a:rPr>
              <a:t>   ·   Holistic Optimization System for Policy-Integrated Admission &amp; Treatment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6048" y="4754880"/>
            <a:ext cx="2286000" cy="32004"/>
          </a:xfrm>
          <a:prstGeom prst="rect">
            <a:avLst/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84064"/>
            <a:ext cx="105430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1B1B1B"/>
                </a:solidFill>
                <a:latin typeface="Rockwell"/>
              </a:rPr>
              <a:t>Team Rocket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82D"/>
                </a:solidFill>
                <a:latin typeface="Segoe UI"/>
              </a:rPr>
              <a:t>Indraprastha Institute of Information Technology, Delhi (IIIT‑Delhi)</a:t>
            </a:r>
          </a:p>
        </p:txBody>
      </p:sp>
    </p:spTree>
    <p:extLst>
      <p:ext uri="{BB962C8B-B14F-4D97-AF65-F5344CB8AC3E}">
        <p14:creationId xmlns:p14="http://schemas.microsoft.com/office/powerpoint/2010/main" val="213019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2"/>
          <p:cNvSpPr txBox="1"/>
          <p:nvPr/>
        </p:nvSpPr>
        <p:spPr>
          <a:xfrm>
            <a:off x="493776" y="2560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Explain The Problem You Are Attempting to Solve</a:t>
            </a:r>
            <a:endParaRPr lang="en-US" sz="3200" b="0" strike="noStrike" spc="-1" dirty="0">
              <a:solidFill>
                <a:srgbClr val="63666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Shape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2D94C85-2365-49DA-BCD4-70B3431B4E03}" type="slidenum">
              <a:rPr lang="en-US" sz="1000" b="0" strike="noStrike" spc="-1">
                <a:solidFill>
                  <a:srgbClr val="005EB8"/>
                </a:solidFill>
                <a:latin typeface="GE Inspira Sans"/>
              </a:rPr>
              <a:t>2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0" y="987552"/>
            <a:ext cx="4306824" cy="5870448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3776" y="1335024"/>
            <a:ext cx="3401568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ckwell"/>
              </a:rPr>
              <a:t>India’s most expensive healthcare decision is made in ninety seconds, at an admission counter, by someone who has never read their policy.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93776" y="3072384"/>
            <a:ext cx="512064" cy="29260"/>
          </a:xfrm>
          <a:prstGeom prst="rect">
            <a:avLst/>
          </a:prstGeom>
          <a:solidFill>
            <a:srgbClr val="6FA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3776" y="3273552"/>
            <a:ext cx="340156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E4EFF8"/>
                </a:solidFill>
                <a:latin typeface="Segoe UI"/>
              </a:rPr>
              <a:t>IRDAI’s chairman has said claim payouts often fall short of what policyholders expect.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3776" y="4224528"/>
            <a:ext cx="3401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Rockwell"/>
              </a:rPr>
              <a:t>AJAY SETH, CHAIRMAN, IRDAI  ·  NOV 2025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3776" y="4498848"/>
            <a:ext cx="34015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DCEF"/>
                </a:solidFill>
                <a:latin typeface="Segoe UI"/>
              </a:rPr>
              <a:t>The regulator has named the gap. Policy bots explain the wording; none of them price the decision in front of you.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93776" y="632764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CBEA"/>
                </a:solidFill>
                <a:latin typeface="Segoe UI"/>
              </a:rPr>
              <a:t>Proportionate deduction  ·  IRDAI/HLT/REG/CIR/151/06/2020  ·  maximal case; scope varies by policy wording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64024" y="1261872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8102E"/>
                </a:solidFill>
                <a:latin typeface="Rockwell"/>
              </a:rPr>
              <a:t>THE ROOM-RENT TRAP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64024" y="1481328"/>
            <a:ext cx="3291840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C8102E"/>
                </a:solidFill>
                <a:latin typeface="Rockwell"/>
              </a:rPr>
              <a:t>50%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62088" y="1792224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1B1B"/>
                </a:solidFill>
                <a:latin typeface="Rockwell"/>
              </a:rPr>
              <a:t>of the bill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1B1B"/>
                </a:solidFill>
                <a:latin typeface="Rockwell"/>
              </a:rPr>
              <a:t>can be refused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4024" y="2889504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Segoe UI"/>
              </a:rPr>
              <a:t>Your policy caps the room at </a:t>
            </a:r>
            <a:r>
              <a:rPr sz="1350" b="1" i="0">
                <a:solidFill>
                  <a:srgbClr val="1B1B1B"/>
                </a:solidFill>
                <a:latin typeface="Segoe UI"/>
              </a:rPr>
              <a:t>₹5,000</a:t>
            </a:r>
            <a:r>
              <a:rPr sz="1350" b="0" i="0">
                <a:solidFill>
                  <a:srgbClr val="1B1B1B"/>
                </a:solidFill>
                <a:latin typeface="Segoe UI"/>
              </a:rPr>
              <a:t> a day. The hospital gave you one at </a:t>
            </a:r>
            <a:r>
              <a:rPr sz="1350" b="1" i="0">
                <a:solidFill>
                  <a:srgbClr val="1B1B1B"/>
                </a:solidFill>
                <a:latin typeface="Segoe UI"/>
              </a:rPr>
              <a:t>₹10,000</a:t>
            </a:r>
            <a:r>
              <a:rPr sz="1350" b="0" i="0">
                <a:solidFill>
                  <a:srgbClr val="1B1B1B"/>
                </a:solidFill>
                <a:latin typeface="Segoe UI"/>
              </a:rPr>
              <a:t>. Surgeon, OT, anaesthesia, nursing: </a:t>
            </a:r>
            <a:r>
              <a:rPr sz="1350" b="1" i="0">
                <a:solidFill>
                  <a:srgbClr val="1B1B1B"/>
                </a:solidFill>
                <a:latin typeface="Segoe UI"/>
              </a:rPr>
              <a:t>every charge your policy ties to room category</a:t>
            </a:r>
            <a:r>
              <a:rPr sz="1350" b="0" i="0">
                <a:solidFill>
                  <a:srgbClr val="1B1B1B"/>
                </a:solidFill>
                <a:latin typeface="Segoe UI"/>
              </a:rPr>
              <a:t> is scaled down by that same ratio.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64024" y="3803904"/>
            <a:ext cx="6967728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64024" y="3986784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5EB8"/>
                </a:solidFill>
                <a:latin typeface="Rockwell"/>
              </a:rPr>
              <a:t>₹39,085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64024" y="45171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Segoe UI"/>
              </a:rPr>
              <a:t>mean out-of-pocket per cancer hospitalisation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64024" y="486460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12,148-patient multi-centre Indian study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30183" y="3986784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5EB8"/>
                </a:solidFill>
                <a:latin typeface="Rockwell"/>
              </a:rPr>
              <a:t>₹3.31 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30183" y="451713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Segoe UI"/>
              </a:rPr>
              <a:t>out-of-pocket per cancer patient, per year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330183" y="486460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diagnostics 36%  ·  medicines 45%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64024" y="5413248"/>
            <a:ext cx="64008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020056" y="5449824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B1B"/>
                </a:solidFill>
                <a:latin typeface="Segoe UI"/>
              </a:rPr>
              <a:t>Cost shock drives distress financing, delayed care and outright </a:t>
            </a:r>
            <a:r>
              <a:rPr sz="1300" b="1" i="0">
                <a:solidFill>
                  <a:srgbClr val="C8102E"/>
                </a:solidFill>
                <a:latin typeface="Segoe UI"/>
              </a:rPr>
              <a:t>treatment abandonment</a:t>
            </a:r>
            <a:r>
              <a:rPr sz="1300" b="0" i="0">
                <a:solidFill>
                  <a:srgbClr val="1B1B1B"/>
                </a:solidFill>
                <a:latin typeface="Segoe UI"/>
              </a:rPr>
              <a:t>. It decides whether treatment finishes.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2"/>
          <p:cNvSpPr txBox="1"/>
          <p:nvPr/>
        </p:nvSpPr>
        <p:spPr>
          <a:xfrm>
            <a:off x="493776" y="2560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Briefly Explain Your Idea/Solution</a:t>
            </a:r>
            <a:endParaRPr lang="en-US" sz="3200" b="0" strike="noStrike" spc="-1" dirty="0">
              <a:solidFill>
                <a:srgbClr val="63666A"/>
              </a:solidFill>
              <a:latin typeface="GE Inspira Sans" panose="020B0503060000000003" pitchFamily="34" charset="0"/>
            </a:endParaRPr>
          </a:p>
        </p:txBody>
      </p:sp>
      <p:sp>
        <p:nvSpPr>
          <p:cNvPr id="90" name="TextShape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5EB7DB07-F122-4776-9FDC-659BDAA8ED09}" type="slidenum">
              <a:rPr lang="en-US" sz="1000" b="0" strike="noStrike" spc="-1">
                <a:solidFill>
                  <a:srgbClr val="005EB8"/>
                </a:solidFill>
                <a:latin typeface="GE Inspira Sans"/>
              </a:rPr>
              <a:t>3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0" y="987552"/>
            <a:ext cx="12191695" cy="1316736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3776" y="1115568"/>
            <a:ext cx="112014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Rockwell"/>
              </a:rPr>
              <a:t>Insurers compute what you are owed </a:t>
            </a:r>
            <a:r>
              <a:rPr sz="2100" b="1" i="0">
                <a:solidFill>
                  <a:srgbClr val="FF6B7F"/>
                </a:solidFill>
                <a:latin typeface="Rockwell"/>
              </a:rPr>
              <a:t>after discharge</a:t>
            </a:r>
            <a:r>
              <a:rPr sz="2100" b="1" i="0">
                <a:solidFill>
                  <a:srgbClr val="FFFFFF"/>
                </a:solidFill>
                <a:latin typeface="Rockwell"/>
              </a:rPr>
              <a:t>.  ClaimCast computes it </a:t>
            </a:r>
            <a:r>
              <a:rPr sz="2100" b="1" i="0">
                <a:solidFill>
                  <a:srgbClr val="9BE3C4"/>
                </a:solidFill>
                <a:latin typeface="Rockwell"/>
              </a:rPr>
              <a:t>before admission</a:t>
            </a:r>
            <a:r>
              <a:rPr sz="2100" b="1" i="0">
                <a:solidFill>
                  <a:srgbClr val="FFFFFF"/>
                </a:solidFill>
                <a:latin typeface="Rockwell"/>
              </a:rPr>
              <a:t>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3776" y="1865376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DCEF"/>
                </a:solidFill>
                <a:latin typeface="Segoe UI"/>
              </a:rPr>
              <a:t>Same arithmetic. Different timestamp. That is the whole idea.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3776" y="2560320"/>
            <a:ext cx="2148840" cy="50292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93776" y="26883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EB8"/>
                </a:solidFill>
                <a:latin typeface="Segoe UI"/>
              </a:rPr>
              <a:t>1 · ADMISSION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3776" y="2980944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Rockwell"/>
              </a:rPr>
              <a:t>Which hospital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network or not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3776" y="3602736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102E"/>
                </a:solidFill>
                <a:latin typeface="Rockwell"/>
              </a:rPr>
              <a:t>₹1.2 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82D"/>
                </a:solidFill>
                <a:latin typeface="Segoe UI"/>
              </a:rPr>
              <a:t>at stake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79776" y="2560320"/>
            <a:ext cx="2148840" cy="50292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79776" y="26883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EB8"/>
                </a:solidFill>
                <a:latin typeface="Segoe UI"/>
              </a:rPr>
              <a:t>2 · ADMISSION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79776" y="2980944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Rockwell"/>
              </a:rPr>
              <a:t>Which room class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proportionate deduction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79776" y="3602736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102E"/>
                </a:solidFill>
                <a:latin typeface="Rockwell"/>
              </a:rPr>
              <a:t>₹78,400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82D"/>
                </a:solidFill>
                <a:latin typeface="Segoe UI"/>
              </a:rPr>
              <a:t>at stake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65776" y="2560320"/>
            <a:ext cx="2148840" cy="50292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65776" y="26883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EB8"/>
                </a:solidFill>
                <a:latin typeface="Segoe UI"/>
              </a:rPr>
              <a:t>3 · INVESTIGATION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65776" y="2980944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Rockwell"/>
              </a:rPr>
              <a:t>Cashless or reimburse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what you must float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65776" y="3602736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102E"/>
                </a:solidFill>
                <a:latin typeface="Rockwell"/>
              </a:rPr>
              <a:t>₹2 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82D"/>
                </a:solidFill>
                <a:latin typeface="Segoe UI"/>
              </a:rPr>
              <a:t>at stake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51775" y="2560320"/>
            <a:ext cx="2148840" cy="50292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51775" y="26883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EB8"/>
                </a:solidFill>
                <a:latin typeface="Segoe UI"/>
              </a:rPr>
              <a:t>4 · PROCEDURE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51775" y="2980944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Rockwell"/>
              </a:rPr>
              <a:t>Implant / consumable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sub-limits &amp; List 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51775" y="3602736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102E"/>
                </a:solidFill>
                <a:latin typeface="Rockwell"/>
              </a:rPr>
              <a:t>₹45,000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82D"/>
                </a:solidFill>
                <a:latin typeface="Segoe UI"/>
              </a:rPr>
              <a:t>at stake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637776" y="2560320"/>
            <a:ext cx="2148840" cy="50292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637776" y="26883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EB8"/>
                </a:solidFill>
                <a:latin typeface="Segoe UI"/>
              </a:rPr>
              <a:t>5 · RECOVERY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37776" y="2980944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1B1B"/>
                </a:solidFill>
                <a:latin typeface="Rockwell"/>
              </a:rPr>
              <a:t>24-hour admission rule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day-care vs in-patient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37776" y="3602736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102E"/>
                </a:solidFill>
                <a:latin typeface="Rockwell"/>
              </a:rPr>
              <a:t>₹22,000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82D"/>
                </a:solidFill>
                <a:latin typeface="Segoe UI"/>
              </a:rPr>
              <a:t>at stake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3776" y="4370832"/>
            <a:ext cx="11201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EB8"/>
                </a:solidFill>
                <a:latin typeface="Rockwell"/>
              </a:rPr>
              <a:t>THE CARE JOURNEY THE PROBLEM STATEMENT NAMES</a:t>
            </a:r>
            <a:r>
              <a:rPr sz="950" b="0" i="0">
                <a:solidFill>
                  <a:srgbClr val="23282D"/>
                </a:solidFill>
                <a:latin typeface="Segoe UI"/>
              </a:rPr>
              <a:t>      we price the decision at every stage, and each fork closes permanently the moment it passes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93776" y="4718304"/>
            <a:ext cx="5541264" cy="1170432"/>
          </a:xfrm>
          <a:prstGeom prst="rect">
            <a:avLst/>
          </a:prstGeom>
          <a:solidFill>
            <a:srgbClr val="F0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93776" y="4718304"/>
            <a:ext cx="64008" cy="1170432"/>
          </a:xfrm>
          <a:prstGeom prst="rect">
            <a:avLst/>
          </a:prstGeom>
          <a:solidFill>
            <a:srgbClr val="007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86384" y="4882896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74F"/>
                </a:solidFill>
                <a:latin typeface="Rockwell"/>
              </a:rPr>
              <a:t>MATERIALITY FILTER  ·  OUR ANSWER TO FEATURE BLOAT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86384" y="5138928"/>
            <a:ext cx="5029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Segoe UI"/>
              </a:rPr>
              <a:t>We compute the money at stake and </a:t>
            </a:r>
            <a:r>
              <a:rPr sz="1200" b="1" i="0">
                <a:solidFill>
                  <a:srgbClr val="00774F"/>
                </a:solidFill>
                <a:latin typeface="Segoe UI"/>
              </a:rPr>
              <a:t>stay silent unless it clears ₹10,000</a:t>
            </a:r>
            <a:r>
              <a:rPr sz="1200" b="0" i="0">
                <a:solidFill>
                  <a:srgbClr val="1B1B1B"/>
                </a:solidFill>
                <a:latin typeface="Segoe UI"/>
              </a:rPr>
              <a:t>. A caregiver at 2 a.m. sees only what is worth their attention.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72784" y="4718304"/>
            <a:ext cx="5422392" cy="1170432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272784" y="4718304"/>
            <a:ext cx="64008" cy="1170432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65392" y="4882896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EB8"/>
                </a:solidFill>
                <a:latin typeface="Rockwell"/>
              </a:rPr>
              <a:t>IS THIS UNIQUE, OR AN IMPROVISATION?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65392" y="5138928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5EB8"/>
                </a:solidFill>
                <a:latin typeface="Segoe UI"/>
              </a:rPr>
              <a:t>Unique. </a:t>
            </a:r>
            <a:r>
              <a:rPr sz="1200" b="0" i="0">
                <a:solidFill>
                  <a:srgbClr val="1B1B1B"/>
                </a:solidFill>
                <a:latin typeface="Segoe UI"/>
              </a:rPr>
              <a:t>Existing tools </a:t>
            </a:r>
            <a:r>
              <a:rPr sz="1200" b="1" i="0">
                <a:solidFill>
                  <a:srgbClr val="1B1B1B"/>
                </a:solidFill>
                <a:latin typeface="Segoe UI"/>
              </a:rPr>
              <a:t>retrieve</a:t>
            </a:r>
            <a:r>
              <a:rPr sz="1200" b="0" i="0">
                <a:solidFill>
                  <a:srgbClr val="1B1B1B"/>
                </a:solidFill>
                <a:latin typeface="Segoe UI"/>
              </a:rPr>
              <a:t> policy text. ClaimCast </a:t>
            </a:r>
            <a:r>
              <a:rPr sz="1200" b="1" i="0">
                <a:solidFill>
                  <a:srgbClr val="1B1B1B"/>
                </a:solidFill>
                <a:latin typeface="Segoe UI"/>
              </a:rPr>
              <a:t>simulates the claim and optimises the decision</a:t>
            </a:r>
            <a:r>
              <a:rPr sz="1200" b="0" i="0">
                <a:solidFill>
                  <a:srgbClr val="1B1B1B"/>
                </a:solidFill>
                <a:latin typeface="Segoe UI"/>
              </a:rPr>
              <a:t>.  Retrieval → Simulation.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3776" y="6053328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EB8"/>
                </a:solidFill>
                <a:latin typeface="Rockwell"/>
              </a:rPr>
              <a:t>YOU WALK IN KNOWING WHAT YOU WILL OWE.    </a:t>
            </a:r>
            <a:r>
              <a:rPr sz="1050" b="0" i="0">
                <a:solidFill>
                  <a:srgbClr val="23282D"/>
                </a:solidFill>
                <a:latin typeface="Segoe UI"/>
              </a:rPr>
              <a:t>Same admission, ₹78,400 less out of pocket, because the caregiver was told before the decision closed.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2"/>
          <p:cNvSpPr txBox="1"/>
          <p:nvPr/>
        </p:nvSpPr>
        <p:spPr>
          <a:xfrm>
            <a:off x="493776" y="2560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Explain Your Solution</a:t>
            </a:r>
            <a:endParaRPr lang="en-US" sz="3200" b="0" strike="noStrike" spc="-1" dirty="0">
              <a:solidFill>
                <a:srgbClr val="63666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TextShape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585DC05-A314-46F0-B650-3AAE9FF55CEC}" type="slidenum">
              <a:rPr lang="en-US" sz="1000" b="0" strike="noStrike" spc="-1">
                <a:solidFill>
                  <a:srgbClr val="005EB8"/>
                </a:solidFill>
                <a:latin typeface="GE Inspira Sans"/>
              </a:rPr>
              <a:t>4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0" y="987552"/>
            <a:ext cx="12191695" cy="1207008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3776" y="1152144"/>
            <a:ext cx="8412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ckwell"/>
              </a:rPr>
              <a:t>We cannot tell you exactly what your bill will be. We can tell you exactly how much of it your policy will refuse.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62288" y="1298448"/>
            <a:ext cx="25420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9BE3C4"/>
                </a:solidFill>
                <a:latin typeface="Rockwell"/>
              </a:rPr>
              <a:t>AI where uncertain.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9BE3C4"/>
                </a:solidFill>
                <a:latin typeface="Rockwell"/>
              </a:rPr>
              <a:t>Arithmetic where known.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4DCEF"/>
                </a:solidFill>
                <a:latin typeface="Segoe UI"/>
              </a:rPr>
              <a:t>The LLM never decides the money.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93776" y="23957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EB8"/>
                </a:solidFill>
                <a:latin typeface="Rockwell"/>
              </a:rPr>
              <a:t>TWO HALVES, DELIBERATELY SEPARATED  ·  PLUS A SOLVER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93776" y="2615184"/>
            <a:ext cx="64008" cy="731520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86384" y="26151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5EB8"/>
                </a:solidFill>
                <a:latin typeface="Rockwell"/>
              </a:rPr>
              <a:t>A · FORECAST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6384" y="288950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Segoe UI"/>
              </a:rPr>
              <a:t>Predicts the itemised bill from published tariff data. Uncertain, so it returns a range.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93776" y="3419856"/>
            <a:ext cx="64008" cy="731520"/>
          </a:xfrm>
          <a:prstGeom prst="rect">
            <a:avLst/>
          </a:prstGeom>
          <a:solidFill>
            <a:srgbClr val="007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6384" y="341985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74F"/>
                </a:solidFill>
                <a:latin typeface="Rockwell"/>
              </a:rPr>
              <a:t>B · ADJUDICATION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6384" y="369417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Segoe UI"/>
              </a:rPr>
              <a:t>Computes what the policy refuses, line by line. Exact, with every ₹ cited to its clause.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3776" y="4224528"/>
            <a:ext cx="64008" cy="731520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86384" y="422452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5EB8"/>
                </a:solidFill>
                <a:latin typeface="Rockwell"/>
              </a:rPr>
              <a:t>C · COUNTERFACTUAL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6384" y="449884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B1B"/>
                </a:solidFill>
                <a:latin typeface="Segoe UI"/>
              </a:rPr>
              <a:t>Re-runs the claim for every legal alternative and ranks them by what you keep.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72784" y="2395728"/>
            <a:ext cx="5422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EB8"/>
                </a:solidFill>
                <a:latin typeface="Rockwell"/>
              </a:rPr>
              <a:t>AGAINST THE CONVENTIONAL ALTERNATIVES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72784" y="2688336"/>
            <a:ext cx="8046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Segoe UI"/>
              </a:rP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132320" y="2688336"/>
            <a:ext cx="14447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Segoe UI"/>
              </a:rPr>
              <a:t>Hospital / TPA desk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31936" y="2688336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Segoe UI"/>
              </a:rPr>
              <a:t>Policy bots · Ditto/PB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86416" y="2688336"/>
            <a:ext cx="14538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EB8"/>
                </a:solidFill>
                <a:latin typeface="Segoe UI"/>
              </a:rPr>
              <a:t>ClaimCast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72784" y="2862072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72784" y="2944368"/>
            <a:ext cx="8046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Speaks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32320" y="2944368"/>
            <a:ext cx="14447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after admission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31936" y="2944368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any time, no context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186416" y="2944368"/>
            <a:ext cx="14538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1B"/>
                </a:solidFill>
                <a:latin typeface="Segoe UI"/>
              </a:rPr>
              <a:t>at each decision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272784" y="3191256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72784" y="3273551"/>
            <a:ext cx="8046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Returns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32320" y="3273551"/>
            <a:ext cx="14447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a verbal estimate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31936" y="3273551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a text summary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86416" y="3273551"/>
            <a:ext cx="14538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1B"/>
                </a:solidFill>
                <a:latin typeface="Segoe UI"/>
              </a:rPr>
              <a:t>itemised ₹ + clause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272784" y="3520439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272784" y="3602735"/>
            <a:ext cx="8046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Acts for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132320" y="3602735"/>
            <a:ext cx="14447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the hospital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31936" y="3602735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282D"/>
                </a:solidFill>
                <a:latin typeface="Segoe UI"/>
              </a:rPr>
              <a:t>no one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186416" y="3602735"/>
            <a:ext cx="14538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1B"/>
                </a:solidFill>
                <a:latin typeface="Segoe UI"/>
              </a:rPr>
              <a:t>you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72784" y="3849624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72784" y="3986783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74F"/>
                </a:solidFill>
                <a:latin typeface="Rockwell"/>
              </a:rPr>
              <a:t>PROS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72784" y="4206240"/>
            <a:ext cx="252374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•  Deterministic and auditable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•  Runs entirely on public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•  Rule-packs: private, PM-JAY, ESI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07424" y="3986783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8102E"/>
                </a:solidFill>
                <a:latin typeface="Rockwell"/>
              </a:rPr>
              <a:t>CONS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07424" y="4206240"/>
            <a:ext cx="2560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•  Forecast bounded by published tariffs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•  Needs the policy document up front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•  An estimate, never a guarantee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93776" y="5029200"/>
            <a:ext cx="11204143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93776" y="5029200"/>
            <a:ext cx="11204143" cy="274320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94944" y="50932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Rockwell"/>
              </a:rPr>
              <a:t>ClaimCast</a:t>
            </a:r>
            <a:r>
              <a:rPr sz="900" b="0" i="0">
                <a:solidFill>
                  <a:srgbClr val="A9CBEA"/>
                </a:solidFill>
                <a:latin typeface="Segoe UI"/>
              </a:rPr>
              <a:t>      DECISION 2 OF 5   ·   ROOM CLASS   ·   STAGE: ADMISSION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247327" y="5102352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EC1E4"/>
                </a:solidFill>
                <a:latin typeface="Segoe UI"/>
              </a:rPr>
              <a:t>PROTOTYPE SCREEN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94944" y="53949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102E"/>
                </a:solidFill>
                <a:latin typeface="Segoe UI"/>
              </a:rPr>
              <a:t>○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69264" y="53949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1B1B"/>
                </a:solidFill>
                <a:latin typeface="Segoe UI"/>
              </a:rPr>
              <a:t>Private room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36976" y="53949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282D"/>
                </a:solidFill>
                <a:latin typeface="Segoe UI"/>
              </a:rPr>
              <a:t>₹10,000 / day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82896" y="537667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your share  </a:t>
            </a:r>
            <a:r>
              <a:rPr sz="1200" b="1" i="0">
                <a:solidFill>
                  <a:srgbClr val="C8102E"/>
                </a:solidFill>
                <a:latin typeface="Rockwell"/>
              </a:rPr>
              <a:t>₹1,26,900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4944" y="56235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5EB8"/>
                </a:solidFill>
                <a:latin typeface="Segoe UI"/>
              </a:rPr>
              <a:t>●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69264" y="56235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1B1B"/>
                </a:solidFill>
                <a:latin typeface="Segoe UI"/>
              </a:rPr>
              <a:t>Semi-private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36976" y="56235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282D"/>
                </a:solidFill>
                <a:latin typeface="Segoe UI"/>
              </a:rPr>
              <a:t>₹5,000 / day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882896" y="560527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your share  </a:t>
            </a:r>
            <a:r>
              <a:rPr sz="1200" b="1" i="0">
                <a:solidFill>
                  <a:srgbClr val="005EB8"/>
                </a:solidFill>
                <a:latin typeface="Rockwell"/>
              </a:rPr>
              <a:t>₹48,500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626096" y="56235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774F"/>
                </a:solidFill>
                <a:latin typeface="Segoe UI"/>
              </a:rPr>
              <a:t>←  recommended by ClaimCast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94944" y="5888736"/>
            <a:ext cx="10801807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94944" y="5943600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74F"/>
                </a:solidFill>
                <a:latin typeface="Rockwell"/>
              </a:rPr>
              <a:t>✓  You keep ₹78,400</a:t>
            </a:r>
            <a:r>
              <a:rPr sz="950" b="0" i="0">
                <a:solidFill>
                  <a:srgbClr val="23282D"/>
                </a:solidFill>
                <a:latin typeface="Segoe UI"/>
              </a:rPr>
              <a:t>      Room Rent Sub-limit, Clause 3.2  ·  proportionate deduction on the associated charges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2"/>
          <p:cNvSpPr txBox="1"/>
          <p:nvPr/>
        </p:nvSpPr>
        <p:spPr>
          <a:xfrm>
            <a:off x="493776" y="2560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181C"/>
                </a:solidFill>
                <a:latin typeface="Rockwell"/>
              </a:rPr>
              <a:t>Any Additional Information / References</a:t>
            </a:r>
            <a:endParaRPr lang="en-US" sz="2800" b="0" strike="noStrike" spc="-1" dirty="0">
              <a:solidFill>
                <a:srgbClr val="63666A"/>
              </a:solidFill>
              <a:latin typeface="GE Inspira Sans"/>
            </a:endParaRPr>
          </a:p>
        </p:txBody>
      </p:sp>
      <p:sp>
        <p:nvSpPr>
          <p:cNvPr id="31" name="TextShape 3">
            <a:extLst>
              <a:ext uri="{FF2B5EF4-FFF2-40B4-BE49-F238E27FC236}">
                <a16:creationId xmlns:a16="http://schemas.microsoft.com/office/drawing/2014/main" id="{345C4CAC-2FE8-41B0-A9AB-E8C00E5F5D6F}"/>
              </a:ext>
            </a:extLst>
          </p:cNvPr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585DC05-A314-46F0-B650-3AAE9FF55CEC}" type="slidenum">
              <a:rPr lang="en-US" sz="1000" b="0" strike="noStrike" spc="-1">
                <a:solidFill>
                  <a:srgbClr val="005EB8"/>
                </a:solidFill>
                <a:latin typeface="GE Inspira Sans"/>
              </a:rPr>
              <a:t>5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93776" y="109728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EB8"/>
                </a:solidFill>
                <a:latin typeface="Rockwell"/>
              </a:rPr>
              <a:t>ARCHITECTURE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93776" y="1371600"/>
            <a:ext cx="2532888" cy="475488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1472184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1B1B"/>
                </a:solidFill>
                <a:latin typeface="Rockwell"/>
              </a:rPr>
              <a:t>Policy PDF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3282D"/>
                </a:solidFill>
                <a:latin typeface="Segoe UI"/>
              </a:rPr>
              <a:t>insurer wording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91256" y="1371600"/>
            <a:ext cx="2532888" cy="475488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46120" y="1472184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B1B1B"/>
                </a:solidFill>
                <a:latin typeface="Rockwell"/>
              </a:rPr>
              <a:t>Procedure · Hospital · City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3282D"/>
                </a:solidFill>
                <a:latin typeface="Segoe UI"/>
              </a:rPr>
              <a:t>the care plan</a:t>
            </a:r>
          </a:p>
        </p:txBody>
      </p:sp>
      <p:sp>
        <p:nvSpPr>
          <p:cNvPr id="109" name="Down Arrow 108"/>
          <p:cNvSpPr/>
          <p:nvPr/>
        </p:nvSpPr>
        <p:spPr>
          <a:xfrm>
            <a:off x="1696212" y="1883664"/>
            <a:ext cx="128016" cy="128016"/>
          </a:xfrm>
          <a:prstGeom prst="downArrow">
            <a:avLst/>
          </a:prstGeom>
          <a:solidFill>
            <a:srgbClr val="C3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own Arrow 109"/>
          <p:cNvSpPr/>
          <p:nvPr/>
        </p:nvSpPr>
        <p:spPr>
          <a:xfrm>
            <a:off x="4393692" y="1883664"/>
            <a:ext cx="128016" cy="128016"/>
          </a:xfrm>
          <a:prstGeom prst="downArrow">
            <a:avLst/>
          </a:prstGeom>
          <a:solidFill>
            <a:srgbClr val="C3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93776" y="2066543"/>
            <a:ext cx="2532888" cy="512064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8640" y="2167127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5EB8"/>
                </a:solidFill>
                <a:latin typeface="Rockwell"/>
              </a:rPr>
              <a:t>LLM extract + cite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3282D"/>
                </a:solidFill>
                <a:latin typeface="Segoe UI"/>
              </a:rPr>
              <a:t>user confirms every field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191256" y="2066543"/>
            <a:ext cx="2532888" cy="512064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46120" y="2167127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5EB8"/>
                </a:solidFill>
                <a:latin typeface="Rockwell"/>
              </a:rPr>
              <a:t>ML cost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3282D"/>
                </a:solidFill>
                <a:latin typeface="Segoe UI"/>
              </a:rPr>
              <a:t>NHA / CGHS tariffs</a:t>
            </a:r>
          </a:p>
        </p:txBody>
      </p:sp>
      <p:sp>
        <p:nvSpPr>
          <p:cNvPr id="115" name="Down Arrow 114"/>
          <p:cNvSpPr/>
          <p:nvPr/>
        </p:nvSpPr>
        <p:spPr>
          <a:xfrm>
            <a:off x="1696212" y="2615184"/>
            <a:ext cx="128016" cy="128016"/>
          </a:xfrm>
          <a:prstGeom prst="downArrow">
            <a:avLst/>
          </a:prstGeom>
          <a:solidFill>
            <a:srgbClr val="C3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Down Arrow 115"/>
          <p:cNvSpPr/>
          <p:nvPr/>
        </p:nvSpPr>
        <p:spPr>
          <a:xfrm>
            <a:off x="4393692" y="2615184"/>
            <a:ext cx="128016" cy="128016"/>
          </a:xfrm>
          <a:prstGeom prst="downArrow">
            <a:avLst/>
          </a:prstGeom>
          <a:solidFill>
            <a:srgbClr val="C3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93776" y="2798064"/>
            <a:ext cx="5230368" cy="530352"/>
          </a:xfrm>
          <a:prstGeom prst="rect">
            <a:avLst/>
          </a:prstGeom>
          <a:solidFill>
            <a:srgbClr val="007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2898648"/>
            <a:ext cx="5120640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Rockwell"/>
              </a:rPr>
              <a:t>ADJUDICATION ENGINE  ·  deterministic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5E3D4"/>
                </a:solidFill>
                <a:latin typeface="Segoe UI"/>
              </a:rPr>
              <a:t>every ₹ refused, cited to its clause</a:t>
            </a:r>
          </a:p>
        </p:txBody>
      </p:sp>
      <p:sp>
        <p:nvSpPr>
          <p:cNvPr id="119" name="Down Arrow 118"/>
          <p:cNvSpPr/>
          <p:nvPr/>
        </p:nvSpPr>
        <p:spPr>
          <a:xfrm>
            <a:off x="3044952" y="3364992"/>
            <a:ext cx="128016" cy="128016"/>
          </a:xfrm>
          <a:prstGeom prst="downArrow">
            <a:avLst/>
          </a:prstGeom>
          <a:solidFill>
            <a:srgbClr val="C3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93776" y="3547872"/>
            <a:ext cx="5230368" cy="512064"/>
          </a:xfrm>
          <a:prstGeom prst="rect">
            <a:avLst/>
          </a:prstGeom>
          <a:solidFill>
            <a:srgbClr val="EC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364845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5EB8"/>
                </a:solidFill>
                <a:latin typeface="Rockwell"/>
              </a:rPr>
              <a:t>COUNTERFACTUAL SOLVER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3282D"/>
                </a:solidFill>
                <a:latin typeface="Segoe UI"/>
              </a:rPr>
              <a:t>cheapest fully-covered path</a:t>
            </a:r>
          </a:p>
        </p:txBody>
      </p:sp>
      <p:sp>
        <p:nvSpPr>
          <p:cNvPr id="122" name="Down Arrow 121"/>
          <p:cNvSpPr/>
          <p:nvPr/>
        </p:nvSpPr>
        <p:spPr>
          <a:xfrm>
            <a:off x="3044952" y="4096512"/>
            <a:ext cx="128016" cy="128016"/>
          </a:xfrm>
          <a:prstGeom prst="downArrow">
            <a:avLst/>
          </a:prstGeom>
          <a:solidFill>
            <a:srgbClr val="C3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93776" y="4279392"/>
            <a:ext cx="5230368" cy="493776"/>
          </a:xfrm>
          <a:prstGeom prst="rect">
            <a:avLst/>
          </a:prstGeom>
          <a:solidFill>
            <a:srgbClr val="005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8640" y="442569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Rockwell"/>
              </a:rPr>
              <a:t>5 DECISION SCREENS  ·  filtered by materiality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72784" y="1097280"/>
            <a:ext cx="5422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EB8"/>
                </a:solidFill>
                <a:latin typeface="Rockwell"/>
              </a:rPr>
              <a:t>WHAT WE BUILD, AND WHAT WE SIMULATE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272784" y="1417320"/>
            <a:ext cx="54864" cy="155448"/>
          </a:xfrm>
          <a:prstGeom prst="rect">
            <a:avLst/>
          </a:prstGeom>
          <a:solidFill>
            <a:srgbClr val="007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55664" y="1371600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Policy → constraint parser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05872" y="137160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4F"/>
                </a:solidFill>
                <a:latin typeface="Rockwell"/>
              </a:rPr>
              <a:t>Build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272784" y="1600200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272784" y="1709928"/>
            <a:ext cx="54864" cy="155448"/>
          </a:xfrm>
          <a:prstGeom prst="rect">
            <a:avLst/>
          </a:prstGeom>
          <a:solidFill>
            <a:srgbClr val="007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55664" y="1664208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Adjudication + deduction engine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405872" y="166420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4F"/>
                </a:solidFill>
                <a:latin typeface="Rockwell"/>
              </a:rPr>
              <a:t>Build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72784" y="1892808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272784" y="2002536"/>
            <a:ext cx="54864" cy="155448"/>
          </a:xfrm>
          <a:prstGeom prst="rect">
            <a:avLst/>
          </a:prstGeom>
          <a:solidFill>
            <a:srgbClr val="007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455664" y="195681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Cost model on NHA / CGHS rates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405872" y="195681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4F"/>
                </a:solidFill>
                <a:latin typeface="Rockwell"/>
              </a:rPr>
              <a:t>Build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272784" y="2185416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272784" y="2295144"/>
            <a:ext cx="54864" cy="155448"/>
          </a:xfrm>
          <a:prstGeom prst="rect">
            <a:avLst/>
          </a:prstGeom>
          <a:solidFill>
            <a:srgbClr val="007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55664" y="2249424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Counterfactual solver + screens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405872" y="224942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4F"/>
                </a:solidFill>
                <a:latin typeface="Rockwell"/>
              </a:rPr>
              <a:t>Build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72784" y="2478024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272784" y="2587751"/>
            <a:ext cx="54864" cy="155448"/>
          </a:xfrm>
          <a:prstGeom prst="rect">
            <a:avLst/>
          </a:prstGeom>
          <a:solidFill>
            <a:srgbClr val="A9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455664" y="2542032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Live hospital tariff feed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405872" y="254203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EB8"/>
                </a:solidFill>
                <a:latin typeface="Rockwell"/>
              </a:rPr>
              <a:t>Simulate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272784" y="2770632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272784" y="2880359"/>
            <a:ext cx="54864" cy="155448"/>
          </a:xfrm>
          <a:prstGeom prst="rect">
            <a:avLst/>
          </a:prstGeom>
          <a:solidFill>
            <a:srgbClr val="A9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455664" y="2834639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B1B1B"/>
                </a:solidFill>
                <a:latin typeface="Segoe UI"/>
              </a:rPr>
              <a:t>Insurer cashless API / HIS bill feed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405872" y="2834639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EB8"/>
                </a:solidFill>
                <a:latin typeface="Rockwell"/>
              </a:rPr>
              <a:t>Simulate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272784" y="3063239"/>
            <a:ext cx="5422392" cy="10972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72784" y="3182111"/>
            <a:ext cx="5422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The two simulated feeds need an insurer and a hospital to open them, not more engineering.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72784" y="3474719"/>
            <a:ext cx="5422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EB8"/>
                </a:solidFill>
                <a:latin typeface="Rockwell"/>
              </a:rPr>
              <a:t>DATA WE SOURCE OURSELVES  ·  ALL PUBLIC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72784" y="3730751"/>
            <a:ext cx="54223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282D"/>
                </a:solidFill>
                <a:latin typeface="Segoe UI"/>
              </a:rPr>
              <a:t>NHA / PM-JAY Health Benefit Packages (≈1,900 procedure rates)  ·  CGHS city-wise rate lists  ·  IRDAI List I non-payables  ·  IRDAI standard wordings (Arogya Sanjeevani)  ·  NHA empanelled-hospital registry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72784" y="4370831"/>
            <a:ext cx="5422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EB8"/>
                </a:solidFill>
                <a:latin typeface="Rockwell"/>
              </a:rPr>
              <a:t>REFERENCES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72784" y="4626864"/>
            <a:ext cx="5422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1.  IRDAI, Circular IRDAI/HLT/REG/CIR/151/06/2020, room-rent proportionate deduction.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272784" y="4828031"/>
            <a:ext cx="5422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2.  Financial toxicity of cancer treatment in India, Front. Public Health, 2023 (n = 12,148).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272784" y="5029200"/>
            <a:ext cx="5422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3.  Catastrophic expenditure &amp; treatment attrition, Lancet Reg. Health SE Asia, 2022;6:100058.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272784" y="5230368"/>
            <a:ext cx="5422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3282D"/>
                </a:solidFill>
                <a:latin typeface="Segoe UI"/>
              </a:rPr>
              <a:t>4.  IRDAI Master Circular on Health Insurance Business, 2024.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3776" y="5504688"/>
            <a:ext cx="11204143" cy="10972"/>
          </a:xfrm>
          <a:prstGeom prst="rect">
            <a:avLst/>
          </a:prstGeom>
          <a:solidFill>
            <a:srgbClr val="D8D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93776" y="5650992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74F"/>
                </a:solidFill>
                <a:latin typeface="Rockwell"/>
              </a:rPr>
              <a:t>SAFE BY CONSTRUCTION    </a:t>
            </a:r>
            <a:r>
              <a:rPr sz="1050" b="0" i="0">
                <a:solidFill>
                  <a:srgbClr val="23282D"/>
                </a:solidFill>
                <a:latin typeface="Segoe UI"/>
              </a:rPr>
              <a:t>every field is user-confirmed  ·  outputs are labelled estimates, never guarantees  ·  no medical advice, money only  ·  no identifiable patient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GE Inspira Sans</vt:lpstr>
      <vt:lpstr>Times New Roman</vt:lpstr>
      <vt:lpstr>Office Theme</vt:lpstr>
      <vt:lpstr>Precision Care Challenge 2026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Care Challenge 2023</dc:title>
  <dc:creator>Sailesh, Surekha (GE HealthCare)</dc:creator>
  <cp:lastModifiedBy>Shetty, Sheeja</cp:lastModifiedBy>
  <cp:revision>3</cp:revision>
  <dcterms:created xsi:type="dcterms:W3CDTF">2023-07-11T13:48:39Z</dcterms:created>
  <dcterms:modified xsi:type="dcterms:W3CDTF">2026-08-03T06:50:47Z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c574c9-73b0-47a5-a0cf-661fbc02804c_Enabled">
    <vt:lpwstr>true</vt:lpwstr>
  </property>
  <property fmtid="{D5CDD505-2E9C-101B-9397-08002B2CF9AE}" pid="3" name="MSIP_Label_e3c574c9-73b0-47a5-a0cf-661fbc02804c_SetDate">
    <vt:lpwstr>2026-08-03T06:50:02Z</vt:lpwstr>
  </property>
  <property fmtid="{D5CDD505-2E9C-101B-9397-08002B2CF9AE}" pid="4" name="MSIP_Label_e3c574c9-73b0-47a5-a0cf-661fbc02804c_Method">
    <vt:lpwstr>Privileged</vt:lpwstr>
  </property>
  <property fmtid="{D5CDD505-2E9C-101B-9397-08002B2CF9AE}" pid="5" name="MSIP_Label_e3c574c9-73b0-47a5-a0cf-661fbc02804c_Name">
    <vt:lpwstr>Public</vt:lpwstr>
  </property>
  <property fmtid="{D5CDD505-2E9C-101B-9397-08002B2CF9AE}" pid="6" name="MSIP_Label_e3c574c9-73b0-47a5-a0cf-661fbc02804c_SiteId">
    <vt:lpwstr>9a309606-d6ec-4188-a28a-298812b4bbbf</vt:lpwstr>
  </property>
  <property fmtid="{D5CDD505-2E9C-101B-9397-08002B2CF9AE}" pid="7" name="MSIP_Label_e3c574c9-73b0-47a5-a0cf-661fbc02804c_ActionId">
    <vt:lpwstr>c058a829-f1f8-4104-8ea0-5c992c4f1f6b</vt:lpwstr>
  </property>
  <property fmtid="{D5CDD505-2E9C-101B-9397-08002B2CF9AE}" pid="8" name="MSIP_Label_e3c574c9-73b0-47a5-a0cf-661fbc02804c_ContentBits">
    <vt:lpwstr>2</vt:lpwstr>
  </property>
  <property fmtid="{D5CDD505-2E9C-101B-9397-08002B2CF9AE}" pid="9" name="MSIP_Label_e3c574c9-73b0-47a5-a0cf-661fbc02804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-Public-</vt:lpwstr>
  </property>
</Properties>
</file>