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871C0-8BEE-4F2C-9BA2-9663CC719E28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2771B-BEB5-4FB3-B61F-E76DEDD333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7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DC9A4A-20DB-4C13-9C25-10139B0F9FD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165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A272-1B98-7756-B21D-54AAC768F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5F1B-4535-A2CC-2E76-4C3E08AB7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9326F-9633-C770-4B8F-7702EBEF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5CEE-93A8-E77E-6149-12E0B72E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4CE0A-13B3-E099-E264-C749A7B6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7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1EDA-F949-7762-7345-3EC6336A0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A73D-C754-E2B5-B616-EE1480432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E5502-7739-DABC-1D3C-EC9EE6EF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BC613-DEAF-0DBB-2AA4-0A2804E3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2A365-36F6-273A-E85F-BE3BCFAA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3CC3A-3FE1-0608-AF69-62F314B8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7BFE7-64BF-F955-094B-CA2D54AD6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1B074-72EE-75D3-1713-81A7286EF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6CCFA-1C8C-CAA4-A448-D1FD6D9D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53996-BA9A-1D0B-135F-621431AB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65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690F-9551-239D-5BE0-BB7D7E641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90743-FEC6-B634-E47C-2987E9236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7011FE-B5BC-2B1A-0E68-A1AA89031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F7494-671A-302E-FF25-F0539C40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A0D23-4063-0C13-5F2E-5877DB79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5E66-F455-7267-A757-23F63A21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16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BB620-4238-7450-B7BC-8A6EA49FA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87683-D4EF-2932-696B-91C263731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3E9DB-B890-C5C4-54FD-A2AB329D6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4FCF46-E11B-100C-6B4F-FB77397BBE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BEB23-E520-032B-ECF0-C43E6673B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C44EB-328B-4AD2-5360-ECDFC497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B424E9-59CD-981C-46F0-CC55DFE5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0DAEA-7228-8F58-41E8-8B79C6E6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997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3E66-949C-AC89-6293-B7A652B9A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3521A-E520-485D-AD89-7160A045E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342267-8C95-AF4C-3D24-656E66D7D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72F4F-E0A7-505D-B933-0946FE12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EEB1B-8DB2-5E31-79ED-CDE4854D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F6A68-F836-43CF-B9BA-0517B5FD0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C9473-7CFF-9FF1-EBDE-A4075A96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25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8FF25-1B80-BD56-5515-20E9EE0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EFCBF-D5F2-3396-AB47-A27716D1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207F9-5A0E-F62C-4DA1-4DCB33A1F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DB421-A61B-A0DB-D6D7-311EE5A1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9CE3C-D57C-0257-F894-2D6A0B88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BD095-FCD1-90DA-7B92-6409F2C01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741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B142A-5BB7-2BA1-A4F3-94EB9E8B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38CC8-3D10-819F-0FB9-BEF0A1036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9A2A6-26B8-2245-BD02-03BC123ED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E48A9-22F3-816D-263C-E6D870ED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A7162-128A-A367-07B3-7EE66B6D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4A55A-9700-199B-4EAC-4DA03BE5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8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DEF5-A1E3-0C1C-2C6E-142BA128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5151-E340-3CEB-4AFA-7C5714CDE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08C60-E7E8-81EA-A947-47256BC32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9A804-05B2-EE20-D132-C0DECA6F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38010-95BD-A089-B2CF-B4AF734AB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232CA-53A0-450B-6F51-AB548EF16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16648-C986-9603-5B32-52BCDD9F9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EA637-E232-A575-29D6-B4EEDF7A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F9487-326B-7ECC-D7A1-7BE136C0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7CB21-880F-CDC8-E646-6D4260DE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38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16AD6-6273-F245-1B4D-3F28F5ED8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F935-570D-F9DE-AA2F-2A8E4ECB0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5F35A-7F0F-1AC4-4E86-1D90A0E70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B0F70-53CE-49CD-B891-B37EF8D7894A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48B0D-38BA-D763-AE90-58B9068CBB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6088-B3A2-F26B-E57E-9062E942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190E0-096E-4EF8-9A40-A5C3D29F08D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C804C-731B-2B87-7876-5858CC6493E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80100" y="6642100"/>
            <a:ext cx="4572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-Public-</a:t>
            </a:r>
          </a:p>
        </p:txBody>
      </p:sp>
    </p:spTree>
    <p:extLst>
      <p:ext uri="{BB962C8B-B14F-4D97-AF65-F5344CB8AC3E}">
        <p14:creationId xmlns:p14="http://schemas.microsoft.com/office/powerpoint/2010/main" val="373045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A76E-8DAD-6730-42AF-16D46B969C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Precision Care Challenge 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0015F-B2D4-B19B-0042-89659684D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Phase 1 – Idea Submission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195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95360" y="1260558"/>
            <a:ext cx="10875600" cy="3397302"/>
          </a:xfrm>
          <a:prstGeom prst="rect">
            <a:avLst/>
          </a:prstGeom>
          <a:solidFill>
            <a:srgbClr val="FFFFFF"/>
          </a:solidFill>
          <a:ln w="10800">
            <a:solidFill>
              <a:srgbClr val="005EB8"/>
            </a:solidFill>
            <a:round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ts val="2401"/>
              </a:spcBef>
            </a:pPr>
            <a:r>
              <a:rPr lang="en-US" sz="1600" i="1" dirty="0"/>
              <a:t>The section must in detail describe what is the </a:t>
            </a:r>
            <a:r>
              <a:rPr lang="en-US" sz="1600" b="1" i="1" dirty="0"/>
              <a:t>problem/challenge faced currently</a:t>
            </a:r>
            <a:r>
              <a:rPr lang="en-US" sz="1600" i="1" dirty="0"/>
              <a:t>, give appropriate examples and detail out the severity and impact of the problem.</a:t>
            </a:r>
            <a:endParaRPr lang="en-US" sz="1600" b="0" i="1" strike="noStrike" spc="-1" dirty="0">
              <a:solidFill>
                <a:srgbClr val="63666A"/>
              </a:solidFill>
              <a:latin typeface="GE Inspira Sans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 The Problem You Are Attempting to Solve</a:t>
            </a:r>
            <a:endParaRPr lang="en-US" sz="3200" b="0" strike="noStrike" spc="-1" dirty="0">
              <a:solidFill>
                <a:srgbClr val="6366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2D94C85-2365-49DA-BCD4-70B3431B4E03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2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97" name="TextShape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52E87FF5-7F64-4B48-8509-4F9009C639D9}" type="datetime3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3 August 2026</a:t>
            </a:fld>
            <a:endParaRPr lang="en-US" sz="10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57199" y="1061990"/>
            <a:ext cx="10468378" cy="3698900"/>
          </a:xfrm>
          <a:prstGeom prst="rect">
            <a:avLst/>
          </a:prstGeom>
          <a:solidFill>
            <a:srgbClr val="FFFFFF"/>
          </a:solidFill>
          <a:ln w="10800">
            <a:solidFill>
              <a:srgbClr val="005EB8"/>
            </a:solidFill>
            <a:round/>
          </a:ln>
        </p:spPr>
        <p:txBody>
          <a:bodyPr lIns="0" tIns="0" rIns="0" bIns="0"/>
          <a:lstStyle/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 </a:t>
            </a:r>
            <a:r>
              <a:rPr lang="en-US" sz="16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crisp introduction </a:t>
            </a:r>
            <a:r>
              <a:rPr lang="en-US" sz="16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to the concept being explored. The section must highlight the nature of the Idea. 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1600" i="1" spc="-1" dirty="0">
                <a:solidFill>
                  <a:srgbClr val="00B0F0"/>
                </a:solidFill>
                <a:latin typeface="GE Inspira Sans"/>
              </a:rPr>
              <a:t>A brief video</a:t>
            </a:r>
            <a:r>
              <a:rPr lang="en-US" sz="1200" i="1" spc="-1" dirty="0">
                <a:solidFill>
                  <a:srgbClr val="00B0F0"/>
                </a:solidFill>
                <a:latin typeface="GE Inspira Sans"/>
              </a:rPr>
              <a:t>(&lt;5 mins) </a:t>
            </a:r>
            <a:r>
              <a:rPr lang="en-US" sz="1600" i="1" spc="-1" dirty="0">
                <a:solidFill>
                  <a:srgbClr val="00B0F0"/>
                </a:solidFill>
                <a:latin typeface="GE Inspira Sans"/>
              </a:rPr>
              <a:t>of the proposed idea is entertained</a:t>
            </a:r>
            <a:r>
              <a:rPr lang="en-US" sz="1600" i="1" spc="-1" dirty="0">
                <a:solidFill>
                  <a:srgbClr val="63666A"/>
                </a:solidFill>
                <a:latin typeface="GE Inspira Sans"/>
              </a:rPr>
              <a:t>.  </a:t>
            </a:r>
          </a:p>
          <a:p>
            <a:pPr>
              <a:lnSpc>
                <a:spcPct val="100000"/>
              </a:lnSpc>
              <a:spcBef>
                <a:spcPts val="2400"/>
              </a:spcBef>
            </a:pPr>
            <a:endParaRPr lang="en-US" sz="1500" i="1" spc="-1" dirty="0">
              <a:solidFill>
                <a:srgbClr val="6366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2401"/>
              </a:spcBef>
              <a:buFont typeface="Arial" panose="020B0604020202020204" pitchFamily="34" charset="0"/>
              <a:buChar char="•"/>
            </a:pPr>
            <a:endParaRPr lang="en-US" sz="1500" b="0" i="1" strike="noStrike" spc="-1" dirty="0">
              <a:solidFill>
                <a:srgbClr val="63666A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3788" y="373936"/>
            <a:ext cx="10447319" cy="448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Briefly</a:t>
            </a:r>
            <a:r>
              <a:rPr lang="en-US" sz="3200" b="1" strike="noStrike" spc="-1" dirty="0">
                <a:solidFill>
                  <a:srgbClr val="63666A"/>
                </a:solidFill>
                <a:latin typeface="GE Inspira Sans" panose="020B0503060000000003" pitchFamily="34" charset="0"/>
              </a:rPr>
              <a:t> Explain Your Idea/Solution</a:t>
            </a:r>
            <a:endParaRPr lang="en-US" sz="3200" b="0" strike="noStrike" spc="-1" dirty="0">
              <a:solidFill>
                <a:srgbClr val="63666A"/>
              </a:solidFill>
              <a:latin typeface="GE Inspira Sans" panose="020B0503060000000003" pitchFamily="34" charset="0"/>
            </a:endParaRPr>
          </a:p>
        </p:txBody>
      </p:sp>
      <p:sp>
        <p:nvSpPr>
          <p:cNvPr id="90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5EB7DB07-F122-4776-9FDC-659BDAA8ED09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3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91" name="TextShape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A1334763-60F7-45E6-AFA4-4D4C3BD1CFC5}" type="datetime3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3 August 2026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92" name="CustomShape 5"/>
          <p:cNvSpPr/>
          <p:nvPr/>
        </p:nvSpPr>
        <p:spPr>
          <a:xfrm>
            <a:off x="457199" y="5555087"/>
            <a:ext cx="10468378" cy="480811"/>
          </a:xfrm>
          <a:prstGeom prst="rect">
            <a:avLst/>
          </a:prstGeom>
          <a:ln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0" tIns="0" rIns="0" bIns="0"/>
          <a:lstStyle/>
          <a:p>
            <a:pPr>
              <a:spcBef>
                <a:spcPts val="2401"/>
              </a:spcBef>
            </a:pPr>
            <a:endParaRPr lang="en-US" sz="1500" b="0" strike="noStrike" spc="-1" dirty="0">
              <a:latin typeface="GE Inspira Sans"/>
            </a:endParaRPr>
          </a:p>
        </p:txBody>
      </p:sp>
      <p:sp>
        <p:nvSpPr>
          <p:cNvPr id="93" name="CustomShape 6"/>
          <p:cNvSpPr/>
          <p:nvPr/>
        </p:nvSpPr>
        <p:spPr>
          <a:xfrm>
            <a:off x="446670" y="5045126"/>
            <a:ext cx="10468377" cy="3343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21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Your Idea unique or is an improvisation of an existing solution?</a:t>
            </a:r>
            <a:endParaRPr lang="en-US" sz="2100" b="0" strike="noStrike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397808" y="1025616"/>
            <a:ext cx="10866913" cy="5005989"/>
          </a:xfrm>
          <a:prstGeom prst="rect">
            <a:avLst/>
          </a:prstGeom>
          <a:solidFill>
            <a:srgbClr val="FFFFFF"/>
          </a:solidFill>
          <a:ln w="10800">
            <a:solidFill>
              <a:srgbClr val="005EB8"/>
            </a:solidFill>
            <a:round/>
          </a:ln>
        </p:spPr>
        <p:txBody>
          <a:bodyPr lIns="0" tIns="0" rIns="0" bIns="0"/>
          <a:lstStyle/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b="0" i="1" strike="noStrike" spc="-1" dirty="0">
              <a:solidFill>
                <a:srgbClr val="63666A"/>
              </a:solidFill>
              <a:latin typeface="GE Inspira Sans"/>
            </a:endParaRP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i="1" strike="noStrike" spc="-1" dirty="0">
                <a:solidFill>
                  <a:srgbClr val="63666A"/>
                </a:solidFill>
                <a:latin typeface="GE Inspira Sans"/>
              </a:rPr>
              <a:t>Briefly explain the proposed solution. </a:t>
            </a: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0" i="1" strike="noStrike" spc="-1" dirty="0">
                <a:solidFill>
                  <a:srgbClr val="63666A"/>
                </a:solidFill>
                <a:latin typeface="GE Inspira Sans"/>
              </a:rPr>
              <a:t>Compare your solution</a:t>
            </a:r>
            <a:r>
              <a:rPr lang="en-US" sz="2000" i="1" spc="-1" dirty="0">
                <a:solidFill>
                  <a:srgbClr val="63666A"/>
                </a:solidFill>
                <a:latin typeface="GE Inspira Sans"/>
              </a:rPr>
              <a:t> against any conventional solutions </a:t>
            </a:r>
            <a:r>
              <a:rPr lang="en-US" sz="2000" b="0" i="1" strike="noStrike" spc="-1" dirty="0">
                <a:solidFill>
                  <a:srgbClr val="63666A"/>
                </a:solidFill>
                <a:latin typeface="GE Inspira Sans"/>
              </a:rPr>
              <a:t>(if any)</a:t>
            </a:r>
          </a:p>
          <a:p>
            <a:pPr marL="457200" indent="-4572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i="1" spc="-1" dirty="0">
                <a:solidFill>
                  <a:srgbClr val="63666A"/>
                </a:solidFill>
                <a:latin typeface="GE Inspira Sans"/>
              </a:rPr>
              <a:t>List down relevant Pros and Cons of the proposed solution</a:t>
            </a:r>
          </a:p>
        </p:txBody>
      </p:sp>
      <p:sp>
        <p:nvSpPr>
          <p:cNvPr id="99" name="TextShape 2"/>
          <p:cNvSpPr txBox="1"/>
          <p:nvPr/>
        </p:nvSpPr>
        <p:spPr>
          <a:xfrm>
            <a:off x="495360" y="250426"/>
            <a:ext cx="11201040" cy="573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3200" b="1" strike="noStrike" spc="-1" dirty="0">
                <a:solidFill>
                  <a:srgbClr val="6366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Explain Your Solution</a:t>
            </a:r>
            <a:endParaRPr lang="en-US" sz="3200" b="0" strike="noStrike" spc="-1" dirty="0">
              <a:solidFill>
                <a:srgbClr val="6366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TextShape 3"/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585DC05-A314-46F0-B650-3AAE9FF55CEC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4</a:t>
            </a:fld>
            <a:endParaRPr lang="en-US" sz="1000" b="0" strike="noStrike" spc="-1" dirty="0">
              <a:latin typeface="Times New Roman"/>
            </a:endParaRPr>
          </a:p>
        </p:txBody>
      </p:sp>
      <p:sp>
        <p:nvSpPr>
          <p:cNvPr id="101" name="TextShape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BE3947DD-1D76-410A-847F-37A2DB0FDD8D}" type="datetime3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3 August 2026</a:t>
            </a:fld>
            <a:endParaRPr lang="en-US" sz="10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2"/>
          <p:cNvSpPr txBox="1"/>
          <p:nvPr/>
        </p:nvSpPr>
        <p:spPr>
          <a:xfrm>
            <a:off x="495360" y="269280"/>
            <a:ext cx="11201040" cy="5738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90000"/>
              </a:lnSpc>
            </a:pPr>
            <a:r>
              <a:rPr lang="en-US" sz="2800" b="1" strike="noStrike" spc="-1" dirty="0">
                <a:solidFill>
                  <a:srgbClr val="63666A"/>
                </a:solidFill>
                <a:latin typeface="GE Inspira Sans"/>
              </a:rPr>
              <a:t>Any Additional Information / References </a:t>
            </a:r>
            <a:endParaRPr lang="en-US" sz="2800" b="0" strike="noStrike" spc="-1" dirty="0">
              <a:solidFill>
                <a:srgbClr val="63666A"/>
              </a:solidFill>
              <a:latin typeface="GE Inspira Sans"/>
            </a:endParaRPr>
          </a:p>
        </p:txBody>
      </p:sp>
      <p:sp>
        <p:nvSpPr>
          <p:cNvPr id="105" name="TextShape 4"/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87E41CB5-519F-4DB2-9CC9-E6B26775E2B1}" type="datetime3">
              <a:rPr lang="en-US" sz="900" b="0" strike="noStrike" spc="-1">
                <a:solidFill>
                  <a:srgbClr val="63666A"/>
                </a:solidFill>
                <a:latin typeface="GE Inspira Sans"/>
              </a:rPr>
              <a:t>3 August 2026</a:t>
            </a:fld>
            <a:endParaRPr lang="en-US" sz="900" b="0" strike="noStrike" spc="-1" dirty="0">
              <a:latin typeface="Times New Roman"/>
            </a:endParaRPr>
          </a:p>
        </p:txBody>
      </p:sp>
      <p:sp>
        <p:nvSpPr>
          <p:cNvPr id="7" name="TextShape 4">
            <a:extLst>
              <a:ext uri="{FF2B5EF4-FFF2-40B4-BE49-F238E27FC236}">
                <a16:creationId xmlns:a16="http://schemas.microsoft.com/office/drawing/2014/main" id="{7D315A83-C8AE-42BD-A631-6DEB0D5DC2CB}"/>
              </a:ext>
            </a:extLst>
          </p:cNvPr>
          <p:cNvSpPr txBox="1"/>
          <p:nvPr/>
        </p:nvSpPr>
        <p:spPr>
          <a:xfrm>
            <a:off x="4598640" y="6432480"/>
            <a:ext cx="167076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87E41CB5-519F-4DB2-9CC9-E6B26775E2B1}" type="datetime3">
              <a:rPr lang="en-US" sz="900" b="0" strike="noStrike" spc="-1">
                <a:solidFill>
                  <a:srgbClr val="63666A"/>
                </a:solidFill>
                <a:latin typeface="GE Inspira Sans"/>
              </a:rPr>
              <a:t>3 August 2026</a:t>
            </a:fld>
            <a:endParaRPr lang="en-US" sz="900" b="0" strike="noStrike" spc="-1" dirty="0">
              <a:latin typeface="Times New Roman"/>
            </a:endParaRPr>
          </a:p>
        </p:txBody>
      </p:sp>
      <p:sp>
        <p:nvSpPr>
          <p:cNvPr id="28" name="TextShape 1">
            <a:extLst>
              <a:ext uri="{FF2B5EF4-FFF2-40B4-BE49-F238E27FC236}">
                <a16:creationId xmlns:a16="http://schemas.microsoft.com/office/drawing/2014/main" id="{27E1EC15-D34E-4C87-95A7-CA15B3F848E5}"/>
              </a:ext>
            </a:extLst>
          </p:cNvPr>
          <p:cNvSpPr txBox="1"/>
          <p:nvPr/>
        </p:nvSpPr>
        <p:spPr>
          <a:xfrm>
            <a:off x="495360" y="965515"/>
            <a:ext cx="10866913" cy="5005989"/>
          </a:xfrm>
          <a:prstGeom prst="rect">
            <a:avLst/>
          </a:prstGeom>
          <a:solidFill>
            <a:srgbClr val="FFFFFF"/>
          </a:solidFill>
          <a:ln w="10800">
            <a:solidFill>
              <a:srgbClr val="005EB8"/>
            </a:solidFill>
            <a:round/>
          </a:ln>
        </p:spPr>
        <p:txBody>
          <a:bodyPr lIns="0" tIns="0" rIns="0" bIns="0"/>
          <a:lstStyle/>
          <a:p>
            <a:pPr marL="914400" lvl="1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i="1" spc="-1" dirty="0">
                <a:solidFill>
                  <a:srgbClr val="63666A"/>
                </a:solidFill>
                <a:latin typeface="GE Inspira Sans"/>
              </a:rPr>
              <a:t>Highlight any information/references that would help to understand the problem/solution better.</a:t>
            </a:r>
          </a:p>
          <a:p>
            <a:pPr marL="914400" lvl="1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i="1" spc="-1" dirty="0">
                <a:solidFill>
                  <a:srgbClr val="63666A"/>
                </a:solidFill>
                <a:latin typeface="GE Inspira Sans"/>
              </a:rPr>
              <a:t>Any architecture to explain the Solution’s feasibility can add value</a:t>
            </a:r>
          </a:p>
          <a:p>
            <a:pPr marL="914400" lvl="1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b="0" i="1" strike="noStrike" spc="-1" dirty="0">
              <a:solidFill>
                <a:srgbClr val="63666A"/>
              </a:solidFill>
              <a:latin typeface="GE Inspira Sans"/>
            </a:endParaRPr>
          </a:p>
        </p:txBody>
      </p:sp>
      <p:sp>
        <p:nvSpPr>
          <p:cNvPr id="31" name="TextShape 3">
            <a:extLst>
              <a:ext uri="{FF2B5EF4-FFF2-40B4-BE49-F238E27FC236}">
                <a16:creationId xmlns:a16="http://schemas.microsoft.com/office/drawing/2014/main" id="{345C4CAC-2FE8-41B0-A9AB-E8C00E5F5D6F}"/>
              </a:ext>
            </a:extLst>
          </p:cNvPr>
          <p:cNvSpPr txBox="1"/>
          <p:nvPr/>
        </p:nvSpPr>
        <p:spPr>
          <a:xfrm>
            <a:off x="11370960" y="6432480"/>
            <a:ext cx="329400" cy="1825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r">
              <a:lnSpc>
                <a:spcPct val="100000"/>
              </a:lnSpc>
            </a:pPr>
            <a:fld id="{4585DC05-A314-46F0-B650-3AAE9FF55CEC}" type="slidenum">
              <a:rPr lang="en-US" sz="1000" b="0" strike="noStrike" spc="-1">
                <a:solidFill>
                  <a:srgbClr val="63666A"/>
                </a:solidFill>
                <a:latin typeface="GE Inspira Sans"/>
              </a:rPr>
              <a:t>5</a:t>
            </a:fld>
            <a:endParaRPr lang="en-US" sz="10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GE Inspira Sans</vt:lpstr>
      <vt:lpstr>Times New Roman</vt:lpstr>
      <vt:lpstr>Office Theme</vt:lpstr>
      <vt:lpstr>Precision Care Challenge 2026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Care Challenge 2023</dc:title>
  <dc:creator>Sailesh, Surekha (GE HealthCare)</dc:creator>
  <cp:lastModifiedBy>Shetty, Sheeja</cp:lastModifiedBy>
  <cp:revision>3</cp:revision>
  <dcterms:created xsi:type="dcterms:W3CDTF">2023-07-11T13:48:39Z</dcterms:created>
  <dcterms:modified xsi:type="dcterms:W3CDTF">2026-08-03T06:50:47Z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3c574c9-73b0-47a5-a0cf-661fbc02804c_Enabled">
    <vt:lpwstr>true</vt:lpwstr>
  </property>
  <property fmtid="{D5CDD505-2E9C-101B-9397-08002B2CF9AE}" pid="3" name="MSIP_Label_e3c574c9-73b0-47a5-a0cf-661fbc02804c_SetDate">
    <vt:lpwstr>2026-08-03T06:50:02Z</vt:lpwstr>
  </property>
  <property fmtid="{D5CDD505-2E9C-101B-9397-08002B2CF9AE}" pid="4" name="MSIP_Label_e3c574c9-73b0-47a5-a0cf-661fbc02804c_Method">
    <vt:lpwstr>Privileged</vt:lpwstr>
  </property>
  <property fmtid="{D5CDD505-2E9C-101B-9397-08002B2CF9AE}" pid="5" name="MSIP_Label_e3c574c9-73b0-47a5-a0cf-661fbc02804c_Name">
    <vt:lpwstr>Public</vt:lpwstr>
  </property>
  <property fmtid="{D5CDD505-2E9C-101B-9397-08002B2CF9AE}" pid="6" name="MSIP_Label_e3c574c9-73b0-47a5-a0cf-661fbc02804c_SiteId">
    <vt:lpwstr>9a309606-d6ec-4188-a28a-298812b4bbbf</vt:lpwstr>
  </property>
  <property fmtid="{D5CDD505-2E9C-101B-9397-08002B2CF9AE}" pid="7" name="MSIP_Label_e3c574c9-73b0-47a5-a0cf-661fbc02804c_ActionId">
    <vt:lpwstr>c058a829-f1f8-4104-8ea0-5c992c4f1f6b</vt:lpwstr>
  </property>
  <property fmtid="{D5CDD505-2E9C-101B-9397-08002B2CF9AE}" pid="8" name="MSIP_Label_e3c574c9-73b0-47a5-a0cf-661fbc02804c_ContentBits">
    <vt:lpwstr>2</vt:lpwstr>
  </property>
  <property fmtid="{D5CDD505-2E9C-101B-9397-08002B2CF9AE}" pid="9" name="MSIP_Label_e3c574c9-73b0-47a5-a0cf-661fbc02804c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-Public-</vt:lpwstr>
  </property>
</Properties>
</file>