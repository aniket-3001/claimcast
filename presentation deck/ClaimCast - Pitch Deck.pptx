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6"/>
    <p:sldId id="258" r:id="rId5"/>
    <p:sldId id="259" r:id="rId4"/>
    <p:sldId id="260" r:id="rId3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Cities</c:v>
                </c:pt>
              </c:strCache>
            </c:strRef>
          </c:tx>
          <c:spPr>
            <a:solidFill>
              <a:srgbClr val="005EB8"/>
            </a:solidFill>
          </c:spPr>
          <c:cat>
            <c:strRef>
              <c:f>Sheet1!$A$2:$A$6</c:f>
              <c:strCache>
                <c:ptCount val="5"/>
                <c:pt idx="0">
                  <c:v>Poorest 20%</c:v>
                </c:pt>
                <c:pt idx="1">
                  <c:v>Next 20%</c:v>
                </c:pt>
                <c:pt idx="2">
                  <c:v>Middle 20%</c:v>
                </c:pt>
                <c:pt idx="3">
                  <c:v>Next 20%</c:v>
                </c:pt>
                <c:pt idx="4">
                  <c:v>Richest 20%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38456</c:v>
                </c:pt>
                <c:pt idx="1">
                  <c:v>46640</c:v>
                </c:pt>
                <c:pt idx="2">
                  <c:v>56908</c:v>
                </c:pt>
                <c:pt idx="3">
                  <c:v>56302</c:v>
                </c:pt>
                <c:pt idx="4">
                  <c:v>80927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Villages</c:v>
                </c:pt>
              </c:strCache>
            </c:strRef>
          </c:tx>
          <c:spPr>
            <a:solidFill>
              <a:srgbClr val="C4DCEF"/>
            </a:solidFill>
          </c:spPr>
          <c:cat>
            <c:strRef>
              <c:f>Sheet1!$A$2:$A$6</c:f>
              <c:strCache>
                <c:ptCount val="5"/>
                <c:pt idx="0">
                  <c:v>Poorest 20%</c:v>
                </c:pt>
                <c:pt idx="1">
                  <c:v>Next 20%</c:v>
                </c:pt>
                <c:pt idx="2">
                  <c:v>Middle 20%</c:v>
                </c:pt>
                <c:pt idx="3">
                  <c:v>Next 20%</c:v>
                </c:pt>
                <c:pt idx="4">
                  <c:v>Richest 20%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34715</c:v>
                </c:pt>
                <c:pt idx="1">
                  <c:v>42071</c:v>
                </c:pt>
                <c:pt idx="2">
                  <c:v>38841</c:v>
                </c:pt>
                <c:pt idx="3">
                  <c:v>37958</c:v>
                </c:pt>
                <c:pt idx="4">
                  <c:v>48136</c:v>
                </c:pt>
              </c:numCache>
            </c:numRef>
          </c:val>
        </c:ser>
        <c:dLbls>
          <c:numFmt formatCode="&quot;₹&quot;#,##0" sourceLinked="0"/>
          <c:txPr>
            <a:bodyPr/>
            <a:lstStyle/>
            <a:p>
              <a:pPr>
                <a:defRPr sz="1100" b="1">
                  <a:solidFill>
                    <a:srgbClr val="14181C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8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0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871C0-8BEE-4F2C-9BA2-9663CC719E28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32771B-BEB5-4FB3-B61F-E76DEDD33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47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ClaimCast tells a family, before a hospital admission, how much of the bill their health insurance will not pay, why, and which choices would change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50% is the worst case of proportionate deduction under IRDAI circular IRDAI/HLT/REG/CIR/151/06/2020; how much applies depends on the policy wording. The cancer figures are from Prinja et al., Frontiers in Public Health 2023. Treatment attrition: CROCODILE study, Lancet Regional Health SE Asia 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example is the prototype's reference admission (synthetic data). The ₹78,400 comes from the engine: ₹1,26,900 minus ₹48,500. The chat assistant only repeats figures the engine calculated.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Login shows two choices: Patient/Caregiver and ClaimCast team. No password in the demo. The chat assistant's model is not retrained; it improves by recalling similar saved conversations. The bill estimator (an XGBoost model) is genuinely retrained on shared bills.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status: the three columns are what we checked and changed in our own design review. No study with real families has been run yet; the blue box is the plan. Replace it with results once sessions are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Chart: NSS 75th round Key Indicators, private-hospital expenditure per hospitalisation by household consumption quintile, multiplied by the CPI health factor used across the project. The ₹2,39,762 suite figure is the prototype's example admission (synthetic data).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Retrieval to simulation: existing tools retrieve wording; ClaimCast simulates the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Inference cost only; hosting, storage and staff are not included. Chat: OpenRouter usage rose about $0.005 over ~11 test calls, about $0.0005 each. Bill estimate: the ML service answered in 0.9-2.7 ms; priced at 2 ms of Cloud Run CPU ($0.000024 per vCPU-second). $1 is taken as ₹88. The ₹78,400 is the prototype's example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Competitor descriptions are deliberately general: what each kind of service is for, not claims about their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dates and targets are goals, not commitments. DPDP Act: Digital Personal Data Protection Act, 2023. ABDM: Ayushman Bharat Digital Mission, the national digital health records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A272-1B98-7756-B21D-54AAC768F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D5F1B-4535-A2CC-2E76-4C3E08AB7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4CE0A-13B3-E099-E264-C749A7B6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677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1EDA-F949-7762-7345-3EC6336A0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7A73D-C754-E2B5-B616-EE1480432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2A365-36F6-273A-E85F-BE3BCFAA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75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CC3A-3FE1-0608-AF69-62F314B8E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7BFE7-64BF-F955-094B-CA2D54AD6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53996-BA9A-1D0B-135F-621431AB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46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690F-9551-239D-5BE0-BB7D7E64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90743-FEC6-B634-E47C-2987E9236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011FE-B5BC-2B1A-0E68-A1AA89031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95E66-F455-7267-A757-23F63A21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616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BB620-4238-7450-B7BC-8A6EA49FA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87683-D4EF-2932-696B-91C263731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3E9DB-B890-C5C4-54FD-A2AB329D6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FCF46-E11B-100C-6B4F-FB77397BB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BEB23-E520-032B-ECF0-C43E6673BC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D0DAEA-7228-8F58-41E8-8B79C6E6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997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3E66-949C-AC89-6293-B7A652B9A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72F4F-E0A7-505D-B933-0946FE12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74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C9473-7CFF-9FF1-EBDE-A4075A96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253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8FF25-1B80-BD56-5515-20E9EE088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EFCBF-D5F2-3396-AB47-A27716D1D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207F9-5A0E-F62C-4DA1-4DCB33A1F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BD095-FCD1-90DA-7B92-6409F2C0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741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B142A-5BB7-2BA1-A4F3-94EB9E8B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38CC8-3D10-819F-0FB9-BEF0A1036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9A2A6-26B8-2245-BD02-03BC123ED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4A55A-9700-199B-4EAC-4DA03BE5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785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9DEF5-A1E3-0C1C-2C6E-142BA1284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65151-E340-3CEB-4AFA-7C5714CDE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38010-95BD-A089-B2CF-B4AF734A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283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4232CA-53A0-450B-6F51-AB548EF16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16648-C986-9603-5B32-52BCDD9F9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7CB21-880F-CDC8-E646-6D4260DEE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7387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E16AD6-6273-F245-1B4D-3F28F5ED8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9F935-570D-F9DE-AA2F-2A8E4ECB0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16088-B3A2-F26B-E57E-9062E9421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459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695" cy="3749039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03A76E-8DAD-6730-42AF-16D46B969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566928"/>
            <a:ext cx="10543032" cy="310896"/>
          </a:xfrm>
        </p:spPr>
        <p:txBody>
          <a:bodyPr/>
          <a:lstStyle/>
          <a:p>
            <a:pPr algn="ctr"/>
            <a:r>
              <a:rPr sz="1100" b="1">
                <a:solidFill>
                  <a:srgbClr val="C4DCEF"/>
                </a:solidFill>
                <a:latin typeface="Arial"/>
              </a:rPr>
              <a:t>PRECISION CARE CHALLENGE 2026   ·   GE HEALTHCARE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0015F-B2D4-B19B-0042-89659684D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" y="1188720"/>
            <a:ext cx="10543032" cy="1188720"/>
          </a:xfrm>
        </p:spPr>
        <p:txBody>
          <a:bodyPr/>
          <a:lstStyle/>
          <a:p>
            <a:pPr algn="ctr"/>
            <a:r>
              <a:rPr sz="7600" b="1">
                <a:solidFill>
                  <a:srgbClr val="FFFFFF"/>
                </a:solidFill>
                <a:latin typeface="Rockwell"/>
              </a:rPr>
              <a:t>ClaimCast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280160" y="2697480"/>
            <a:ext cx="96286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4DCEF"/>
                </a:solidFill>
                <a:latin typeface="Arial"/>
              </a:rPr>
              <a:t>Know what your hospital bill will cost you —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before</a:t>
            </a:r>
            <a:r>
              <a:rPr sz="2000" b="0" i="0">
                <a:solidFill>
                  <a:srgbClr val="C4DCEF"/>
                </a:solidFill>
                <a:latin typeface="Arial"/>
              </a:rPr>
              <a:t> you are admitted, not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after</a:t>
            </a:r>
            <a:r>
              <a:rPr sz="2000" b="0" i="0">
                <a:solidFill>
                  <a:srgbClr val="C4DCEF"/>
                </a:solidFill>
                <a:latin typeface="Arial"/>
              </a:rPr>
              <a:t> you are discharged.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43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Arial"/>
              </a:rPr>
              <a:t>TRACK: HOSPITALITY</a:t>
            </a:r>
            <a:r>
              <a:rPr sz="1200" b="0" i="0">
                <a:solidFill>
                  <a:srgbClr val="2B3138"/>
                </a:solidFill>
                <a:latin typeface="Arial"/>
              </a:rPr>
              <a:t>   ·   Holistic Optimization System for Policy-Integrated Admission &amp; Treatment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83480"/>
            <a:ext cx="105430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4181C"/>
                </a:solidFill>
                <a:latin typeface="Rockwell"/>
              </a:rPr>
              <a:t>Team Rocket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138"/>
                </a:solidFill>
                <a:latin typeface="Arial"/>
              </a:rPr>
              <a:t>Indraprastha Institute of Information Technology, Delhi (IIIT-Delhi)</a:t>
            </a:r>
          </a:p>
        </p:txBody>
      </p:sp>
    </p:spTree>
    <p:extLst>
      <p:ext uri="{BB962C8B-B14F-4D97-AF65-F5344CB8AC3E}">
        <p14:creationId xmlns:p14="http://schemas.microsoft.com/office/powerpoint/2010/main" val="213019577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872"/>
                </a:solidFill>
                <a:latin typeface="Arial"/>
              </a:rPr>
              <a:t>ClaimCast  ·  Team Rocket, IIIT-Delhi  ·  Precision Care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DCEF"/>
                </a:solidFill>
                <a:latin typeface="Arial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33375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Rockwell"/>
              </a:rPr>
              <a:t>The costliest health decision a family makes is taken in minutes, at a hospital counter, by someone who has never read their insurance policy.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33375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4DCEF"/>
                </a:solidFill>
                <a:latin typeface="Arial"/>
              </a:rPr>
              <a:t>Insurers work out what they will pay only after discharge. By then the room, the implant and the hospital have already been chosen — and cannot be changed.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56692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Arial"/>
              </a:rPr>
              <a:t>THE ROOM-RENT 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868680"/>
            <a:ext cx="3017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0" b="1" i="0">
                <a:solidFill>
                  <a:srgbClr val="C8102E"/>
                </a:solidFill>
                <a:latin typeface="Rockwell"/>
              </a:rPr>
              <a:t>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181C"/>
                </a:solidFill>
                <a:latin typeface="Rockwell"/>
              </a:rPr>
              <a:t>of a bill can be refused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2402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138"/>
                </a:solidFill>
                <a:latin typeface="Arial"/>
              </a:rPr>
              <a:t>A policy pays up to ₹5,000 a day for the room. The family takes a ₹10,000 room. Now the surgeon, theatre and nursing charges are also cut by half — not just the room.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3337560"/>
            <a:ext cx="6766560" cy="10972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35661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5EB8"/>
                </a:solidFill>
                <a:latin typeface="Rockwell"/>
              </a:rPr>
              <a:t>₹39,085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1605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81C"/>
                </a:solidFill>
                <a:latin typeface="Arial"/>
              </a:rPr>
              <a:t>average paid from pocket per cancer hospital stay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754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872"/>
                </a:solidFill>
                <a:latin typeface="Arial"/>
              </a:rPr>
              <a:t>Front. Public Health, 2023 · 12,148 patients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5661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5EB8"/>
                </a:solidFill>
                <a:latin typeface="Rockwell"/>
              </a:rPr>
              <a:t>₹3.31 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1605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81C"/>
                </a:solidFill>
                <a:latin typeface="Arial"/>
              </a:rPr>
              <a:t>paid from pocket per cancer patient in a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754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872"/>
                </a:solidFill>
                <a:latin typeface="Arial"/>
              </a:rPr>
              <a:t>same study · medicines 45%, tests 36%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5257800"/>
            <a:ext cx="6766560" cy="86868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5394960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1C"/>
                </a:solidFill>
                <a:latin typeface="Arial"/>
              </a:rPr>
              <a:t>Surprise bills push families into debt and cause people to stop treatment midway. </a:t>
            </a:r>
            <a:r>
              <a:rPr sz="1100" b="0" i="0">
                <a:solidFill>
                  <a:srgbClr val="5F6872"/>
                </a:solidFill>
                <a:latin typeface="Arial"/>
              </a:rPr>
              <a:t>(Lancet Regional Health SE Asia, 2022)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872"/>
                </a:solidFill>
                <a:latin typeface="Arial"/>
              </a:rPr>
              <a:t>ClaimCast  ·  Team Rocket, IIIT-Delhi  ·  Precision Care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C"/>
                </a:solidFill>
                <a:latin typeface="Rockwell"/>
              </a:rPr>
              <a:t>What ClaimCast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50976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872"/>
                </a:solidFill>
                <a:latin typeface="Arial"/>
              </a:rPr>
              <a:t>The same maths the insurer uses after discharge — done before admission, while choices are still open.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828800"/>
            <a:ext cx="420624" cy="42062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856231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C"/>
                </a:solidFill>
                <a:latin typeface="Rockwell"/>
              </a:rPr>
              <a:t>Tell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138"/>
                </a:solidFill>
                <a:latin typeface="Arial"/>
              </a:rPr>
              <a:t>Your insurance plan, the treatment and the hospital. Upload your policy PDF if you have it — we read it, you check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0" y="1828800"/>
            <a:ext cx="420624" cy="42062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856231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C"/>
                </a:solidFill>
                <a:latin typeface="Rockwell"/>
              </a:rPr>
              <a:t>See every choice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6888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138"/>
                </a:solidFill>
                <a:latin typeface="Arial"/>
              </a:rPr>
              <a:t>Which hospital, which room, which implant, cashless or refund. Each choice shows exactly what you would pay.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1828800"/>
            <a:ext cx="420624" cy="42062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856231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C"/>
                </a:solidFill>
                <a:latin typeface="Rockwell"/>
              </a:rPr>
              <a:t>Understand the bill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6888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138"/>
                </a:solidFill>
                <a:latin typeface="Arial"/>
              </a:rPr>
              <a:t>Every rupee your insurance will not pay, line by line, with the policy rule that causes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EB8"/>
                </a:solidFill>
                <a:latin typeface="Arial"/>
              </a:rPr>
              <a:t>AN EXAMPLE ADMISSION  ·  spine surgery, 5 nights, ₹5 lakh 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26280"/>
            <a:ext cx="28803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181C"/>
                </a:solidFill>
                <a:latin typeface="Arial"/>
              </a:rPr>
              <a:t>Private 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5604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872"/>
                </a:solidFill>
                <a:latin typeface="Arial"/>
              </a:rPr>
              <a:t>₹10,000 a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85232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138"/>
                </a:solidFill>
                <a:latin typeface="Arial"/>
              </a:rPr>
              <a:t>you pay </a:t>
            </a:r>
            <a:r>
              <a:rPr sz="2600" b="1" i="0">
                <a:solidFill>
                  <a:srgbClr val="C8102E"/>
                </a:solidFill>
                <a:latin typeface="Rockwell"/>
              </a:rPr>
              <a:t>₹1,26,900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526280"/>
            <a:ext cx="28803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46634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181C"/>
                </a:solidFill>
                <a:latin typeface="Arial"/>
              </a:rPr>
              <a:t>Semi-private 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95604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872"/>
                </a:solidFill>
                <a:latin typeface="Arial"/>
              </a:rPr>
              <a:t>₹5,000 a 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285232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138"/>
                </a:solidFill>
                <a:latin typeface="Arial"/>
              </a:rPr>
              <a:t>you pay </a:t>
            </a:r>
            <a:r>
              <a:rPr sz="2600" b="1" i="0">
                <a:solidFill>
                  <a:srgbClr val="005EB8"/>
                </a:solidFill>
                <a:latin typeface="Rockwell"/>
              </a:rPr>
              <a:t>₹48,500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4526280"/>
            <a:ext cx="4782312" cy="1600200"/>
          </a:xfrm>
          <a:prstGeom prst="roundRect">
            <a:avLst>
              <a:gd name="adj" fmla="val 6000"/>
            </a:avLst>
          </a:prstGeom>
          <a:solidFill>
            <a:srgbClr val="00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4681728"/>
            <a:ext cx="42976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Rockwell"/>
              </a:rPr>
              <a:t>You keep ₹78,400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just by knowing the room limit before choosing a bed. A chat assistant answers any question about it, in plain 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872"/>
                </a:solidFill>
                <a:latin typeface="Arial"/>
              </a:rPr>
              <a:t>ClaimCast  ·  Team Rocket, IIIT-Delhi  ·  Precision Care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C"/>
                </a:solidFill>
                <a:latin typeface="Rockwell"/>
              </a:rPr>
              <a:t>Two sides of ClaimCast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50976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872"/>
                </a:solidFill>
                <a:latin typeface="Arial"/>
              </a:rPr>
              <a:t>What families see, and how ClaimCast remembers and keeps learning.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212080" cy="452628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EB8"/>
                </a:solidFill>
                <a:latin typeface="Arial"/>
              </a:rPr>
              <a:t>FOR FAMILIES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181C"/>
                </a:solidFill>
                <a:latin typeface="Rockwell"/>
              </a:rPr>
              <a:t>Patient / Caregiver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500" b="1">
                <a:solidFill>
                  <a:srgbClr val="005EB8"/>
                </a:solidFill>
                <a:latin typeface="Arial"/>
              </a:rPr>
              <a:t>•  </a:t>
            </a:r>
            <a:r>
              <a:rPr sz="1500" b="1">
                <a:solidFill>
                  <a:srgbClr val="14181C"/>
                </a:solidFill>
                <a:latin typeface="Arial"/>
              </a:rPr>
              <a:t>Start </a:t>
            </a:r>
            <a:r>
              <a:rPr sz="1500">
                <a:solidFill>
                  <a:srgbClr val="2B3138"/>
                </a:solidFill>
                <a:latin typeface="Arial"/>
              </a:rPr>
              <a:t>— about you and your insurance, in simple questions.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500" b="1">
                <a:solidFill>
                  <a:srgbClr val="005EB8"/>
                </a:solidFill>
                <a:latin typeface="Arial"/>
              </a:rPr>
              <a:t>•  </a:t>
            </a:r>
            <a:r>
              <a:rPr sz="1500" b="1">
                <a:solidFill>
                  <a:srgbClr val="14181C"/>
                </a:solidFill>
                <a:latin typeface="Arial"/>
              </a:rPr>
              <a:t>The path </a:t>
            </a:r>
            <a:r>
              <a:rPr sz="1500">
                <a:solidFill>
                  <a:srgbClr val="2B3138"/>
                </a:solidFill>
                <a:latin typeface="Arial"/>
              </a:rPr>
              <a:t>— every choice, and what it costs you.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500" b="1">
                <a:solidFill>
                  <a:srgbClr val="005EB8"/>
                </a:solidFill>
                <a:latin typeface="Arial"/>
              </a:rPr>
              <a:t>•  </a:t>
            </a:r>
            <a:r>
              <a:rPr sz="1500" b="1">
                <a:solidFill>
                  <a:srgbClr val="14181C"/>
                </a:solidFill>
                <a:latin typeface="Arial"/>
              </a:rPr>
              <a:t>The working </a:t>
            </a:r>
            <a:r>
              <a:rPr sz="1500">
                <a:solidFill>
                  <a:srgbClr val="2B3138"/>
                </a:solidFill>
                <a:latin typeface="Arial"/>
              </a:rPr>
              <a:t>— your bill line by line, each cut explained.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500" b="1">
                <a:solidFill>
                  <a:srgbClr val="005EB8"/>
                </a:solidFill>
                <a:latin typeface="Arial"/>
              </a:rPr>
              <a:t>•  </a:t>
            </a:r>
            <a:r>
              <a:rPr sz="1500" b="1">
                <a:solidFill>
                  <a:srgbClr val="14181C"/>
                </a:solidFill>
                <a:latin typeface="Arial"/>
              </a:rPr>
              <a:t>Ask ClaimCast </a:t>
            </a:r>
            <a:r>
              <a:rPr sz="1500">
                <a:solidFill>
                  <a:srgbClr val="2B3138"/>
                </a:solidFill>
                <a:latin typeface="Arial"/>
              </a:rPr>
              <a:t>— a chat assistant for any question about the bill.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500" b="1">
                <a:solidFill>
                  <a:srgbClr val="005EB8"/>
                </a:solidFill>
                <a:latin typeface="Arial"/>
              </a:rPr>
              <a:t>•  </a:t>
            </a:r>
            <a:r>
              <a:rPr sz="1500" b="1">
                <a:solidFill>
                  <a:srgbClr val="14181C"/>
                </a:solidFill>
                <a:latin typeface="Arial"/>
              </a:rPr>
              <a:t>Save my session </a:t>
            </a:r>
            <a:r>
              <a:rPr sz="1500">
                <a:solidFill>
                  <a:srgbClr val="2B3138"/>
                </a:solidFill>
                <a:latin typeface="Arial"/>
              </a:rPr>
              <a:t>— keeps your details and questions for next time.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97880" y="3429000"/>
            <a:ext cx="457200" cy="457200"/>
          </a:xfrm>
          <a:prstGeom prst="rightArrow">
            <a:avLst/>
          </a:prstGeom>
          <a:solidFill>
            <a:srgbClr val="C4D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600200"/>
            <a:ext cx="5148072" cy="4526280"/>
          </a:xfrm>
          <a:prstGeom prst="roundRect">
            <a:avLst>
              <a:gd name="adj" fmla="val 6000"/>
            </a:avLst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7830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DCEF"/>
                </a:solidFill>
                <a:latin typeface="Arial"/>
              </a:rPr>
              <a:t>FOR THE CLAIMCAST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031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Rockwell"/>
              </a:rPr>
              <a:t>Memory and self-learning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0" y="274320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05EB8"/>
                </a:solidFill>
                <a:latin typeface="Rockwel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724912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Every saved session </a:t>
            </a:r>
            <a:r>
              <a:rPr sz="1250" b="0" i="0">
                <a:solidFill>
                  <a:srgbClr val="C4DCEF"/>
                </a:solidFill>
                <a:latin typeface="Arial"/>
              </a:rPr>
              <a:t>is kept: who, which hospital, what they pay, what they asked.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5661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05EB8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547872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The chat assistant remembers </a:t>
            </a:r>
            <a:r>
              <a:rPr sz="1250" b="0" i="0">
                <a:solidFill>
                  <a:srgbClr val="C4DCEF"/>
                </a:solidFill>
                <a:latin typeface="Arial"/>
              </a:rPr>
              <a:t>how past questions were answered, and explains better each time.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0" y="43891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05EB8"/>
                </a:solidFill>
                <a:latin typeface="Rockwel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370832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The bill estimator retrains itself </a:t>
            </a:r>
            <a:r>
              <a:rPr sz="1250" b="0" i="0">
                <a:solidFill>
                  <a:srgbClr val="C4DCEF"/>
                </a:solidFill>
                <a:latin typeface="Arial"/>
              </a:rPr>
              <a:t>after every 10 real bills families share.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52120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05EB8"/>
                </a:solidFill>
                <a:latin typeface="Rockwel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5193792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Misread policy details </a:t>
            </a:r>
            <a:r>
              <a:rPr sz="1250" b="0" i="0">
                <a:solidFill>
                  <a:srgbClr val="C4DCEF"/>
                </a:solidFill>
                <a:latin typeface="Arial"/>
              </a:rPr>
              <a:t>are counted, so the next family is warned to double-check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872"/>
                </a:solidFill>
                <a:latin typeface="Arial"/>
              </a:rPr>
              <a:t>ClaimCast  ·  Team Rocket, IIIT-Delhi  ·  Precision Care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C"/>
                </a:solidFill>
                <a:latin typeface="Rockwell"/>
              </a:rPr>
              <a:t>User study: is it easy, open to everyone, and useful?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520440" cy="35204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3716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EB8"/>
                </a:solidFill>
                <a:latin typeface="Arial"/>
              </a:rPr>
              <a:t>USABILITY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66420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181C"/>
                </a:solidFill>
                <a:latin typeface="Rockwell"/>
              </a:rPr>
              <a:t>Can a stressed caregiver use it in minutes?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77440"/>
            <a:ext cx="30175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005EB8"/>
                </a:solidFill>
                <a:latin typeface="Arial"/>
              </a:rPr>
              <a:t>•  </a:t>
            </a:r>
            <a:r>
              <a:rPr sz="1150">
                <a:solidFill>
                  <a:srgbClr val="2B3138"/>
                </a:solidFill>
                <a:latin typeface="Arial"/>
              </a:rPr>
              <a:t>The answer comes first: “As things stand, you pay ₹…” is the first thing on the page.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005EB8"/>
                </a:solidFill>
                <a:latin typeface="Arial"/>
              </a:rPr>
              <a:t>•  </a:t>
            </a:r>
            <a:r>
              <a:rPr sz="1150">
                <a:solidFill>
                  <a:srgbClr val="2B3138"/>
                </a:solidFill>
                <a:latin typeface="Arial"/>
              </a:rPr>
              <a:t>Insurance words replaced: “Illness began before the policy?” instead of “pre-existing condition”.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005EB8"/>
                </a:solidFill>
                <a:latin typeface="Arial"/>
              </a:rPr>
              <a:t>•  </a:t>
            </a:r>
            <a:r>
              <a:rPr sz="1150">
                <a:solidFill>
                  <a:srgbClr val="2B3138"/>
                </a:solidFill>
                <a:latin typeface="Arial"/>
              </a:rPr>
              <a:t>One question per screen section; every choice shows its rupee effect.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88720"/>
            <a:ext cx="3520440" cy="35204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3716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EB8"/>
                </a:solidFill>
                <a:latin typeface="Arial"/>
              </a:rPr>
              <a:t>ACCESSIBILITY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66420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181C"/>
                </a:solidFill>
                <a:latin typeface="Rockwell"/>
              </a:rPr>
              <a:t>Can everyone read and trust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77440"/>
            <a:ext cx="30175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005EB8"/>
                </a:solidFill>
                <a:latin typeface="Arial"/>
              </a:rPr>
              <a:t>•  </a:t>
            </a:r>
            <a:r>
              <a:rPr sz="1150">
                <a:solidFill>
                  <a:srgbClr val="2B3138"/>
                </a:solidFill>
                <a:latin typeface="Arial"/>
              </a:rPr>
              <a:t>High-contrast colours and large figures; fixed labels that ran into each other.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005EB8"/>
                </a:solidFill>
                <a:latin typeface="Arial"/>
              </a:rPr>
              <a:t>•  </a:t>
            </a:r>
            <a:r>
              <a:rPr sz="1150">
                <a:solidFill>
                  <a:srgbClr val="2B3138"/>
                </a:solidFill>
                <a:latin typeface="Arial"/>
              </a:rPr>
              <a:t>English and Hindi on every page, switched with one button; light and dark themes.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005EB8"/>
                </a:solidFill>
                <a:latin typeface="Arial"/>
              </a:rPr>
              <a:t>•  </a:t>
            </a:r>
            <a:r>
              <a:rPr sz="1150">
                <a:solidFill>
                  <a:srgbClr val="2B3138"/>
                </a:solidFill>
                <a:latin typeface="Arial"/>
              </a:rPr>
              <a:t>Next: more Indian languages, voice questions, screen-reader checks.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520440" cy="35204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3716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EB8"/>
                </a:solidFill>
                <a:latin typeface="Arial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66420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181C"/>
                </a:solidFill>
                <a:latin typeface="Rockwell"/>
              </a:rPr>
              <a:t>Does it change a decision?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77440"/>
            <a:ext cx="30175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005EB8"/>
                </a:solidFill>
                <a:latin typeface="Arial"/>
              </a:rPr>
              <a:t>•  </a:t>
            </a:r>
            <a:r>
              <a:rPr sz="1150">
                <a:solidFill>
                  <a:srgbClr val="2B3138"/>
                </a:solidFill>
                <a:latin typeface="Arial"/>
              </a:rPr>
              <a:t>Each choice shows how much it saves or costs, e.g. ₹78,400 for the right room.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005EB8"/>
                </a:solidFill>
                <a:latin typeface="Arial"/>
              </a:rPr>
              <a:t>•  </a:t>
            </a:r>
            <a:r>
              <a:rPr sz="1150">
                <a:solidFill>
                  <a:srgbClr val="2B3138"/>
                </a:solidFill>
                <a:latin typeface="Arial"/>
              </a:rPr>
              <a:t>The assistant only speaks about money and sends medical questions to the doctor.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005EB8"/>
                </a:solidFill>
                <a:latin typeface="Arial"/>
              </a:rPr>
              <a:t>•  </a:t>
            </a:r>
            <a:r>
              <a:rPr sz="1150">
                <a:solidFill>
                  <a:srgbClr val="2B3138"/>
                </a:solidFill>
                <a:latin typeface="Arial"/>
              </a:rPr>
              <a:t>Measure next: did the family pick a different room, hospital or scheme?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92040"/>
            <a:ext cx="11091672" cy="1280160"/>
          </a:xfrm>
          <a:prstGeom prst="roundRect">
            <a:avLst>
              <a:gd name="adj" fmla="val 8000"/>
            </a:avLst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Rockwell"/>
              </a:rPr>
              <a:t>Study with families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C4DCEF"/>
                </a:solidFill>
                <a:latin typeface="Arial"/>
              </a:rPr>
              <a:t>planned · results to be added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504748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Rockwell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504688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DCEF"/>
                </a:solidFill>
                <a:latin typeface="Arial"/>
              </a:rPr>
              <a:t>caregivers at a hospital admission desk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04748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Rockwell"/>
              </a:rPr>
              <a:t>3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504688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DCEF"/>
                </a:solidFill>
                <a:latin typeface="Arial"/>
              </a:rPr>
              <a:t>find what you pay · find a cheaper choice · ask the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504748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Rockwell"/>
              </a:rPr>
              <a:t>≥ 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5504688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DCEF"/>
                </a:solidFill>
                <a:latin typeface="Arial"/>
              </a:rPr>
              <a:t>target usability score (SUS, out of 100)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872"/>
                </a:solidFill>
                <a:latin typeface="Arial"/>
              </a:rPr>
              <a:t>ClaimCast  ·  Team Rocket, IIIT-Delhi  ·  Precision Care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C"/>
                </a:solidFill>
                <a:latin typeface="Rockwell"/>
              </a:rPr>
              <a:t>Who it helps: every income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50976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872"/>
                </a:solidFill>
                <a:latin typeface="Arial"/>
              </a:rPr>
              <a:t>Average spent per stay in a private hospital, by household income (today’s rupees)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325880"/>
          <a:ext cx="59893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872"/>
                </a:solidFill>
                <a:latin typeface="Arial"/>
              </a:rPr>
              <a:t>A private hospital stay costs about 7× a government one. Source: NSS 75th round (2017–18, 113,823 households), adjusted to Dec 2025 prices with the CPI health index.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371600"/>
            <a:ext cx="5010912" cy="8229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12280" y="1572768"/>
            <a:ext cx="420624" cy="42062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46304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1C"/>
                </a:solidFill>
                <a:latin typeface="Arial"/>
              </a:rPr>
              <a:t>Lower income  </a:t>
            </a:r>
            <a:r>
              <a:rPr sz="1150" b="0" i="0">
                <a:solidFill>
                  <a:srgbClr val="2B3138"/>
                </a:solidFill>
                <a:latin typeface="Arial"/>
              </a:rPr>
              <a:t>Checks if an Ayushman Bharat (PM-JAY) card — or age 70+ — makes the stay free at this hospital.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304288"/>
            <a:ext cx="5010912" cy="8229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12280" y="2505456"/>
            <a:ext cx="420624" cy="42062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395728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1C"/>
                </a:solidFill>
                <a:latin typeface="Arial"/>
              </a:rPr>
              <a:t>Salaried workers  </a:t>
            </a:r>
            <a:r>
              <a:rPr sz="1150" b="0" i="0">
                <a:solidFill>
                  <a:srgbClr val="2B3138"/>
                </a:solidFill>
                <a:latin typeface="Arial"/>
              </a:rPr>
              <a:t>Shows when ESI (for wages up to ₹21,000 a month) covers the treatment at no cost.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236976"/>
            <a:ext cx="5010912" cy="8229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12280" y="3438144"/>
            <a:ext cx="420624" cy="42062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328416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1C"/>
                </a:solidFill>
                <a:latin typeface="Arial"/>
              </a:rPr>
              <a:t>Government staff  </a:t>
            </a:r>
            <a:r>
              <a:rPr sz="1150" b="0" i="0">
                <a:solidFill>
                  <a:srgbClr val="2B3138"/>
                </a:solidFill>
                <a:latin typeface="Arial"/>
              </a:rPr>
              <a:t>Shows the CGHS option for serving and retired central government employees.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4169664"/>
            <a:ext cx="5010912" cy="8229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12280" y="4370832"/>
            <a:ext cx="420624" cy="42062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Rockwel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261104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1C"/>
                </a:solidFill>
                <a:latin typeface="Arial"/>
              </a:rPr>
              <a:t>Middle income  </a:t>
            </a:r>
            <a:r>
              <a:rPr sz="1150" b="0" i="0">
                <a:solidFill>
                  <a:srgbClr val="2B3138"/>
                </a:solidFill>
                <a:latin typeface="Arial"/>
              </a:rPr>
              <a:t>Finds the room, hospital and implant that keep the most money in the family.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5102352"/>
            <a:ext cx="5010912" cy="8229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12280" y="5303520"/>
            <a:ext cx="420624" cy="42062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Rockwel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5193792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1C"/>
                </a:solidFill>
                <a:latin typeface="Arial"/>
              </a:rPr>
              <a:t>Higher income  </a:t>
            </a:r>
            <a:r>
              <a:rPr sz="1150" b="0" i="0">
                <a:solidFill>
                  <a:srgbClr val="2B3138"/>
                </a:solidFill>
                <a:latin typeface="Arial"/>
              </a:rPr>
              <a:t>Shows the true cost of premium rooms: a suite here means paying ₹2,39,762 yourself.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872"/>
                </a:solidFill>
                <a:latin typeface="Arial"/>
              </a:rPr>
              <a:t>ClaimCast  ·  Team Rocket, IIIT-Delhi  ·  Precision Care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C"/>
                </a:solidFill>
                <a:latin typeface="Rockwell"/>
              </a:rPr>
              <a:t>What is new about ClaimCast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440680" cy="17373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508760"/>
            <a:ext cx="475488" cy="475488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C"/>
                </a:solidFill>
                <a:latin typeface="Rockwell"/>
              </a:rPr>
              <a:t>Before, not 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65960"/>
            <a:ext cx="4251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138"/>
                </a:solidFill>
                <a:latin typeface="Arial"/>
              </a:rPr>
              <a:t>Insurers calculate after discharge. ClaimCast does the same calculation before admission, while the family can still choose.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440680" cy="17373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1508760"/>
            <a:ext cx="475488" cy="475488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C"/>
                </a:solidFill>
                <a:latin typeface="Rockwell"/>
              </a:rPr>
              <a:t>Prices the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965960"/>
            <a:ext cx="4251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138"/>
                </a:solidFill>
                <a:latin typeface="Arial"/>
              </a:rPr>
              <a:t>Other tools explain policy wording. ClaimCast puts a rupee figure on each choice: hospital, room, implant, claim type.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54680"/>
            <a:ext cx="5440680" cy="17373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3429000"/>
            <a:ext cx="475488" cy="475488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42900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C"/>
                </a:solidFill>
                <a:latin typeface="Rockwell"/>
              </a:rPr>
              <a:t>Shows its working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86200"/>
            <a:ext cx="4251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138"/>
                </a:solidFill>
                <a:latin typeface="Arial"/>
              </a:rPr>
              <a:t>Every rupee not paid points to the policy rule behind it. The assistant never makes up a number.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154680"/>
            <a:ext cx="5440680" cy="17373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20" y="3429000"/>
            <a:ext cx="475488" cy="475488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Rockwel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42900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C"/>
                </a:solidFill>
                <a:latin typeface="Rockwell"/>
              </a:rPr>
              <a:t>Learns from every family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886200"/>
            <a:ext cx="4251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138"/>
                </a:solidFill>
                <a:latin typeface="Arial"/>
              </a:rPr>
              <a:t>Saved sessions become memory. Shared bills retrain the bill estimator. Fixed policy details make the next reading safer.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10000"/>
            </a:avLst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12080"/>
            <a:ext cx="106070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DCEF"/>
                </a:solidFill>
                <a:latin typeface="Arial"/>
              </a:rPr>
              <a:t>Today:  </a:t>
            </a:r>
            <a:r>
              <a:rPr sz="1500" b="0" i="0">
                <a:solidFill>
                  <a:srgbClr val="FFFFFF"/>
                </a:solidFill>
                <a:latin typeface="Arial"/>
              </a:rPr>
              <a:t>find out after discharge, from a letter.     </a:t>
            </a:r>
            <a:r>
              <a:rPr sz="1500" b="1" i="0">
                <a:solidFill>
                  <a:srgbClr val="C4DCEF"/>
                </a:solidFill>
                <a:latin typeface="Arial"/>
              </a:rPr>
              <a:t>With ClaimCast:  </a:t>
            </a:r>
            <a:r>
              <a:rPr sz="1500" b="1" i="0">
                <a:solidFill>
                  <a:srgbClr val="FFFFFF"/>
                </a:solidFill>
                <a:latin typeface="Arial"/>
              </a:rPr>
              <a:t>know before admission, and choose.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872"/>
                </a:solidFill>
                <a:latin typeface="Arial"/>
              </a:rPr>
              <a:t>ClaimCast  ·  Team Rocket, IIIT-Delhi  ·  Precision Care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C"/>
                </a:solidFill>
                <a:latin typeface="Rockwell"/>
              </a:rPr>
              <a:t>What each answer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50976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872"/>
                </a:solidFill>
                <a:latin typeface="Arial"/>
              </a:rPr>
              <a:t>Inference only — the cost of answering a family, measured on the working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633472" cy="19659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5EB8"/>
                </a:solidFill>
                <a:latin typeface="Rockwell"/>
              </a:rPr>
              <a:t>₹0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762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1C"/>
                </a:solidFill>
                <a:latin typeface="Arial"/>
              </a:rPr>
              <a:t>for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138"/>
                </a:solidFill>
                <a:latin typeface="Arial"/>
              </a:rPr>
              <a:t>Every price list and rule comes from public government sources.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371600"/>
            <a:ext cx="2633472" cy="19659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53619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5EB8"/>
                </a:solidFill>
                <a:latin typeface="Rockwell"/>
              </a:rPr>
              <a:t>~5 paise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1762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1C"/>
                </a:solidFill>
                <a:latin typeface="Arial"/>
              </a:rPr>
              <a:t>per chat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51460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138"/>
                </a:solidFill>
                <a:latin typeface="Arial"/>
              </a:rPr>
              <a:t>Llama 3.3 70B through OpenRouter, measured on our own usage.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371600"/>
            <a:ext cx="2633472" cy="19659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53619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5EB8"/>
                </a:solidFill>
                <a:latin typeface="Rockwell"/>
              </a:rPr>
              <a:t>≈ ₹0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1762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1C"/>
                </a:solidFill>
                <a:latin typeface="Arial"/>
              </a:rPr>
              <a:t>per bill estimate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51460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138"/>
                </a:solidFill>
                <a:latin typeface="Arial"/>
              </a:rPr>
              <a:t>The estimator answers in about 1 millisecond on an ordinary CPU.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1371600"/>
            <a:ext cx="2633472" cy="19659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53619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5EB8"/>
                </a:solidFill>
                <a:latin typeface="Rockwell"/>
              </a:rPr>
              <a:t>~5 sec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1762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1C"/>
                </a:solidFill>
                <a:latin typeface="Arial"/>
              </a:rPr>
              <a:t>to retrain the estimator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251460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138"/>
                </a:solidFill>
                <a:latin typeface="Arial"/>
              </a:rPr>
              <a:t>On a normal laptop. No GPU or special hardware needed.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EB8"/>
                </a:solidFill>
                <a:latin typeface="Arial"/>
              </a:rPr>
              <a:t>IF WE SCALE UP  ·  5 chat questions and 20 bill estimates per family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8640" y="3931920"/>
          <a:ext cx="740664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280160"/>
                <a:gridCol w="1143000"/>
                <a:gridCol w="1234440"/>
                <a:gridCol w="1234440"/>
                <a:gridCol w="1097280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Families a month</a:t>
                      </a:r>
                    </a:p>
                  </a:txBody>
                  <a:tcPr marL="109728" marR="109728" anchor="ctr"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Chat questions</a:t>
                      </a:r>
                    </a:p>
                  </a:txBody>
                  <a:tcPr marL="109728" marR="109728" anchor="ctr"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Chat cost</a:t>
                      </a:r>
                    </a:p>
                  </a:txBody>
                  <a:tcPr marL="109728" marR="109728" anchor="ctr"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Bill estimates</a:t>
                      </a:r>
                    </a:p>
                  </a:txBody>
                  <a:tcPr marL="109728" marR="109728" anchor="ctr"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Total a month</a:t>
                      </a:r>
                    </a:p>
                  </a:txBody>
                  <a:tcPr marL="109728" marR="109728" anchor="ctr"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Per family</a:t>
                      </a:r>
                    </a:p>
                  </a:txBody>
                  <a:tcPr marL="109728" marR="109728" anchor="ctr">
                    <a:solidFill>
                      <a:srgbClr val="1418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81C"/>
                          </a:solidFill>
                          <a:latin typeface="Arial"/>
                        </a:rPr>
                        <a:t>1,000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1C"/>
                          </a:solidFill>
                          <a:latin typeface="Arial"/>
                        </a:rPr>
                        <a:t>5,000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1C"/>
                          </a:solidFill>
                          <a:latin typeface="Arial"/>
                        </a:rPr>
                        <a:t>₹220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1C"/>
                          </a:solidFill>
                          <a:latin typeface="Arial"/>
                        </a:rPr>
                        <a:t>&lt; ₹1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5EB8"/>
                          </a:solidFill>
                          <a:latin typeface="Arial"/>
                        </a:rPr>
                        <a:t>₹220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1C"/>
                          </a:solidFill>
                          <a:latin typeface="Arial"/>
                        </a:rPr>
                        <a:t>22 paise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81C"/>
                          </a:solidFill>
                          <a:latin typeface="Arial"/>
                        </a:rPr>
                        <a:t>1 lakh</a:t>
                      </a:r>
                    </a:p>
                  </a:txBody>
                  <a:tcPr marL="109728" marR="10972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1C"/>
                          </a:solidFill>
                          <a:latin typeface="Arial"/>
                        </a:rPr>
                        <a:t>5 lakh</a:t>
                      </a:r>
                    </a:p>
                  </a:txBody>
                  <a:tcPr marL="109728" marR="10972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1C"/>
                          </a:solidFill>
                          <a:latin typeface="Arial"/>
                        </a:rPr>
                        <a:t>₹22,000</a:t>
                      </a:r>
                    </a:p>
                  </a:txBody>
                  <a:tcPr marL="109728" marR="10972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1C"/>
                          </a:solidFill>
                          <a:latin typeface="Arial"/>
                        </a:rPr>
                        <a:t>₹8</a:t>
                      </a:r>
                    </a:p>
                  </a:txBody>
                  <a:tcPr marL="109728" marR="10972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5EB8"/>
                          </a:solidFill>
                          <a:latin typeface="Arial"/>
                        </a:rPr>
                        <a:t>₹22,008</a:t>
                      </a:r>
                    </a:p>
                  </a:txBody>
                  <a:tcPr marL="109728" marR="10972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1C"/>
                          </a:solidFill>
                          <a:latin typeface="Arial"/>
                        </a:rPr>
                        <a:t>22 paise</a:t>
                      </a:r>
                    </a:p>
                  </a:txBody>
                  <a:tcPr marL="109728" marR="109728" anchor="ctr"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81C"/>
                          </a:solidFill>
                          <a:latin typeface="Arial"/>
                        </a:rPr>
                        <a:t>10 lakh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1C"/>
                          </a:solidFill>
                          <a:latin typeface="Arial"/>
                        </a:rPr>
                        <a:t>50 lakh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1C"/>
                          </a:solidFill>
                          <a:latin typeface="Arial"/>
                        </a:rPr>
                        <a:t>₹2,20,000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1C"/>
                          </a:solidFill>
                          <a:latin typeface="Arial"/>
                        </a:rPr>
                        <a:t>₹84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5EB8"/>
                          </a:solidFill>
                          <a:latin typeface="Arial"/>
                        </a:rPr>
                        <a:t>₹2,20,084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81C"/>
                          </a:solidFill>
                          <a:latin typeface="Arial"/>
                        </a:rPr>
                        <a:t>22 paise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8229600" y="3611880"/>
            <a:ext cx="3410712" cy="2514600"/>
          </a:xfrm>
          <a:prstGeom prst="roundRect">
            <a:avLst>
              <a:gd name="adj" fmla="val 6000"/>
            </a:avLst>
          </a:prstGeom>
          <a:solidFill>
            <a:srgbClr val="00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3794760"/>
            <a:ext cx="292608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Rockwell"/>
              </a:rPr>
              <a:t>~22 paise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per family, at any size — the cost grows in a straight line with use, with no big fixed cost.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Against ₹78,400 saved in our example admission.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872"/>
                </a:solidFill>
                <a:latin typeface="Arial"/>
              </a:rPr>
              <a:t>ClaimCast  ·  Team Rocket, IIIT-Delhi  ·  Precision Care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C"/>
                </a:solidFill>
                <a:latin typeface="Rockwell"/>
              </a:rPr>
              <a:t>How ClaimCast compares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743200"/>
                <a:gridCol w="3063240"/>
                <a:gridCol w="2267712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64592" marR="164592" anchor="ctr"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When it helps</a:t>
                      </a:r>
                    </a:p>
                  </a:txBody>
                  <a:tcPr marL="164592" marR="164592" anchor="ctr"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What you get</a:t>
                      </a:r>
                    </a:p>
                  </a:txBody>
                  <a:tcPr marL="164592" marR="164592" anchor="ctr"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Whose side</a:t>
                      </a:r>
                    </a:p>
                  </a:txBody>
                  <a:tcPr marL="164592" marR="164592" anchor="ctr">
                    <a:solidFill>
                      <a:srgbClr val="14181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81C"/>
                          </a:solidFill>
                          <a:latin typeface="Rockwell"/>
                        </a:rPr>
                        <a:t>Hospital insurance desk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8"/>
                          </a:solidFill>
                          <a:latin typeface="Arial"/>
                        </a:rPr>
                        <a:t>At admission, after you choose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8"/>
                          </a:solidFill>
                          <a:latin typeface="Arial"/>
                        </a:rPr>
                        <a:t>A spoken estimate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8"/>
                          </a:solidFill>
                          <a:latin typeface="Arial"/>
                        </a:rPr>
                        <a:t>The hospital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81C"/>
                          </a:solidFill>
                          <a:latin typeface="Rockwell"/>
                        </a:rPr>
                        <a:t>Policy websites (Policybazaar, Ditto)</a:t>
                      </a:r>
                    </a:p>
                  </a:txBody>
                  <a:tcPr marL="164592" marR="16459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8"/>
                          </a:solidFill>
                          <a:latin typeface="Arial"/>
                        </a:rPr>
                        <a:t>When buying a policy</a:t>
                      </a:r>
                    </a:p>
                  </a:txBody>
                  <a:tcPr marL="164592" marR="16459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8"/>
                          </a:solidFill>
                          <a:latin typeface="Arial"/>
                        </a:rPr>
                        <a:t>Help choosing a plan</a:t>
                      </a:r>
                    </a:p>
                  </a:txBody>
                  <a:tcPr marL="164592" marR="16459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8"/>
                          </a:solidFill>
                          <a:latin typeface="Arial"/>
                        </a:rPr>
                        <a:t>People buying a policy</a:t>
                      </a:r>
                    </a:p>
                  </a:txBody>
                  <a:tcPr marL="164592" marR="164592" anchor="ctr">
                    <a:solidFill>
                      <a:srgbClr val="F4F7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81C"/>
                          </a:solidFill>
                          <a:latin typeface="Rockwell"/>
                        </a:rPr>
                        <a:t>Insurer’s own app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8"/>
                          </a:solidFill>
                          <a:latin typeface="Arial"/>
                        </a:rPr>
                        <a:t>After the claim is filed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8"/>
                          </a:solidFill>
                          <a:latin typeface="Arial"/>
                        </a:rPr>
                        <a:t>Claim status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8"/>
                          </a:solidFill>
                          <a:latin typeface="Arial"/>
                        </a:rPr>
                        <a:t>The insurer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81C"/>
                          </a:solidFill>
                          <a:latin typeface="Rockwell"/>
                        </a:rPr>
                        <a:t>General AI chatbots</a:t>
                      </a:r>
                    </a:p>
                  </a:txBody>
                  <a:tcPr marL="164592" marR="16459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8"/>
                          </a:solidFill>
                          <a:latin typeface="Arial"/>
                        </a:rPr>
                        <a:t>Any time</a:t>
                      </a:r>
                    </a:p>
                  </a:txBody>
                  <a:tcPr marL="164592" marR="16459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8"/>
                          </a:solidFill>
                          <a:latin typeface="Arial"/>
                        </a:rPr>
                        <a:t>Explanations, but may guess numbers</a:t>
                      </a:r>
                    </a:p>
                  </a:txBody>
                  <a:tcPr marL="164592" marR="16459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3138"/>
                          </a:solidFill>
                          <a:latin typeface="Arial"/>
                        </a:rPr>
                        <a:t>No one in particular</a:t>
                      </a:r>
                    </a:p>
                  </a:txBody>
                  <a:tcPr marL="164592" marR="164592" anchor="ctr">
                    <a:solidFill>
                      <a:srgbClr val="F4F7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Rockwell"/>
                        </a:rPr>
                        <a:t>ClaimCast</a:t>
                      </a:r>
                    </a:p>
                  </a:txBody>
                  <a:tcPr marL="164592" marR="164592" anchor="ctr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Before admission, at each choice</a:t>
                      </a:r>
                    </a:p>
                  </a:txBody>
                  <a:tcPr marL="164592" marR="164592" anchor="ctr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Exact rupees + the rule behind them</a:t>
                      </a:r>
                    </a:p>
                  </a:txBody>
                  <a:tcPr marL="164592" marR="164592" anchor="ctr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The family</a:t>
                      </a:r>
                    </a:p>
                  </a:txBody>
                  <a:tcPr marL="164592" marR="164592" anchor="ctr">
                    <a:solidFill>
                      <a:srgbClr val="005EB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EB8"/>
                </a:solidFill>
                <a:latin typeface="Arial"/>
              </a:rPr>
              <a:t>Only ClaimCast speaks before the decision, puts a price on each choice, and works for the family.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872"/>
                </a:solidFill>
                <a:latin typeface="Arial"/>
              </a:rPr>
              <a:t>ClaimCast  ·  Team Rocket, IIIT-Delhi  ·  Precision Care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C"/>
                </a:solidFill>
                <a:latin typeface="Rockwell"/>
              </a:rPr>
              <a:t>What comes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520440" cy="41605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389888"/>
            <a:ext cx="475488" cy="475488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3716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C"/>
                </a:solidFill>
                <a:latin typeface="Rockwell"/>
              </a:rPr>
              <a:t>Next 3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7190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EB8"/>
                </a:solidFill>
                <a:latin typeface="Arial"/>
              </a:rPr>
              <a:t>Prove it helps families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40280"/>
            <a:ext cx="301752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005EB8"/>
                </a:solidFill>
                <a:latin typeface="Arial"/>
              </a:rPr>
              <a:t>•  </a:t>
            </a:r>
            <a:r>
              <a:rPr sz="1200">
                <a:solidFill>
                  <a:srgbClr val="2B3138"/>
                </a:solidFill>
                <a:latin typeface="Arial"/>
              </a:rPr>
              <a:t>Study with 20 real families at an admission desk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005EB8"/>
                </a:solidFill>
                <a:latin typeface="Arial"/>
              </a:rPr>
              <a:t>•  </a:t>
            </a:r>
            <a:r>
              <a:rPr sz="1200">
                <a:solidFill>
                  <a:srgbClr val="2B3138"/>
                </a:solidFill>
                <a:latin typeface="Arial"/>
              </a:rPr>
              <a:t>More Indian languages after Hindi: Tamil, Bengali, Marathi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005EB8"/>
                </a:solidFill>
                <a:latin typeface="Arial"/>
              </a:rPr>
              <a:t>•  </a:t>
            </a:r>
            <a:r>
              <a:rPr sz="1200">
                <a:solidFill>
                  <a:srgbClr val="2B3138"/>
                </a:solidFill>
                <a:latin typeface="Arial"/>
              </a:rPr>
              <a:t>Ask by voice, and on WhatsApp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005EB8"/>
                </a:solidFill>
                <a:latin typeface="Arial"/>
              </a:rPr>
              <a:t>•  </a:t>
            </a:r>
            <a:r>
              <a:rPr sz="1200">
                <a:solidFill>
                  <a:srgbClr val="2B3138"/>
                </a:solidFill>
                <a:latin typeface="Arial"/>
              </a:rPr>
              <a:t>Collect the first 50 real bills so the estimator starts learning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005EB8"/>
                </a:solidFill>
                <a:latin typeface="Arial"/>
              </a:rPr>
              <a:t>•  </a:t>
            </a:r>
            <a:r>
              <a:rPr sz="1200">
                <a:solidFill>
                  <a:srgbClr val="2B3138"/>
                </a:solidFill>
                <a:latin typeface="Arial"/>
              </a:rPr>
              <a:t>Proper logins for the team side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4828032"/>
            <a:ext cx="2971800" cy="384048"/>
          </a:xfrm>
          <a:prstGeom prst="roundRect">
            <a:avLst>
              <a:gd name="adj" fmla="val 30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82803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EB8"/>
                </a:solidFill>
                <a:latin typeface="Arial"/>
              </a:rPr>
              <a:t>Target: usability score 70+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188720"/>
            <a:ext cx="3520440" cy="41605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1389888"/>
            <a:ext cx="475488" cy="475488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13716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C"/>
                </a:solidFill>
                <a:latin typeface="Rockwell"/>
              </a:rPr>
              <a:t>Next 6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17190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EB8"/>
                </a:solidFill>
                <a:latin typeface="Arial"/>
              </a:rPr>
              <a:t>Real prices, real bills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240280"/>
            <a:ext cx="301752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005EB8"/>
                </a:solidFill>
                <a:latin typeface="Arial"/>
              </a:rPr>
              <a:t>•  </a:t>
            </a:r>
            <a:r>
              <a:rPr sz="1200">
                <a:solidFill>
                  <a:srgbClr val="2B3138"/>
                </a:solidFill>
                <a:latin typeface="Arial"/>
              </a:rPr>
              <a:t>Partner hospitals share their price lists and final bills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005EB8"/>
                </a:solidFill>
                <a:latin typeface="Arial"/>
              </a:rPr>
              <a:t>•  </a:t>
            </a:r>
            <a:r>
              <a:rPr sz="1200">
                <a:solidFill>
                  <a:srgbClr val="2B3138"/>
                </a:solidFill>
                <a:latin typeface="Arial"/>
              </a:rPr>
              <a:t>Read the policy formats of India’s 20 largest insurers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005EB8"/>
                </a:solidFill>
                <a:latin typeface="Arial"/>
              </a:rPr>
              <a:t>•  </a:t>
            </a:r>
            <a:r>
              <a:rPr sz="1200">
                <a:solidFill>
                  <a:srgbClr val="2B3138"/>
                </a:solidFill>
                <a:latin typeface="Arial"/>
              </a:rPr>
              <a:t>Connect to insurers’ cashless approval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005EB8"/>
                </a:solidFill>
                <a:latin typeface="Arial"/>
              </a:rPr>
              <a:t>•  </a:t>
            </a:r>
            <a:r>
              <a:rPr sz="1200">
                <a:solidFill>
                  <a:srgbClr val="2B3138"/>
                </a:solidFill>
                <a:latin typeface="Arial"/>
              </a:rPr>
              <a:t>Price every one of the 1,949 government treatment packages on the path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828032"/>
            <a:ext cx="2971800" cy="384048"/>
          </a:xfrm>
          <a:prstGeom prst="roundRect">
            <a:avLst>
              <a:gd name="adj" fmla="val 30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82803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EB8"/>
                </a:solidFill>
                <a:latin typeface="Arial"/>
              </a:rPr>
              <a:t>Target: estimate within 15% of the real bill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188720"/>
            <a:ext cx="3520440" cy="41605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0" y="1389888"/>
            <a:ext cx="475488" cy="475488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3716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1C"/>
                </a:solidFill>
                <a:latin typeface="Rockwell"/>
              </a:rPr>
              <a:t>Next 12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17190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EB8"/>
                </a:solidFill>
                <a:latin typeface="Arial"/>
              </a:rPr>
              <a:t>Ready for real patients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40280"/>
            <a:ext cx="301752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005EB8"/>
                </a:solidFill>
                <a:latin typeface="Arial"/>
              </a:rPr>
              <a:t>•  </a:t>
            </a:r>
            <a:r>
              <a:rPr sz="1200">
                <a:solidFill>
                  <a:srgbClr val="2B3138"/>
                </a:solidFill>
                <a:latin typeface="Arial"/>
              </a:rPr>
              <a:t>Pilot at a hospital admission desk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005EB8"/>
                </a:solidFill>
                <a:latin typeface="Arial"/>
              </a:rPr>
              <a:t>•  </a:t>
            </a:r>
            <a:r>
              <a:rPr sz="1200">
                <a:solidFill>
                  <a:srgbClr val="2B3138"/>
                </a:solidFill>
                <a:latin typeface="Arial"/>
              </a:rPr>
              <a:t>Mobile app for families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005EB8"/>
                </a:solidFill>
                <a:latin typeface="Arial"/>
              </a:rPr>
              <a:t>•  </a:t>
            </a:r>
            <a:r>
              <a:rPr sz="1200">
                <a:solidFill>
                  <a:srgbClr val="2B3138"/>
                </a:solidFill>
                <a:latin typeface="Arial"/>
              </a:rPr>
              <a:t>Privacy and consent under India’s DPDP Act, 2023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005EB8"/>
                </a:solidFill>
                <a:latin typeface="Arial"/>
              </a:rPr>
              <a:t>•  </a:t>
            </a:r>
            <a:r>
              <a:rPr sz="1200">
                <a:solidFill>
                  <a:srgbClr val="2B3138"/>
                </a:solidFill>
                <a:latin typeface="Arial"/>
              </a:rPr>
              <a:t>Link to Ayushman Bharat Digital Mission health records, with consent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4828032"/>
            <a:ext cx="2971800" cy="384048"/>
          </a:xfrm>
          <a:prstGeom prst="roundRect">
            <a:avLst>
              <a:gd name="adj" fmla="val 30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82803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EB8"/>
                </a:solidFill>
                <a:latin typeface="Arial"/>
              </a:rPr>
              <a:t>Target: 1 lakh families a month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32120"/>
            <a:ext cx="11091672" cy="658368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532120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5EB8"/>
                </a:solidFill>
                <a:latin typeface="Arial"/>
              </a:rPr>
              <a:t>Already in place: </a:t>
            </a:r>
            <a:r>
              <a:rPr sz="1250" b="0" i="0">
                <a:solidFill>
                  <a:srgbClr val="14181C"/>
                </a:solidFill>
                <a:latin typeface="Arial"/>
              </a:rPr>
              <a:t>1,949 government treatment prices loaded · the estimator retrains itself · the chat assistant remembers saved sessions · English and Hindi · light and dark themes.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430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FFFFFF"/>
                </a:solidFill>
                <a:latin typeface="Rockwell"/>
              </a:rPr>
              <a:t>ClaimCast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430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C4DCEF"/>
                </a:solidFill>
                <a:latin typeface="Rockwell"/>
              </a:rPr>
              <a:t>The decision, before the bill.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543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Thank you  ·  Questions 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43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4DCEF"/>
                </a:solidFill>
                <a:latin typeface="Arial"/>
              </a:rPr>
              <a:t>Estimates, not guarantees  ·  money only, no medical advice  ·  demo uses made-up patients and hospitals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169</Words>
  <Application>Microsoft Office PowerPoint</Application>
  <PresentationFormat>Widescreen</PresentationFormat>
  <Paragraphs>26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GE Inspira Sans</vt:lpstr>
      <vt:lpstr>Times New Roman</vt:lpstr>
      <vt:lpstr>Office Theme</vt:lpstr>
      <vt:lpstr>Precision Care Challenge 2026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Precision Care Challenge 2023</dc:title>
  <dc:creator>Sailesh, Surekha (GE HealthCare)</dc:creator>
  <cp:lastModifiedBy>Shetty, Sheeja</cp:lastModifiedBy>
  <cp:revision>3</cp:revision>
  <dcterms:created xsi:type="dcterms:W3CDTF">2023-07-11T13:48:39Z</dcterms:created>
  <dcterms:modified xsi:type="dcterms:W3CDTF">2026-08-03T06:50:47Z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3c574c9-73b0-47a5-a0cf-661fbc02804c_Enabled">
    <vt:lpwstr>true</vt:lpwstr>
  </property>
  <property fmtid="{D5CDD505-2E9C-101B-9397-08002B2CF9AE}" pid="3" name="MSIP_Label_e3c574c9-73b0-47a5-a0cf-661fbc02804c_SetDate">
    <vt:lpwstr>2026-08-03T06:50:02Z</vt:lpwstr>
  </property>
  <property fmtid="{D5CDD505-2E9C-101B-9397-08002B2CF9AE}" pid="4" name="MSIP_Label_e3c574c9-73b0-47a5-a0cf-661fbc02804c_Method">
    <vt:lpwstr>Privileged</vt:lpwstr>
  </property>
  <property fmtid="{D5CDD505-2E9C-101B-9397-08002B2CF9AE}" pid="5" name="MSIP_Label_e3c574c9-73b0-47a5-a0cf-661fbc02804c_Name">
    <vt:lpwstr>Public</vt:lpwstr>
  </property>
  <property fmtid="{D5CDD505-2E9C-101B-9397-08002B2CF9AE}" pid="6" name="MSIP_Label_e3c574c9-73b0-47a5-a0cf-661fbc02804c_SiteId">
    <vt:lpwstr>9a309606-d6ec-4188-a28a-298812b4bbbf</vt:lpwstr>
  </property>
  <property fmtid="{D5CDD505-2E9C-101B-9397-08002B2CF9AE}" pid="7" name="MSIP_Label_e3c574c9-73b0-47a5-a0cf-661fbc02804c_ActionId">
    <vt:lpwstr>c058a829-f1f8-4104-8ea0-5c992c4f1f6b</vt:lpwstr>
  </property>
  <property fmtid="{D5CDD505-2E9C-101B-9397-08002B2CF9AE}" pid="8" name="MSIP_Label_e3c574c9-73b0-47a5-a0cf-661fbc02804c_ContentBits">
    <vt:lpwstr>2</vt:lpwstr>
  </property>
  <property fmtid="{D5CDD505-2E9C-101B-9397-08002B2CF9AE}" pid="9" name="MSIP_Label_e3c574c9-73b0-47a5-a0cf-661fbc02804c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-Public-</vt:lpwstr>
  </property>
</Properties>
</file>