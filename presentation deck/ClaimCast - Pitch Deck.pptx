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257" r:id="rId6"/>
    <p:sldId id="258" r:id="rId5"/>
    <p:sldId id="259" r:id="rId4"/>
    <p:sldId id="260" r:id="rId3"/>
    <p:sldId id="261" r:id="rId12"/>
    <p:sldId id="262" r:id="rId13"/>
    <p:sldId id="263" r:id="rId14"/>
    <p:sldId id="264" r:id="rId15"/>
    <p:sldId id="265" r:id="rId16"/>
    <p:sldId id="266" r:id="rId17"/>
    <p:sldId id="267" r:id="rId18"/>
    <p:sldId id="268" r:id="rId19"/>
    <p:sldId id="26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3" d="100"/>
          <a:sy n="63" d="100"/>
        </p:scale>
        <p:origin x="804"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Middle estimate</c:v>
                </c:pt>
              </c:strCache>
            </c:strRef>
          </c:tx>
          <c:spPr>
            <a:solidFill>
              <a:srgbClr val="005EB8"/>
            </a:solidFill>
          </c:spPr>
          <c:dPt>
            <c:idx val="0"/>
            <c:spPr>
              <a:solidFill>
                <a:srgbClr val="C4DCEF"/>
              </a:solidFill>
            </c:spPr>
          </c:dPt>
          <c:cat>
            <c:strRef>
              <c:f>Sheet1!$A$2:$A$4</c:f>
              <c:strCache>
                <c:ptCount val="3"/>
                <c:pt idx="0">
                  <c:v>Before</c:v>
                </c:pt>
                <c:pt idx="1">
                  <c:v>After 5 bills
(no retrain yet)</c:v>
                </c:pt>
                <c:pt idx="2">
                  <c:v>After 10 bills
(retrained itself)</c:v>
                </c:pt>
              </c:strCache>
            </c:strRef>
          </c:cat>
          <c:val>
            <c:numRef>
              <c:f>Sheet1!$B$2:$B$4</c:f>
              <c:numCache>
                <c:formatCode>General</c:formatCode>
                <c:ptCount val="3"/>
                <c:pt idx="0">
                  <c:v>83881</c:v>
                </c:pt>
                <c:pt idx="1">
                  <c:v>92336</c:v>
                </c:pt>
                <c:pt idx="2">
                  <c:v>92731</c:v>
                </c:pt>
              </c:numCache>
            </c:numRef>
          </c:val>
        </c:ser>
        <c:dLbls>
          <c:numFmt formatCode="&quot;₹&quot;#,##0" sourceLinked="0"/>
          <c:txPr>
            <a:bodyPr/>
            <a:lstStyle/>
            <a:p>
              <a:pPr>
                <a:defRPr sz="1200" b="1">
                  <a:solidFill>
                    <a:srgbClr val="14181C"/>
                  </a:solidFill>
                  <a:latin typeface="Aria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9DEE4"/>
            </a:solidFill>
          </a:ln>
        </c:spPr>
        <c:txPr>
          <a:bodyPr/>
          <a:lstStyle/>
          <a:p>
            <a:pPr>
              <a:defRPr sz="1000">
                <a:latin typeface="Arial"/>
              </a:defRPr>
            </a:pPr>
          </a:p>
        </c:txPr>
        <c:crossAx val="-2113994440"/>
        <c:crosses val="autoZero"/>
        <c:auto val="1"/>
        <c:lblAlgn val="ctr"/>
        <c:lblOffset val="100"/>
        <c:noMultiLvlLbl val="0"/>
      </c:catAx>
      <c:valAx>
        <c:axId val="-2113994440"/>
        <c:scaling>
          <c:max val="11000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Cities</c:v>
                </c:pt>
              </c:strCache>
            </c:strRef>
          </c:tx>
          <c:spPr>
            <a:solidFill>
              <a:srgbClr val="005EB8"/>
            </a:solidFill>
          </c:spPr>
          <c:cat>
            <c:strRef>
              <c:f>Sheet1!$A$2:$A$6</c:f>
              <c:strCache>
                <c:ptCount val="5"/>
                <c:pt idx="0">
                  <c:v>Poorest 20%</c:v>
                </c:pt>
                <c:pt idx="1">
                  <c:v>Next 20%</c:v>
                </c:pt>
                <c:pt idx="2">
                  <c:v>Middle 20%</c:v>
                </c:pt>
                <c:pt idx="3">
                  <c:v>Next 20%</c:v>
                </c:pt>
                <c:pt idx="4">
                  <c:v>Richest 20%</c:v>
                </c:pt>
              </c:strCache>
            </c:strRef>
          </c:cat>
          <c:val>
            <c:numRef>
              <c:f>Sheet1!$B$2:$B$6</c:f>
              <c:numCache>
                <c:formatCode>General</c:formatCode>
                <c:ptCount val="5"/>
                <c:pt idx="0">
                  <c:v>38456</c:v>
                </c:pt>
                <c:pt idx="1">
                  <c:v>46640</c:v>
                </c:pt>
                <c:pt idx="2">
                  <c:v>56908</c:v>
                </c:pt>
                <c:pt idx="3">
                  <c:v>56302</c:v>
                </c:pt>
                <c:pt idx="4">
                  <c:v>80927</c:v>
                </c:pt>
              </c:numCache>
            </c:numRef>
          </c:val>
        </c:ser>
        <c:ser>
          <c:idx val="1"/>
          <c:order val="1"/>
          <c:tx>
            <c:strRef>
              <c:f>Sheet1!$C$1</c:f>
              <c:strCache>
                <c:ptCount val="1"/>
                <c:pt idx="0">
                  <c:v>Villages</c:v>
                </c:pt>
              </c:strCache>
            </c:strRef>
          </c:tx>
          <c:spPr>
            <a:solidFill>
              <a:srgbClr val="C4DCEF"/>
            </a:solidFill>
          </c:spPr>
          <c:cat>
            <c:strRef>
              <c:f>Sheet1!$A$2:$A$6</c:f>
              <c:strCache>
                <c:ptCount val="5"/>
                <c:pt idx="0">
                  <c:v>Poorest 20%</c:v>
                </c:pt>
                <c:pt idx="1">
                  <c:v>Next 20%</c:v>
                </c:pt>
                <c:pt idx="2">
                  <c:v>Middle 20%</c:v>
                </c:pt>
                <c:pt idx="3">
                  <c:v>Next 20%</c:v>
                </c:pt>
                <c:pt idx="4">
                  <c:v>Richest 20%</c:v>
                </c:pt>
              </c:strCache>
            </c:strRef>
          </c:cat>
          <c:val>
            <c:numRef>
              <c:f>Sheet1!$C$2:$C$6</c:f>
              <c:numCache>
                <c:formatCode>General</c:formatCode>
                <c:ptCount val="5"/>
                <c:pt idx="0">
                  <c:v>34715</c:v>
                </c:pt>
                <c:pt idx="1">
                  <c:v>42071</c:v>
                </c:pt>
                <c:pt idx="2">
                  <c:v>38841</c:v>
                </c:pt>
                <c:pt idx="3">
                  <c:v>37958</c:v>
                </c:pt>
                <c:pt idx="4">
                  <c:v>48136</c:v>
                </c:pt>
              </c:numCache>
            </c:numRef>
          </c:val>
        </c:ser>
        <c:dLbls>
          <c:numFmt formatCode="&quot;₹&quot;#,##0" sourceLinked="0"/>
          <c:txPr>
            <a:bodyPr/>
            <a:lstStyle/>
            <a:p>
              <a:pPr>
                <a:defRPr sz="1100" b="1">
                  <a:solidFill>
                    <a:srgbClr val="14181C"/>
                  </a:solidFill>
                  <a:latin typeface="Arial"/>
                </a:defRPr>
              </a:pPr>
            </a:p>
          </c:txPr>
          <c:dLblPos val="outEnd"/>
          <c:showLegendKey val="0"/>
          <c:showVal val="1"/>
          <c:showCatName val="0"/>
          <c:showSerName val="0"/>
          <c:showPercent val="0"/>
          <c:showBubbleSize val="0"/>
          <c:showLeaderLines val="1"/>
        </c:dLbls>
        <c:gapWidth val="45"/>
        <c:overlap val="-8"/>
        <c:axId val="-2068027336"/>
        <c:axId val="-2113994440"/>
      </c:barChart>
      <c:catAx>
        <c:axId val="-2068027336"/>
        <c:scaling>
          <c:orientation val="maxMin"/>
        </c:scaling>
        <c:delete val="0"/>
        <c:axPos val="l"/>
        <c:majorTickMark val="out"/>
        <c:minorTickMark val="none"/>
        <c:tickLblPos val="nextTo"/>
        <c:spPr>
          <a:ln>
            <a:solidFill>
              <a:srgbClr val="D9DEE4"/>
            </a:solidFill>
          </a:ln>
        </c:spPr>
        <c:txPr>
          <a:bodyPr/>
          <a:lstStyle/>
          <a:p>
            <a:pPr>
              <a:defRPr sz="1100">
                <a:latin typeface="Arial"/>
              </a:defRPr>
            </a:pPr>
          </a:p>
        </c:txPr>
        <c:crossAx val="-2113994440"/>
        <c:crosses val="autoZero"/>
        <c:auto val="1"/>
        <c:lblAlgn val="ctr"/>
        <c:lblOffset val="100"/>
        <c:noMultiLvlLbl val="0"/>
      </c:catAx>
      <c:valAx>
        <c:axId val="-2113994440"/>
        <c:scaling>
          <c:max val="100000.0"/>
          <c:min val="0.0"/>
        </c:scaling>
        <c:delete/>
        <c:axPos val="b"/>
        <c:majorTickMark val="out"/>
        <c:minorTickMark val="none"/>
        <c:tickLblPos val="nextTo"/>
        <c:crossAx val="-2068027336"/>
        <c:crosses val="autoZero"/>
      </c:valAx>
    </c:plotArea>
    <c:legend>
      <c:legendPos val="t"/>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1871C0-8BEE-4F2C-9BA2-9663CC719E28}" type="datetimeFigureOut">
              <a:rPr lang="en-IN" smtClean="0"/>
              <a:t>03-08-2026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32771B-BEB5-4FB3-B61F-E76DEDD3338E}" type="slidenum">
              <a:rPr lang="en-IN" smtClean="0"/>
              <a:t>‹#›</a:t>
            </a:fld>
            <a:endParaRPr lang="en-IN"/>
          </a:p>
        </p:txBody>
      </p:sp>
    </p:spTree>
    <p:extLst>
      <p:ext uri="{BB962C8B-B14F-4D97-AF65-F5344CB8AC3E}">
        <p14:creationId xmlns:p14="http://schemas.microsoft.com/office/powerpoint/2010/main" val="34874791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ClaimCast tells a family, before a hospital admission, how much of the bill their health insurance will not pay, why, and which choices would change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50% is the worst case of proportionate deduction under IRDAI circular IRDAI/HLT/REG/CIR/151/06/2020; how much applies depends on the policy wording. The cancer figures are from Prinja et al., Frontiers in Public Health 2023. Treatment attrition: CROCODILE study, Lancet Regional Health SE Asia 2022.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example is the prototype's reference admission (synthetic data). The ₹78,400 comes from the engine: ₹1,26,900 minus ₹48,500. The chat assistant only repeats figures the engine calculated.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row: the family's screens in order. Start is a five-step wizard: About you (with family members), Your insurance (pick a plan or upload the policy PDF, which is read and confirmed field by field), Government schemes (Ayushman Bharat card, CGHS, ESI), Your health (illness date checked against the policy start, and the optional health report), Review. Bottom row: the team's side, the admin Database with saved sessions and the reference data, and the learning page. Both sides share one engine and one database.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IDs are real ones from a test save. The server assigns UUIDs; a session keeps them across saves; an ID sent from another session or twice in one list is replaced (automated test). Health report: the report is read in memory and not stored; only what the family confirms is saved with the session. Scan prices are estimates (about twice the CGHS rate, adjusted per hospital) and are shown as 'about'. The example is synthetic data: ₹9,300 is the policy's share-out for the family at Navjeevan with scans repaid as pre-hospitalisation cost.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Policy reader: the provider is chosen by which key is configured; production uses Gemini 2.5 Pro on Vertex, with Groq and OpenRouter as fallbacks. Retrieval is TF-IDF over overlapping 700-character chunks, with no embeddings and no vector store. Chat: Llama 3.3 70B on OpenRouter, temperature 0, JSON output, one retry on bad JSON. Health reports: the same text model; photos and scanned PDFs are transcribed by Gemini 2.5 Flash first. Voice uses the Web Speech API (en-IN / hi-IN).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Loop 1 was tested live on the prototype: forecast midpoint for ankle ORIF, private room, Tier I, 3 nights: ₹83,881 before; ₹92,336 after five settled bills (the live correction from settledBills, no retrain); the API then triggered POST /retrain on the ML service when ten new bills had arrived, producing artifact 2026-09-29.2 (₹92,731 midpoint). One older bill already in the database made the tenth; the service dropped one unusable row and trained on nine. The test bills were deleted afterwards. Loop 2: shakyFields needs at least three observations before warning; promptHints only uses consented corrections. Loop 3: recall() picks the three most similar remembered answers; answers with unsupported figures are excluded. Checks: learning.check, sessions.check, chat.check.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status: the three columns are what we checked and changed in our own design review. No study with real families has been run yet; the blue box is the plan. Replace it with results once sessions are done.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design personas, not study participants. Each maps to a live feature: A, the chat dock with memory; B, the language toggle plus voice input (hi-IN) and read-aloud; C, clause citations, checked quotes and flagged unsupported figures; D, speech output, aria-live answers and spoken input; E, the family branch with UUIDs, the 'sum insured used' control for floater plans, and scheme checks by the patient's 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NSS 75th round Key Indicators, private-hospital expenditure per hospitalisation by household consumption quintile, multiplied by the CPI health factor used across the project. The ₹2,39,762 suite figure is the prototype's example admission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Competitor descriptions are deliberately general: what each kind of service is for, not claims about their internals. Policy websites means comparison and advice sites such as Policybazaar or Ditto.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Inference cost only; hosting, storage and staff are not included. Chat: about $0.0005 a question. Health report: $0.00041 per PDF or typed read and $0.00086 per photo, measured from the OpenRouter usage counter over three reads each. Bill estimate: 0.9-2.7 ms per answer, priced at 2 ms of Cloud Run CPU. $1 = ₹88. Retraining the estimator takes seconds on a laptop CPU. The ₹78,400 is the prototype's example case.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dates and targets are goals, not commitments. DPDP Act: Digital Personal Data Protection Act, 2023. ABDM: Ayushman Bharat Digital Mission, the national digital health records programme. The estimator's training pool is 17,715 tariff rows built from the 1,949 PM-JAY HBP 2022 packages and CGHS rates.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FA272-1B98-7756-B21D-54AAC768F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F23D5F1B-4535-A2CC-2E76-4C3E08AB7F5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6" name="Slide Number Placeholder 5">
            <a:extLst>
              <a:ext uri="{FF2B5EF4-FFF2-40B4-BE49-F238E27FC236}">
                <a16:creationId xmlns:a16="http://schemas.microsoft.com/office/drawing/2014/main" id="{0D44CE0A-13B3-E099-E264-C749A7B6214A}"/>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14186778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D1EDA-F949-7762-7345-3EC6336A091E}"/>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2C7A73D-C754-E2B5-B616-EE1480432E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a:extLst>
              <a:ext uri="{FF2B5EF4-FFF2-40B4-BE49-F238E27FC236}">
                <a16:creationId xmlns:a16="http://schemas.microsoft.com/office/drawing/2014/main" id="{0F62A365-36F6-273A-E85F-BE3BCFAAB068}"/>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42017536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3CC3A-3FE1-0608-AF69-62F314B8EA8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E87BFE7-64BF-F955-094B-CA2D54AD659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6" name="Slide Number Placeholder 5">
            <a:extLst>
              <a:ext uri="{FF2B5EF4-FFF2-40B4-BE49-F238E27FC236}">
                <a16:creationId xmlns:a16="http://schemas.microsoft.com/office/drawing/2014/main" id="{C0053996-BA9A-1D0B-135F-621431AB8669}"/>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3181465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E690F-9551-239D-5BE0-BB7D7E641A9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D4190743-FEC6-B634-E47C-2987E9236AC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317011FE-B5BC-2B1A-0E68-A1AA890310A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Slide Number Placeholder 6">
            <a:extLst>
              <a:ext uri="{FF2B5EF4-FFF2-40B4-BE49-F238E27FC236}">
                <a16:creationId xmlns:a16="http://schemas.microsoft.com/office/drawing/2014/main" id="{44D95E66-F455-7267-A757-23F63A213EAB}"/>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38996164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BB620-4238-7450-B7BC-8A6EA49FAE1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B087683-D4EF-2932-696B-91C2637313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913E9DB-B890-C5C4-54FD-A2AB329D652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44FCF46-E11B-100C-6B4F-FB77397BBE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00BEB23-E520-032B-ECF0-C43E6673BCD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9" name="Slide Number Placeholder 8">
            <a:extLst>
              <a:ext uri="{FF2B5EF4-FFF2-40B4-BE49-F238E27FC236}">
                <a16:creationId xmlns:a16="http://schemas.microsoft.com/office/drawing/2014/main" id="{47D0DAEA-7228-8F58-41E8-8B79C6E6EC14}"/>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15909970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BD3E66-949C-AC89-6293-B7A652B9A5BD}"/>
              </a:ext>
            </a:extLst>
          </p:cNvPr>
          <p:cNvSpPr>
            <a:spLocks noGrp="1"/>
          </p:cNvSpPr>
          <p:nvPr>
            <p:ph type="title"/>
          </p:nvPr>
        </p:nvSpPr>
        <p:spPr/>
        <p:txBody>
          <a:bodyPr/>
          <a:lstStyle/>
          <a:p>
            <a:r>
              <a:rPr lang="en-US"/>
              <a:t>Click to edit Master title style</a:t>
            </a:r>
            <a:endParaRPr lang="en-IN"/>
          </a:p>
        </p:txBody>
      </p:sp>
      <p:sp>
        <p:nvSpPr>
          <p:cNvPr id="5" name="Slide Number Placeholder 4">
            <a:extLst>
              <a:ext uri="{FF2B5EF4-FFF2-40B4-BE49-F238E27FC236}">
                <a16:creationId xmlns:a16="http://schemas.microsoft.com/office/drawing/2014/main" id="{62072F4F-E0A7-505D-B933-0946FE12C6BF}"/>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33697467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D5C9473-7CFF-9FF1-EBDE-A4075A963F2D}"/>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9852531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98FF25-1B80-BD56-5515-20E9EE0886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FE9EFCBF-D5F2-3396-AB47-A27716D1DA8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ABA207F9-5A0E-F62C-4DA1-4DCB33A1FF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Slide Number Placeholder 6">
            <a:extLst>
              <a:ext uri="{FF2B5EF4-FFF2-40B4-BE49-F238E27FC236}">
                <a16:creationId xmlns:a16="http://schemas.microsoft.com/office/drawing/2014/main" id="{51EBD095-FCD1-90DA-7B92-6409F2C0109D}"/>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23167410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B142A-5BB7-2BA1-A4F3-94EB9E8BE5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9638CC8-3D10-819F-0FB9-BEF0A10363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7B39A2A6-26B8-2245-BD02-03BC123ED8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Slide Number Placeholder 6">
            <a:extLst>
              <a:ext uri="{FF2B5EF4-FFF2-40B4-BE49-F238E27FC236}">
                <a16:creationId xmlns:a16="http://schemas.microsoft.com/office/drawing/2014/main" id="{77A4A55A-9700-199B-4EAC-4DA03BE56C59}"/>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40617851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9DEF5-A1E3-0C1C-2C6E-142BA128454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5F65151-E340-3CEB-4AFA-7C5714CDEFF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a:extLst>
              <a:ext uri="{FF2B5EF4-FFF2-40B4-BE49-F238E27FC236}">
                <a16:creationId xmlns:a16="http://schemas.microsoft.com/office/drawing/2014/main" id="{60A38010-95BD-A089-B2CF-B4AF734AB9AC}"/>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42292837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94232CA-53A0-450B-6F51-AB548EF167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1016648-C986-9603-5B32-52BCDD9F91C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a:extLst>
              <a:ext uri="{FF2B5EF4-FFF2-40B4-BE49-F238E27FC236}">
                <a16:creationId xmlns:a16="http://schemas.microsoft.com/office/drawing/2014/main" id="{AF57CB21-880F-CDC8-E646-6D4260DEEAD1}"/>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415173876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6E16AD6-6273-F245-1B4D-3F28F5ED81E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939F935-570D-F9DE-AA2F-2A8E4ECB018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a:extLst>
              <a:ext uri="{FF2B5EF4-FFF2-40B4-BE49-F238E27FC236}">
                <a16:creationId xmlns:a16="http://schemas.microsoft.com/office/drawing/2014/main" id="{A1B16088-B3A2-F26B-E57E-9062E94210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49190E0-096E-4EF8-9A40-A5C3D29F08D1}" type="slidenum">
              <a:rPr lang="en-IN" smtClean="0"/>
              <a:t>‹#›</a:t>
            </a:fld>
            <a:endParaRPr lang="en-IN"/>
          </a:p>
        </p:txBody>
      </p:sp>
    </p:spTree>
    <p:extLst>
      <p:ext uri="{BB962C8B-B14F-4D97-AF65-F5344CB8AC3E}">
        <p14:creationId xmlns:p14="http://schemas.microsoft.com/office/powerpoint/2010/main" val="37304591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2191695" cy="3749039"/>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a:extLst>
              <a:ext uri="{FF2B5EF4-FFF2-40B4-BE49-F238E27FC236}">
                <a16:creationId xmlns:a16="http://schemas.microsoft.com/office/drawing/2014/main" id="{D503A76E-8DAD-6730-42AF-16D46B969C21}"/>
              </a:ext>
            </a:extLst>
          </p:cNvPr>
          <p:cNvSpPr>
            <a:spLocks noGrp="1"/>
          </p:cNvSpPr>
          <p:nvPr>
            <p:ph type="ctrTitle"/>
          </p:nvPr>
        </p:nvSpPr>
        <p:spPr>
          <a:xfrm>
            <a:off x="822960" y="566928"/>
            <a:ext cx="10543032" cy="310896"/>
          </a:xfrm>
        </p:spPr>
        <p:txBody>
          <a:bodyPr/>
          <a:lstStyle/>
          <a:p>
            <a:pPr algn="ctr"/>
            <a:r>
              <a:rPr sz="1100" b="1">
                <a:solidFill>
                  <a:srgbClr val="C4DCEF"/>
                </a:solidFill>
                <a:latin typeface="Arial"/>
              </a:rPr>
              <a:t>PRECISION CARE CHALLENGE 2026   ·   GE HEALTHCARE</a:t>
            </a:r>
            <a:endParaRPr lang="en-IN" dirty="0"/>
          </a:p>
        </p:txBody>
      </p:sp>
      <p:sp>
        <p:nvSpPr>
          <p:cNvPr id="3" name="Subtitle 2">
            <a:extLst>
              <a:ext uri="{FF2B5EF4-FFF2-40B4-BE49-F238E27FC236}">
                <a16:creationId xmlns:a16="http://schemas.microsoft.com/office/drawing/2014/main" id="{AED0015F-B2D4-B19B-0042-89659684D8F4}"/>
              </a:ext>
            </a:extLst>
          </p:cNvPr>
          <p:cNvSpPr>
            <a:spLocks noGrp="1"/>
          </p:cNvSpPr>
          <p:nvPr>
            <p:ph type="subTitle" idx="1"/>
          </p:nvPr>
        </p:nvSpPr>
        <p:spPr>
          <a:xfrm>
            <a:off x="822960" y="1188720"/>
            <a:ext cx="10543032" cy="1188720"/>
          </a:xfrm>
        </p:spPr>
        <p:txBody>
          <a:bodyPr/>
          <a:lstStyle/>
          <a:p>
            <a:pPr algn="ctr"/>
            <a:r>
              <a:rPr sz="7600" b="1">
                <a:solidFill>
                  <a:srgbClr val="FFFFFF"/>
                </a:solidFill>
                <a:latin typeface="Rockwell"/>
              </a:rPr>
              <a:t>ClaimCast</a:t>
            </a:r>
            <a:endParaRPr lang="en-IN" dirty="0"/>
          </a:p>
        </p:txBody>
      </p:sp>
      <p:sp>
        <p:nvSpPr>
          <p:cNvPr id="5" name="TextBox 4"/>
          <p:cNvSpPr txBox="1"/>
          <p:nvPr/>
        </p:nvSpPr>
        <p:spPr>
          <a:xfrm>
            <a:off x="1280160" y="2697480"/>
            <a:ext cx="9628632" cy="822960"/>
          </a:xfrm>
          <a:prstGeom prst="rect">
            <a:avLst/>
          </a:prstGeom>
          <a:noFill/>
        </p:spPr>
        <p:txBody>
          <a:bodyPr wrap="square" lIns="0" rIns="0" tIns="0" bIns="0" anchor="t">
            <a:spAutoFit/>
          </a:bodyPr>
          <a:lstStyle/>
          <a:p>
            <a:pPr algn="ctr">
              <a:lnSpc>
                <a:spcPct val="120000"/>
              </a:lnSpc>
              <a:spcBef>
                <a:spcPts val="0"/>
              </a:spcBef>
              <a:spcAft>
                <a:spcPts val="0"/>
              </a:spcAft>
            </a:pPr>
            <a:r>
              <a:rPr sz="2000" b="0" i="0">
                <a:solidFill>
                  <a:srgbClr val="C4DCEF"/>
                </a:solidFill>
                <a:latin typeface="Arial"/>
              </a:rPr>
              <a:t>Know what your hospital bill will cost you — </a:t>
            </a:r>
            <a:r>
              <a:rPr sz="2000" b="1" i="0">
                <a:solidFill>
                  <a:srgbClr val="FFFFFF"/>
                </a:solidFill>
                <a:latin typeface="Arial"/>
              </a:rPr>
              <a:t>before</a:t>
            </a:r>
            <a:r>
              <a:rPr sz="2000" b="0" i="0">
                <a:solidFill>
                  <a:srgbClr val="C4DCEF"/>
                </a:solidFill>
                <a:latin typeface="Arial"/>
              </a:rPr>
              <a:t> you are admitted, not </a:t>
            </a:r>
            <a:r>
              <a:rPr sz="2000" b="1" i="0">
                <a:solidFill>
                  <a:srgbClr val="FFFFFF"/>
                </a:solidFill>
                <a:latin typeface="Arial"/>
              </a:rPr>
              <a:t>after</a:t>
            </a:r>
            <a:r>
              <a:rPr sz="2000" b="0" i="0">
                <a:solidFill>
                  <a:srgbClr val="C4DCEF"/>
                </a:solidFill>
                <a:latin typeface="Arial"/>
              </a:rPr>
              <a:t> you are discharged.</a:t>
            </a:r>
          </a:p>
        </p:txBody>
      </p:sp>
      <p:sp>
        <p:nvSpPr>
          <p:cNvPr id="6" name="TextBox 5"/>
          <p:cNvSpPr txBox="1"/>
          <p:nvPr/>
        </p:nvSpPr>
        <p:spPr>
          <a:xfrm>
            <a:off x="822960" y="4160520"/>
            <a:ext cx="10543032" cy="310896"/>
          </a:xfrm>
          <a:prstGeom prst="rect">
            <a:avLst/>
          </a:prstGeom>
          <a:noFill/>
        </p:spPr>
        <p:txBody>
          <a:bodyPr wrap="square" lIns="0" rIns="0" tIns="0" bIns="0" anchor="t">
            <a:spAutoFit/>
          </a:bodyPr>
          <a:lstStyle/>
          <a:p>
            <a:pPr algn="ctr">
              <a:spcBef>
                <a:spcPts val="0"/>
              </a:spcBef>
              <a:spcAft>
                <a:spcPts val="0"/>
              </a:spcAft>
            </a:pPr>
            <a:r>
              <a:rPr sz="1100" b="1" i="0">
                <a:solidFill>
                  <a:srgbClr val="C8102E"/>
                </a:solidFill>
                <a:latin typeface="Arial"/>
              </a:rPr>
              <a:t>TRACK: HOSPITALITY</a:t>
            </a:r>
            <a:r>
              <a:rPr sz="1200" b="0" i="0">
                <a:solidFill>
                  <a:srgbClr val="2B3138"/>
                </a:solidFill>
                <a:latin typeface="Arial"/>
              </a:rPr>
              <a:t>   ·   Holistic Optimization System for Policy-Integrated Admission &amp; Treatment Intelligence</a:t>
            </a:r>
          </a:p>
        </p:txBody>
      </p:sp>
      <p:sp>
        <p:nvSpPr>
          <p:cNvPr id="7" name="TextBox 6"/>
          <p:cNvSpPr txBox="1"/>
          <p:nvPr/>
        </p:nvSpPr>
        <p:spPr>
          <a:xfrm>
            <a:off x="822960" y="4983480"/>
            <a:ext cx="10543032" cy="914400"/>
          </a:xfrm>
          <a:prstGeom prst="rect">
            <a:avLst/>
          </a:prstGeom>
          <a:noFill/>
        </p:spPr>
        <p:txBody>
          <a:bodyPr wrap="square" lIns="0" rIns="0" tIns="0" bIns="0" anchor="t">
            <a:spAutoFit/>
          </a:bodyPr>
          <a:lstStyle/>
          <a:p>
            <a:pPr algn="ctr">
              <a:spcBef>
                <a:spcPts val="0"/>
              </a:spcBef>
              <a:spcAft>
                <a:spcPts val="600"/>
              </a:spcAft>
            </a:pPr>
            <a:r>
              <a:rPr sz="2800" b="1" i="0">
                <a:solidFill>
                  <a:srgbClr val="14181C"/>
                </a:solidFill>
                <a:latin typeface="Rockwell"/>
              </a:rPr>
              <a:t>Team Rocket</a:t>
            </a:r>
          </a:p>
          <a:p>
            <a:pPr algn="ctr">
              <a:spcBef>
                <a:spcPts val="0"/>
              </a:spcBef>
              <a:spcAft>
                <a:spcPts val="0"/>
              </a:spcAft>
            </a:pPr>
            <a:r>
              <a:rPr sz="1300" b="0" i="0">
                <a:solidFill>
                  <a:srgbClr val="2B3138"/>
                </a:solidFill>
                <a:latin typeface="Arial"/>
              </a:rPr>
              <a:t>Indraprastha Institute of Information Technology, Delhi (IIIT-Delhi)</a:t>
            </a:r>
          </a:p>
        </p:txBody>
      </p:sp>
    </p:spTree>
    <p:extLst>
      <p:ext uri="{BB962C8B-B14F-4D97-AF65-F5344CB8AC3E}">
        <p14:creationId xmlns:p14="http://schemas.microsoft.com/office/powerpoint/2010/main" val="213019577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2</a:t>
            </a:r>
          </a:p>
        </p:txBody>
      </p:sp>
      <p:sp>
        <p:nvSpPr>
          <p:cNvPr id="4" name="Rectangle 3"/>
          <p:cNvSpPr/>
          <p:nvPr/>
        </p:nvSpPr>
        <p:spPr>
          <a:xfrm>
            <a:off x="0" y="0"/>
            <a:ext cx="4297680" cy="68580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566928"/>
            <a:ext cx="3291840" cy="274320"/>
          </a:xfrm>
          <a:prstGeom prst="rect">
            <a:avLst/>
          </a:prstGeom>
          <a:noFill/>
        </p:spPr>
        <p:txBody>
          <a:bodyPr wrap="square" lIns="0" rIns="0" tIns="0" bIns="0" anchor="t">
            <a:spAutoFit/>
          </a:bodyPr>
          <a:lstStyle/>
          <a:p>
            <a:pPr algn="l">
              <a:spcBef>
                <a:spcPts val="0"/>
              </a:spcBef>
              <a:spcAft>
                <a:spcPts val="0"/>
              </a:spcAft>
            </a:pPr>
            <a:r>
              <a:rPr sz="1100" b="1" i="0">
                <a:solidFill>
                  <a:srgbClr val="C4DCEF"/>
                </a:solidFill>
                <a:latin typeface="Arial"/>
              </a:rPr>
              <a:t>THE PROBLEM</a:t>
            </a:r>
          </a:p>
        </p:txBody>
      </p:sp>
      <p:sp>
        <p:nvSpPr>
          <p:cNvPr id="6" name="TextBox 5"/>
          <p:cNvSpPr txBox="1"/>
          <p:nvPr/>
        </p:nvSpPr>
        <p:spPr>
          <a:xfrm>
            <a:off x="548640" y="960120"/>
            <a:ext cx="3337560" cy="2926080"/>
          </a:xfrm>
          <a:prstGeom prst="rect">
            <a:avLst/>
          </a:prstGeom>
          <a:noFill/>
        </p:spPr>
        <p:txBody>
          <a:bodyPr wrap="square" lIns="0" rIns="0" tIns="0" bIns="0" anchor="t">
            <a:spAutoFit/>
          </a:bodyPr>
          <a:lstStyle/>
          <a:p>
            <a:pPr algn="l">
              <a:lnSpc>
                <a:spcPct val="120000"/>
              </a:lnSpc>
              <a:spcBef>
                <a:spcPts val="0"/>
              </a:spcBef>
              <a:spcAft>
                <a:spcPts val="0"/>
              </a:spcAft>
            </a:pPr>
            <a:r>
              <a:rPr sz="2100" b="1" i="0">
                <a:solidFill>
                  <a:srgbClr val="FFFFFF"/>
                </a:solidFill>
                <a:latin typeface="Rockwell"/>
              </a:rPr>
              <a:t>The costliest health decision a family makes is taken in minutes, at a hospital counter, by someone who has never read their insurance policy.</a:t>
            </a:r>
          </a:p>
        </p:txBody>
      </p:sp>
      <p:sp>
        <p:nvSpPr>
          <p:cNvPr id="7" name="TextBox 6"/>
          <p:cNvSpPr txBox="1"/>
          <p:nvPr/>
        </p:nvSpPr>
        <p:spPr>
          <a:xfrm>
            <a:off x="548640" y="4343400"/>
            <a:ext cx="3337560" cy="1645920"/>
          </a:xfrm>
          <a:prstGeom prst="rect">
            <a:avLst/>
          </a:prstGeom>
          <a:noFill/>
        </p:spPr>
        <p:txBody>
          <a:bodyPr wrap="square" lIns="0" rIns="0" tIns="0" bIns="0" anchor="t">
            <a:spAutoFit/>
          </a:bodyPr>
          <a:lstStyle/>
          <a:p>
            <a:pPr algn="l">
              <a:lnSpc>
                <a:spcPct val="135000"/>
              </a:lnSpc>
              <a:spcBef>
                <a:spcPts val="0"/>
              </a:spcBef>
              <a:spcAft>
                <a:spcPts val="0"/>
              </a:spcAft>
            </a:pPr>
            <a:r>
              <a:rPr sz="1300" b="0" i="0">
                <a:solidFill>
                  <a:srgbClr val="C4DCEF"/>
                </a:solidFill>
                <a:latin typeface="Arial"/>
              </a:rPr>
              <a:t>Insurers work out what they will pay only after discharge. By then the room, the implant and the hospital have already been chosen — and cannot be changed.</a:t>
            </a:r>
          </a:p>
        </p:txBody>
      </p:sp>
      <p:sp>
        <p:nvSpPr>
          <p:cNvPr id="8" name="TextBox 7"/>
          <p:cNvSpPr txBox="1"/>
          <p:nvPr/>
        </p:nvSpPr>
        <p:spPr>
          <a:xfrm>
            <a:off x="4846320" y="566928"/>
            <a:ext cx="6766560" cy="274320"/>
          </a:xfrm>
          <a:prstGeom prst="rect">
            <a:avLst/>
          </a:prstGeom>
          <a:noFill/>
        </p:spPr>
        <p:txBody>
          <a:bodyPr wrap="square" lIns="0" rIns="0" tIns="0" bIns="0" anchor="t">
            <a:spAutoFit/>
          </a:bodyPr>
          <a:lstStyle/>
          <a:p>
            <a:pPr algn="l">
              <a:spcBef>
                <a:spcPts val="0"/>
              </a:spcBef>
              <a:spcAft>
                <a:spcPts val="0"/>
              </a:spcAft>
            </a:pPr>
            <a:r>
              <a:rPr sz="1100" b="1" i="0">
                <a:solidFill>
                  <a:srgbClr val="C8102E"/>
                </a:solidFill>
                <a:latin typeface="Arial"/>
              </a:rPr>
              <a:t>THE ROOM-RENT TRAP</a:t>
            </a:r>
          </a:p>
        </p:txBody>
      </p:sp>
      <p:sp>
        <p:nvSpPr>
          <p:cNvPr id="9" name="TextBox 8"/>
          <p:cNvSpPr txBox="1"/>
          <p:nvPr/>
        </p:nvSpPr>
        <p:spPr>
          <a:xfrm>
            <a:off x="4846320" y="868680"/>
            <a:ext cx="3017520" cy="1234440"/>
          </a:xfrm>
          <a:prstGeom prst="rect">
            <a:avLst/>
          </a:prstGeom>
          <a:noFill/>
        </p:spPr>
        <p:txBody>
          <a:bodyPr wrap="square" lIns="0" rIns="0" tIns="0" bIns="0" anchor="t">
            <a:spAutoFit/>
          </a:bodyPr>
          <a:lstStyle/>
          <a:p>
            <a:pPr algn="l">
              <a:spcBef>
                <a:spcPts val="0"/>
              </a:spcBef>
              <a:spcAft>
                <a:spcPts val="0"/>
              </a:spcAft>
            </a:pPr>
            <a:r>
              <a:rPr sz="9600" b="1" i="0">
                <a:solidFill>
                  <a:srgbClr val="C8102E"/>
                </a:solidFill>
                <a:latin typeface="Rockwell"/>
              </a:rPr>
              <a:t>50%</a:t>
            </a:r>
          </a:p>
        </p:txBody>
      </p:sp>
      <p:sp>
        <p:nvSpPr>
          <p:cNvPr id="10" name="TextBox 9"/>
          <p:cNvSpPr txBox="1"/>
          <p:nvPr/>
        </p:nvSpPr>
        <p:spPr>
          <a:xfrm>
            <a:off x="7818120" y="1188720"/>
            <a:ext cx="3840480" cy="822960"/>
          </a:xfrm>
          <a:prstGeom prst="rect">
            <a:avLst/>
          </a:prstGeom>
          <a:noFill/>
        </p:spPr>
        <p:txBody>
          <a:bodyPr wrap="square" lIns="0" rIns="0" tIns="0" bIns="0" anchor="t">
            <a:spAutoFit/>
          </a:bodyPr>
          <a:lstStyle/>
          <a:p>
            <a:pPr algn="l">
              <a:lnSpc>
                <a:spcPct val="110000"/>
              </a:lnSpc>
              <a:spcBef>
                <a:spcPts val="0"/>
              </a:spcBef>
              <a:spcAft>
                <a:spcPts val="0"/>
              </a:spcAft>
            </a:pPr>
            <a:r>
              <a:rPr sz="2200" b="1" i="0">
                <a:solidFill>
                  <a:srgbClr val="14181C"/>
                </a:solidFill>
                <a:latin typeface="Rockwell"/>
              </a:rPr>
              <a:t>of a bill can be refused</a:t>
            </a:r>
          </a:p>
        </p:txBody>
      </p:sp>
      <p:sp>
        <p:nvSpPr>
          <p:cNvPr id="11" name="TextBox 10"/>
          <p:cNvSpPr txBox="1"/>
          <p:nvPr/>
        </p:nvSpPr>
        <p:spPr>
          <a:xfrm>
            <a:off x="4846320" y="2240280"/>
            <a:ext cx="6766560" cy="914400"/>
          </a:xfrm>
          <a:prstGeom prst="rect">
            <a:avLst/>
          </a:prstGeom>
          <a:noFill/>
        </p:spPr>
        <p:txBody>
          <a:bodyPr wrap="square" lIns="0" rIns="0" tIns="0" bIns="0" anchor="t">
            <a:spAutoFit/>
          </a:bodyPr>
          <a:lstStyle/>
          <a:p>
            <a:pPr algn="l">
              <a:lnSpc>
                <a:spcPct val="135000"/>
              </a:lnSpc>
              <a:spcBef>
                <a:spcPts val="0"/>
              </a:spcBef>
              <a:spcAft>
                <a:spcPts val="0"/>
              </a:spcAft>
            </a:pPr>
            <a:r>
              <a:rPr sz="1400" b="0" i="0">
                <a:solidFill>
                  <a:srgbClr val="2B3138"/>
                </a:solidFill>
                <a:latin typeface="Arial"/>
              </a:rPr>
              <a:t>A policy pays up to ₹5,000 a day for the room. The family takes a ₹10,000 room. Now the surgeon, theatre and nursing charges are also cut by half — not just the room.</a:t>
            </a:r>
          </a:p>
        </p:txBody>
      </p:sp>
      <p:sp>
        <p:nvSpPr>
          <p:cNvPr id="12" name="Rectangle 11"/>
          <p:cNvSpPr/>
          <p:nvPr/>
        </p:nvSpPr>
        <p:spPr>
          <a:xfrm>
            <a:off x="4846320" y="3337560"/>
            <a:ext cx="6766560"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46320" y="3566160"/>
            <a:ext cx="3291840" cy="548640"/>
          </a:xfrm>
          <a:prstGeom prst="rect">
            <a:avLst/>
          </a:prstGeom>
          <a:noFill/>
        </p:spPr>
        <p:txBody>
          <a:bodyPr wrap="square" lIns="0" rIns="0" tIns="0" bIns="0" anchor="t">
            <a:spAutoFit/>
          </a:bodyPr>
          <a:lstStyle/>
          <a:p>
            <a:pPr algn="l">
              <a:spcBef>
                <a:spcPts val="0"/>
              </a:spcBef>
              <a:spcAft>
                <a:spcPts val="0"/>
              </a:spcAft>
            </a:pPr>
            <a:r>
              <a:rPr sz="3200" b="1" i="0">
                <a:solidFill>
                  <a:srgbClr val="005EB8"/>
                </a:solidFill>
                <a:latin typeface="Rockwell"/>
              </a:rPr>
              <a:t>₹39,085</a:t>
            </a:r>
          </a:p>
        </p:txBody>
      </p:sp>
      <p:sp>
        <p:nvSpPr>
          <p:cNvPr id="14" name="TextBox 13"/>
          <p:cNvSpPr txBox="1"/>
          <p:nvPr/>
        </p:nvSpPr>
        <p:spPr>
          <a:xfrm>
            <a:off x="4846320" y="4160520"/>
            <a:ext cx="3200400" cy="640080"/>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14181C"/>
                </a:solidFill>
                <a:latin typeface="Arial"/>
              </a:rPr>
              <a:t>average paid from pocket per cancer hospital stay</a:t>
            </a:r>
          </a:p>
        </p:txBody>
      </p:sp>
      <p:sp>
        <p:nvSpPr>
          <p:cNvPr id="15" name="TextBox 14"/>
          <p:cNvSpPr txBox="1"/>
          <p:nvPr/>
        </p:nvSpPr>
        <p:spPr>
          <a:xfrm>
            <a:off x="4846320" y="4754880"/>
            <a:ext cx="3200400" cy="274320"/>
          </a:xfrm>
          <a:prstGeom prst="rect">
            <a:avLst/>
          </a:prstGeom>
          <a:noFill/>
        </p:spPr>
        <p:txBody>
          <a:bodyPr wrap="square" lIns="0" rIns="0" tIns="0" bIns="0" anchor="t">
            <a:spAutoFit/>
          </a:bodyPr>
          <a:lstStyle/>
          <a:p>
            <a:pPr algn="l">
              <a:spcBef>
                <a:spcPts val="0"/>
              </a:spcBef>
              <a:spcAft>
                <a:spcPts val="0"/>
              </a:spcAft>
            </a:pPr>
            <a:r>
              <a:rPr sz="950" b="0" i="0">
                <a:solidFill>
                  <a:srgbClr val="5F6872"/>
                </a:solidFill>
                <a:latin typeface="Arial"/>
              </a:rPr>
              <a:t>Front. Public Health, 2023 · 12,148 patients</a:t>
            </a:r>
          </a:p>
        </p:txBody>
      </p:sp>
      <p:sp>
        <p:nvSpPr>
          <p:cNvPr id="16" name="TextBox 15"/>
          <p:cNvSpPr txBox="1"/>
          <p:nvPr/>
        </p:nvSpPr>
        <p:spPr>
          <a:xfrm>
            <a:off x="8321040" y="3566160"/>
            <a:ext cx="3291840" cy="548640"/>
          </a:xfrm>
          <a:prstGeom prst="rect">
            <a:avLst/>
          </a:prstGeom>
          <a:noFill/>
        </p:spPr>
        <p:txBody>
          <a:bodyPr wrap="square" lIns="0" rIns="0" tIns="0" bIns="0" anchor="t">
            <a:spAutoFit/>
          </a:bodyPr>
          <a:lstStyle/>
          <a:p>
            <a:pPr algn="l">
              <a:spcBef>
                <a:spcPts val="0"/>
              </a:spcBef>
              <a:spcAft>
                <a:spcPts val="0"/>
              </a:spcAft>
            </a:pPr>
            <a:r>
              <a:rPr sz="3200" b="1" i="0">
                <a:solidFill>
                  <a:srgbClr val="005EB8"/>
                </a:solidFill>
                <a:latin typeface="Rockwell"/>
              </a:rPr>
              <a:t>₹3.31 L</a:t>
            </a:r>
          </a:p>
        </p:txBody>
      </p:sp>
      <p:sp>
        <p:nvSpPr>
          <p:cNvPr id="17" name="TextBox 16"/>
          <p:cNvSpPr txBox="1"/>
          <p:nvPr/>
        </p:nvSpPr>
        <p:spPr>
          <a:xfrm>
            <a:off x="8321040" y="4160520"/>
            <a:ext cx="3200400" cy="640080"/>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14181C"/>
                </a:solidFill>
                <a:latin typeface="Arial"/>
              </a:rPr>
              <a:t>paid from pocket per cancer patient in a year</a:t>
            </a:r>
          </a:p>
        </p:txBody>
      </p:sp>
      <p:sp>
        <p:nvSpPr>
          <p:cNvPr id="18" name="TextBox 17"/>
          <p:cNvSpPr txBox="1"/>
          <p:nvPr/>
        </p:nvSpPr>
        <p:spPr>
          <a:xfrm>
            <a:off x="8321040" y="4754880"/>
            <a:ext cx="3200400" cy="274320"/>
          </a:xfrm>
          <a:prstGeom prst="rect">
            <a:avLst/>
          </a:prstGeom>
          <a:noFill/>
        </p:spPr>
        <p:txBody>
          <a:bodyPr wrap="square" lIns="0" rIns="0" tIns="0" bIns="0" anchor="t">
            <a:spAutoFit/>
          </a:bodyPr>
          <a:lstStyle/>
          <a:p>
            <a:pPr algn="l">
              <a:spcBef>
                <a:spcPts val="0"/>
              </a:spcBef>
              <a:spcAft>
                <a:spcPts val="0"/>
              </a:spcAft>
            </a:pPr>
            <a:r>
              <a:rPr sz="950" b="0" i="0">
                <a:solidFill>
                  <a:srgbClr val="5F6872"/>
                </a:solidFill>
                <a:latin typeface="Arial"/>
              </a:rPr>
              <a:t>same study · medicines 45%, tests 36%</a:t>
            </a:r>
          </a:p>
        </p:txBody>
      </p:sp>
      <p:sp>
        <p:nvSpPr>
          <p:cNvPr id="19" name="Rounded Rectangle 18"/>
          <p:cNvSpPr/>
          <p:nvPr/>
        </p:nvSpPr>
        <p:spPr>
          <a:xfrm>
            <a:off x="4846320" y="5257800"/>
            <a:ext cx="6766560" cy="86868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74920" y="5394960"/>
            <a:ext cx="6309360" cy="640080"/>
          </a:xfrm>
          <a:prstGeom prst="rect">
            <a:avLst/>
          </a:prstGeom>
          <a:noFill/>
        </p:spPr>
        <p:txBody>
          <a:bodyPr wrap="square" lIns="0" rIns="0" tIns="0" bIns="0" anchor="ctr">
            <a:spAutoFit/>
          </a:bodyPr>
          <a:lstStyle/>
          <a:p>
            <a:pPr algn="l">
              <a:lnSpc>
                <a:spcPct val="130000"/>
              </a:lnSpc>
              <a:spcBef>
                <a:spcPts val="0"/>
              </a:spcBef>
              <a:spcAft>
                <a:spcPts val="0"/>
              </a:spcAft>
            </a:pPr>
            <a:r>
              <a:rPr sz="1300" b="1" i="0">
                <a:solidFill>
                  <a:srgbClr val="14181C"/>
                </a:solidFill>
                <a:latin typeface="Arial"/>
              </a:rPr>
              <a:t>Surprise bills push families into debt and cause people to stop treatment midway. </a:t>
            </a:r>
            <a:r>
              <a:rPr sz="1100" b="0" i="0">
                <a:solidFill>
                  <a:srgbClr val="5F6872"/>
                </a:solidFill>
                <a:latin typeface="Arial"/>
              </a:rPr>
              <a:t>(Lancet Regional Health SE Asia,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3</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What ClaimCast does</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The same maths the insurer uses after discharge — done before admission, while choices are still open.</a:t>
            </a:r>
          </a:p>
        </p:txBody>
      </p:sp>
      <p:sp>
        <p:nvSpPr>
          <p:cNvPr id="6" name="Rounded Rectangle 5"/>
          <p:cNvSpPr/>
          <p:nvPr/>
        </p:nvSpPr>
        <p:spPr>
          <a:xfrm>
            <a:off x="548640" y="1600200"/>
            <a:ext cx="3520440" cy="224028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59" y="1828800"/>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1</a:t>
            </a:r>
          </a:p>
        </p:txBody>
      </p:sp>
      <p:sp>
        <p:nvSpPr>
          <p:cNvPr id="8" name="TextBox 7"/>
          <p:cNvSpPr txBox="1"/>
          <p:nvPr/>
        </p:nvSpPr>
        <p:spPr>
          <a:xfrm>
            <a:off x="1417319" y="1856231"/>
            <a:ext cx="2560320" cy="41148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Tell us</a:t>
            </a:r>
          </a:p>
        </p:txBody>
      </p:sp>
      <p:sp>
        <p:nvSpPr>
          <p:cNvPr id="9" name="TextBox 8"/>
          <p:cNvSpPr txBox="1"/>
          <p:nvPr/>
        </p:nvSpPr>
        <p:spPr>
          <a:xfrm>
            <a:off x="822959" y="2468880"/>
            <a:ext cx="3017520"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0" i="0">
                <a:solidFill>
                  <a:srgbClr val="2B3138"/>
                </a:solidFill>
                <a:latin typeface="Arial"/>
              </a:rPr>
              <a:t>Who the patient is and your family, your insurance (upload the policy PDF: we read it, you check it), any government scheme, and your health report.</a:t>
            </a:r>
          </a:p>
        </p:txBody>
      </p:sp>
      <p:sp>
        <p:nvSpPr>
          <p:cNvPr id="10" name="Rounded Rectangle 9"/>
          <p:cNvSpPr/>
          <p:nvPr/>
        </p:nvSpPr>
        <p:spPr>
          <a:xfrm>
            <a:off x="4343400" y="1600200"/>
            <a:ext cx="3520440" cy="224028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17720" y="1828800"/>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2</a:t>
            </a:r>
          </a:p>
        </p:txBody>
      </p:sp>
      <p:sp>
        <p:nvSpPr>
          <p:cNvPr id="12" name="TextBox 11"/>
          <p:cNvSpPr txBox="1"/>
          <p:nvPr/>
        </p:nvSpPr>
        <p:spPr>
          <a:xfrm>
            <a:off x="5212080" y="1856231"/>
            <a:ext cx="2560320" cy="41148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See every choice</a:t>
            </a:r>
          </a:p>
        </p:txBody>
      </p:sp>
      <p:sp>
        <p:nvSpPr>
          <p:cNvPr id="13" name="TextBox 12"/>
          <p:cNvSpPr txBox="1"/>
          <p:nvPr/>
        </p:nvSpPr>
        <p:spPr>
          <a:xfrm>
            <a:off x="4617720" y="2468880"/>
            <a:ext cx="3017520"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0" i="0">
                <a:solidFill>
                  <a:srgbClr val="2B3138"/>
                </a:solidFill>
                <a:latin typeface="Arial"/>
              </a:rPr>
              <a:t>Which hospital, room or implant, cashless or refund, and where to have each scan. Each choice shows what you would pay.</a:t>
            </a:r>
          </a:p>
        </p:txBody>
      </p:sp>
      <p:sp>
        <p:nvSpPr>
          <p:cNvPr id="14" name="Rounded Rectangle 13"/>
          <p:cNvSpPr/>
          <p:nvPr/>
        </p:nvSpPr>
        <p:spPr>
          <a:xfrm>
            <a:off x="8138160" y="1600200"/>
            <a:ext cx="3520440" cy="224028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0" y="1828800"/>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3</a:t>
            </a:r>
          </a:p>
        </p:txBody>
      </p:sp>
      <p:sp>
        <p:nvSpPr>
          <p:cNvPr id="16" name="TextBox 15"/>
          <p:cNvSpPr txBox="1"/>
          <p:nvPr/>
        </p:nvSpPr>
        <p:spPr>
          <a:xfrm>
            <a:off x="9006840" y="1856231"/>
            <a:ext cx="2560320" cy="41148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Understand the bill</a:t>
            </a:r>
          </a:p>
        </p:txBody>
      </p:sp>
      <p:sp>
        <p:nvSpPr>
          <p:cNvPr id="17" name="TextBox 16"/>
          <p:cNvSpPr txBox="1"/>
          <p:nvPr/>
        </p:nvSpPr>
        <p:spPr>
          <a:xfrm>
            <a:off x="8412480" y="2468880"/>
            <a:ext cx="3017520"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0" i="0">
                <a:solidFill>
                  <a:srgbClr val="2B3138"/>
                </a:solidFill>
                <a:latin typeface="Arial"/>
              </a:rPr>
              <a:t>Every rupee your insurance will not pay, line by line, with the rule behind it. Ask anything, typed or spoken, in English or Hindi.</a:t>
            </a:r>
          </a:p>
        </p:txBody>
      </p:sp>
      <p:sp>
        <p:nvSpPr>
          <p:cNvPr id="18" name="TextBox 17"/>
          <p:cNvSpPr txBox="1"/>
          <p:nvPr/>
        </p:nvSpPr>
        <p:spPr>
          <a:xfrm>
            <a:off x="548640" y="4160520"/>
            <a:ext cx="548640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AN EXAMPLE ADMISSION  ·  spine surgery, 5 nights, ₹5 lakh policy</a:t>
            </a:r>
          </a:p>
        </p:txBody>
      </p:sp>
      <p:sp>
        <p:nvSpPr>
          <p:cNvPr id="19" name="Rounded Rectangle 18"/>
          <p:cNvSpPr/>
          <p:nvPr/>
        </p:nvSpPr>
        <p:spPr>
          <a:xfrm>
            <a:off x="548640" y="4526280"/>
            <a:ext cx="2880360" cy="1600200"/>
          </a:xfrm>
          <a:prstGeom prst="roundRect">
            <a:avLst>
              <a:gd name="adj" fmla="val 6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663440"/>
            <a:ext cx="2560320" cy="320040"/>
          </a:xfrm>
          <a:prstGeom prst="rect">
            <a:avLst/>
          </a:prstGeom>
          <a:noFill/>
        </p:spPr>
        <p:txBody>
          <a:bodyPr wrap="square" lIns="0" rIns="0" tIns="0" bIns="0" anchor="t">
            <a:spAutoFit/>
          </a:bodyPr>
          <a:lstStyle/>
          <a:p>
            <a:pPr algn="l">
              <a:spcBef>
                <a:spcPts val="0"/>
              </a:spcBef>
              <a:spcAft>
                <a:spcPts val="0"/>
              </a:spcAft>
            </a:pPr>
            <a:r>
              <a:rPr sz="1400" b="1" i="0">
                <a:solidFill>
                  <a:srgbClr val="14181C"/>
                </a:solidFill>
                <a:latin typeface="Arial"/>
              </a:rPr>
              <a:t>Private room</a:t>
            </a:r>
          </a:p>
        </p:txBody>
      </p:sp>
      <p:sp>
        <p:nvSpPr>
          <p:cNvPr id="21" name="TextBox 20"/>
          <p:cNvSpPr txBox="1"/>
          <p:nvPr/>
        </p:nvSpPr>
        <p:spPr>
          <a:xfrm>
            <a:off x="777240" y="4956048"/>
            <a:ext cx="2560320" cy="274320"/>
          </a:xfrm>
          <a:prstGeom prst="rect">
            <a:avLst/>
          </a:prstGeom>
          <a:noFill/>
        </p:spPr>
        <p:txBody>
          <a:bodyPr wrap="square" lIns="0" rIns="0" tIns="0" bIns="0" anchor="t">
            <a:spAutoFit/>
          </a:bodyPr>
          <a:lstStyle/>
          <a:p>
            <a:pPr algn="l">
              <a:spcBef>
                <a:spcPts val="0"/>
              </a:spcBef>
              <a:spcAft>
                <a:spcPts val="0"/>
              </a:spcAft>
            </a:pPr>
            <a:r>
              <a:rPr sz="1150" b="0" i="0">
                <a:solidFill>
                  <a:srgbClr val="5F6872"/>
                </a:solidFill>
                <a:latin typeface="Arial"/>
              </a:rPr>
              <a:t>₹10,000 a day</a:t>
            </a:r>
          </a:p>
        </p:txBody>
      </p:sp>
      <p:sp>
        <p:nvSpPr>
          <p:cNvPr id="22" name="TextBox 21"/>
          <p:cNvSpPr txBox="1"/>
          <p:nvPr/>
        </p:nvSpPr>
        <p:spPr>
          <a:xfrm>
            <a:off x="777240" y="5285232"/>
            <a:ext cx="2560320" cy="640080"/>
          </a:xfrm>
          <a:prstGeom prst="rect">
            <a:avLst/>
          </a:prstGeom>
          <a:noFill/>
        </p:spPr>
        <p:txBody>
          <a:bodyPr wrap="square" lIns="0" rIns="0" tIns="0" bIns="0" anchor="t">
            <a:spAutoFit/>
          </a:bodyPr>
          <a:lstStyle/>
          <a:p>
            <a:pPr algn="l">
              <a:spcBef>
                <a:spcPts val="0"/>
              </a:spcBef>
              <a:spcAft>
                <a:spcPts val="0"/>
              </a:spcAft>
            </a:pPr>
            <a:r>
              <a:rPr sz="1200" b="0" i="0">
                <a:solidFill>
                  <a:srgbClr val="2B3138"/>
                </a:solidFill>
                <a:latin typeface="Arial"/>
              </a:rPr>
              <a:t>you pay </a:t>
            </a:r>
            <a:r>
              <a:rPr sz="2600" b="1" i="0">
                <a:solidFill>
                  <a:srgbClr val="C8102E"/>
                </a:solidFill>
                <a:latin typeface="Rockwell"/>
              </a:rPr>
              <a:t>₹1,26,900</a:t>
            </a:r>
          </a:p>
        </p:txBody>
      </p:sp>
      <p:sp>
        <p:nvSpPr>
          <p:cNvPr id="23" name="Rounded Rectangle 22"/>
          <p:cNvSpPr/>
          <p:nvPr/>
        </p:nvSpPr>
        <p:spPr>
          <a:xfrm>
            <a:off x="3611880" y="4526280"/>
            <a:ext cx="2880360" cy="1600200"/>
          </a:xfrm>
          <a:prstGeom prst="roundRect">
            <a:avLst>
              <a:gd name="adj" fmla="val 6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40480" y="4663440"/>
            <a:ext cx="2560320" cy="320040"/>
          </a:xfrm>
          <a:prstGeom prst="rect">
            <a:avLst/>
          </a:prstGeom>
          <a:noFill/>
        </p:spPr>
        <p:txBody>
          <a:bodyPr wrap="square" lIns="0" rIns="0" tIns="0" bIns="0" anchor="t">
            <a:spAutoFit/>
          </a:bodyPr>
          <a:lstStyle/>
          <a:p>
            <a:pPr algn="l">
              <a:spcBef>
                <a:spcPts val="0"/>
              </a:spcBef>
              <a:spcAft>
                <a:spcPts val="0"/>
              </a:spcAft>
            </a:pPr>
            <a:r>
              <a:rPr sz="1400" b="1" i="0">
                <a:solidFill>
                  <a:srgbClr val="14181C"/>
                </a:solidFill>
                <a:latin typeface="Arial"/>
              </a:rPr>
              <a:t>Semi-private room</a:t>
            </a:r>
          </a:p>
        </p:txBody>
      </p:sp>
      <p:sp>
        <p:nvSpPr>
          <p:cNvPr id="25" name="TextBox 24"/>
          <p:cNvSpPr txBox="1"/>
          <p:nvPr/>
        </p:nvSpPr>
        <p:spPr>
          <a:xfrm>
            <a:off x="3840480" y="4956048"/>
            <a:ext cx="2560320" cy="274320"/>
          </a:xfrm>
          <a:prstGeom prst="rect">
            <a:avLst/>
          </a:prstGeom>
          <a:noFill/>
        </p:spPr>
        <p:txBody>
          <a:bodyPr wrap="square" lIns="0" rIns="0" tIns="0" bIns="0" anchor="t">
            <a:spAutoFit/>
          </a:bodyPr>
          <a:lstStyle/>
          <a:p>
            <a:pPr algn="l">
              <a:spcBef>
                <a:spcPts val="0"/>
              </a:spcBef>
              <a:spcAft>
                <a:spcPts val="0"/>
              </a:spcAft>
            </a:pPr>
            <a:r>
              <a:rPr sz="1150" b="0" i="0">
                <a:solidFill>
                  <a:srgbClr val="5F6872"/>
                </a:solidFill>
                <a:latin typeface="Arial"/>
              </a:rPr>
              <a:t>₹5,000 a day</a:t>
            </a:r>
          </a:p>
        </p:txBody>
      </p:sp>
      <p:sp>
        <p:nvSpPr>
          <p:cNvPr id="26" name="TextBox 25"/>
          <p:cNvSpPr txBox="1"/>
          <p:nvPr/>
        </p:nvSpPr>
        <p:spPr>
          <a:xfrm>
            <a:off x="3840480" y="5285232"/>
            <a:ext cx="2560320" cy="640080"/>
          </a:xfrm>
          <a:prstGeom prst="rect">
            <a:avLst/>
          </a:prstGeom>
          <a:noFill/>
        </p:spPr>
        <p:txBody>
          <a:bodyPr wrap="square" lIns="0" rIns="0" tIns="0" bIns="0" anchor="t">
            <a:spAutoFit/>
          </a:bodyPr>
          <a:lstStyle/>
          <a:p>
            <a:pPr algn="l">
              <a:spcBef>
                <a:spcPts val="0"/>
              </a:spcBef>
              <a:spcAft>
                <a:spcPts val="0"/>
              </a:spcAft>
            </a:pPr>
            <a:r>
              <a:rPr sz="1200" b="0" i="0">
                <a:solidFill>
                  <a:srgbClr val="2B3138"/>
                </a:solidFill>
                <a:latin typeface="Arial"/>
              </a:rPr>
              <a:t>you pay </a:t>
            </a:r>
            <a:r>
              <a:rPr sz="2600" b="1" i="0">
                <a:solidFill>
                  <a:srgbClr val="005EB8"/>
                </a:solidFill>
                <a:latin typeface="Rockwell"/>
              </a:rPr>
              <a:t>₹48,500</a:t>
            </a:r>
          </a:p>
        </p:txBody>
      </p:sp>
      <p:sp>
        <p:nvSpPr>
          <p:cNvPr id="27" name="Rounded Rectangle 26"/>
          <p:cNvSpPr/>
          <p:nvPr/>
        </p:nvSpPr>
        <p:spPr>
          <a:xfrm>
            <a:off x="6858000" y="4526280"/>
            <a:ext cx="4782312" cy="1600200"/>
          </a:xfrm>
          <a:prstGeom prst="roundRect">
            <a:avLst>
              <a:gd name="adj" fmla="val 6000"/>
            </a:avLst>
          </a:prstGeom>
          <a:solidFill>
            <a:srgbClr val="007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0" y="4681728"/>
            <a:ext cx="4297680" cy="1325880"/>
          </a:xfrm>
          <a:prstGeom prst="rect">
            <a:avLst/>
          </a:prstGeom>
          <a:noFill/>
        </p:spPr>
        <p:txBody>
          <a:bodyPr wrap="square" lIns="0" rIns="0" tIns="0" bIns="0" anchor="ctr">
            <a:spAutoFit/>
          </a:bodyPr>
          <a:lstStyle/>
          <a:p>
            <a:pPr algn="l">
              <a:spcBef>
                <a:spcPts val="0"/>
              </a:spcBef>
              <a:spcAft>
                <a:spcPts val="600"/>
              </a:spcAft>
            </a:pPr>
            <a:r>
              <a:rPr sz="2800" b="1" i="0">
                <a:solidFill>
                  <a:srgbClr val="FFFFFF"/>
                </a:solidFill>
                <a:latin typeface="Rockwell"/>
              </a:rPr>
              <a:t>You keep ₹78,400</a:t>
            </a:r>
          </a:p>
          <a:p>
            <a:pPr algn="l">
              <a:lnSpc>
                <a:spcPct val="125000"/>
              </a:lnSpc>
              <a:spcBef>
                <a:spcPts val="0"/>
              </a:spcBef>
              <a:spcAft>
                <a:spcPts val="0"/>
              </a:spcAft>
            </a:pPr>
            <a:r>
              <a:rPr sz="1250" b="0" i="0">
                <a:solidFill>
                  <a:srgbClr val="FFFFFF"/>
                </a:solidFill>
                <a:latin typeface="Arial"/>
              </a:rPr>
              <a:t>just by knowing the room limit before choosing a bed, worked out by the same rules the insurer uses.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4</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How it works: the family’s path and the team’s</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Every box is a screen in the working prototype, in the order it is used.</a:t>
            </a:r>
          </a:p>
        </p:txBody>
      </p:sp>
      <p:sp>
        <p:nvSpPr>
          <p:cNvPr id="6" name="TextBox 5"/>
          <p:cNvSpPr txBox="1"/>
          <p:nvPr/>
        </p:nvSpPr>
        <p:spPr>
          <a:xfrm>
            <a:off x="548640" y="1344168"/>
            <a:ext cx="5486400" cy="237744"/>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FAMILY SIDE  ·  Patient / Caregiver</a:t>
            </a:r>
          </a:p>
        </p:txBody>
      </p:sp>
      <p:sp>
        <p:nvSpPr>
          <p:cNvPr id="7" name="Rounded Rectangle 6"/>
          <p:cNvSpPr/>
          <p:nvPr/>
        </p:nvSpPr>
        <p:spPr>
          <a:xfrm>
            <a:off x="548640"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76656"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1</a:t>
            </a:r>
          </a:p>
        </p:txBody>
      </p:sp>
      <p:sp>
        <p:nvSpPr>
          <p:cNvPr id="9" name="TextBox 8"/>
          <p:cNvSpPr txBox="1"/>
          <p:nvPr/>
        </p:nvSpPr>
        <p:spPr>
          <a:xfrm>
            <a:off x="1060704"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Log in</a:t>
            </a:r>
          </a:p>
        </p:txBody>
      </p:sp>
      <p:sp>
        <p:nvSpPr>
          <p:cNvPr id="10" name="TextBox 9"/>
          <p:cNvSpPr txBox="1"/>
          <p:nvPr/>
        </p:nvSpPr>
        <p:spPr>
          <a:xfrm>
            <a:off x="694944"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Choose Patient / Caregiver. English or हिन्दी, light or dark theme.</a:t>
            </a:r>
          </a:p>
        </p:txBody>
      </p:sp>
      <p:sp>
        <p:nvSpPr>
          <p:cNvPr id="11" name="Right Arrow 10"/>
          <p:cNvSpPr/>
          <p:nvPr/>
        </p:nvSpPr>
        <p:spPr>
          <a:xfrm>
            <a:off x="2016252"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53412"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281428"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2</a:t>
            </a:r>
          </a:p>
        </p:txBody>
      </p:sp>
      <p:sp>
        <p:nvSpPr>
          <p:cNvPr id="14" name="TextBox 13"/>
          <p:cNvSpPr txBox="1"/>
          <p:nvPr/>
        </p:nvSpPr>
        <p:spPr>
          <a:xfrm>
            <a:off x="2665476"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Start: 5 steps</a:t>
            </a:r>
          </a:p>
        </p:txBody>
      </p:sp>
      <p:sp>
        <p:nvSpPr>
          <p:cNvPr id="15" name="TextBox 14"/>
          <p:cNvSpPr txBox="1"/>
          <p:nvPr/>
        </p:nvSpPr>
        <p:spPr>
          <a:xfrm>
            <a:off x="2299716"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About you + family · Insurance (PDF read, you confirm) · Schemes · Your health · Review</a:t>
            </a:r>
          </a:p>
        </p:txBody>
      </p:sp>
      <p:sp>
        <p:nvSpPr>
          <p:cNvPr id="16" name="Right Arrow 15"/>
          <p:cNvSpPr/>
          <p:nvPr/>
        </p:nvSpPr>
        <p:spPr>
          <a:xfrm>
            <a:off x="3621024"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58184"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886200"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3</a:t>
            </a:r>
          </a:p>
        </p:txBody>
      </p:sp>
      <p:sp>
        <p:nvSpPr>
          <p:cNvPr id="19" name="TextBox 18"/>
          <p:cNvSpPr txBox="1"/>
          <p:nvPr/>
        </p:nvSpPr>
        <p:spPr>
          <a:xfrm>
            <a:off x="4270248"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Estimate my bill</a:t>
            </a:r>
          </a:p>
        </p:txBody>
      </p:sp>
      <p:sp>
        <p:nvSpPr>
          <p:cNvPr id="20" name="TextBox 19"/>
          <p:cNvSpPr txBox="1"/>
          <p:nvPr/>
        </p:nvSpPr>
        <p:spPr>
          <a:xfrm>
            <a:off x="3904488"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Opens the path. With a health report, the plan comes first: cheapest place for scans and surgery.</a:t>
            </a:r>
          </a:p>
        </p:txBody>
      </p:sp>
      <p:sp>
        <p:nvSpPr>
          <p:cNvPr id="21" name="Right Arrow 20"/>
          <p:cNvSpPr/>
          <p:nvPr/>
        </p:nvSpPr>
        <p:spPr>
          <a:xfrm>
            <a:off x="5225796"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362956"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490972"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4</a:t>
            </a:r>
          </a:p>
        </p:txBody>
      </p:sp>
      <p:sp>
        <p:nvSpPr>
          <p:cNvPr id="24" name="TextBox 23"/>
          <p:cNvSpPr txBox="1"/>
          <p:nvPr/>
        </p:nvSpPr>
        <p:spPr>
          <a:xfrm>
            <a:off x="5875020"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The path</a:t>
            </a:r>
          </a:p>
        </p:txBody>
      </p:sp>
      <p:sp>
        <p:nvSpPr>
          <p:cNvPr id="25" name="TextBox 24"/>
          <p:cNvSpPr txBox="1"/>
          <p:nvPr/>
        </p:nvSpPr>
        <p:spPr>
          <a:xfrm>
            <a:off x="5509260"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Every choice priced, ‘None’ allowed. The likely bill range; share your final bill here.</a:t>
            </a:r>
          </a:p>
        </p:txBody>
      </p:sp>
      <p:sp>
        <p:nvSpPr>
          <p:cNvPr id="26" name="Right Arrow 25"/>
          <p:cNvSpPr/>
          <p:nvPr/>
        </p:nvSpPr>
        <p:spPr>
          <a:xfrm>
            <a:off x="6830568"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67728"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095744"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5</a:t>
            </a:r>
          </a:p>
        </p:txBody>
      </p:sp>
      <p:sp>
        <p:nvSpPr>
          <p:cNvPr id="29" name="TextBox 28"/>
          <p:cNvSpPr txBox="1"/>
          <p:nvPr/>
        </p:nvSpPr>
        <p:spPr>
          <a:xfrm>
            <a:off x="7479792"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The working</a:t>
            </a:r>
          </a:p>
        </p:txBody>
      </p:sp>
      <p:sp>
        <p:nvSpPr>
          <p:cNvPr id="30" name="TextBox 29"/>
          <p:cNvSpPr txBox="1"/>
          <p:nvPr/>
        </p:nvSpPr>
        <p:spPr>
          <a:xfrm>
            <a:off x="7114032"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The bill line by line, the rule behind each cut, and the cheaper options.</a:t>
            </a:r>
          </a:p>
        </p:txBody>
      </p:sp>
      <p:sp>
        <p:nvSpPr>
          <p:cNvPr id="31" name="Right Arrow 30"/>
          <p:cNvSpPr/>
          <p:nvPr/>
        </p:nvSpPr>
        <p:spPr>
          <a:xfrm>
            <a:off x="8435340"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572500"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700516"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6</a:t>
            </a:r>
          </a:p>
        </p:txBody>
      </p:sp>
      <p:sp>
        <p:nvSpPr>
          <p:cNvPr id="34" name="TextBox 33"/>
          <p:cNvSpPr txBox="1"/>
          <p:nvPr/>
        </p:nvSpPr>
        <p:spPr>
          <a:xfrm>
            <a:off x="9084564"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Ask ClaimCast</a:t>
            </a:r>
          </a:p>
        </p:txBody>
      </p:sp>
      <p:sp>
        <p:nvSpPr>
          <p:cNvPr id="35" name="TextBox 34"/>
          <p:cNvSpPr txBox="1"/>
          <p:nvPr/>
        </p:nvSpPr>
        <p:spPr>
          <a:xfrm>
            <a:off x="8718804"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Type or speak a question in English or Hindi; answers can be read aloud.</a:t>
            </a:r>
          </a:p>
        </p:txBody>
      </p:sp>
      <p:sp>
        <p:nvSpPr>
          <p:cNvPr id="36" name="Right Arrow 35"/>
          <p:cNvSpPr/>
          <p:nvPr/>
        </p:nvSpPr>
        <p:spPr>
          <a:xfrm>
            <a:off x="10040112"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177272"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305288"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7</a:t>
            </a:r>
          </a:p>
        </p:txBody>
      </p:sp>
      <p:sp>
        <p:nvSpPr>
          <p:cNvPr id="39" name="TextBox 38"/>
          <p:cNvSpPr txBox="1"/>
          <p:nvPr/>
        </p:nvSpPr>
        <p:spPr>
          <a:xfrm>
            <a:off x="10689336"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Save my session</a:t>
            </a:r>
          </a:p>
        </p:txBody>
      </p:sp>
      <p:sp>
        <p:nvSpPr>
          <p:cNvPr id="40" name="TextBox 39"/>
          <p:cNvSpPr txBox="1"/>
          <p:nvPr/>
        </p:nvSpPr>
        <p:spPr>
          <a:xfrm>
            <a:off x="10323576"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Each person gets a unique ID. Profile keeps your stays and family.</a:t>
            </a:r>
          </a:p>
        </p:txBody>
      </p:sp>
      <p:sp>
        <p:nvSpPr>
          <p:cNvPr id="41" name="Down Arrow 40"/>
          <p:cNvSpPr/>
          <p:nvPr/>
        </p:nvSpPr>
        <p:spPr>
          <a:xfrm>
            <a:off x="2743200" y="3493008"/>
            <a:ext cx="256032" cy="274320"/>
          </a:xfrm>
          <a:prstGeom prst="down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wn Arrow 41"/>
          <p:cNvSpPr/>
          <p:nvPr/>
        </p:nvSpPr>
        <p:spPr>
          <a:xfrm>
            <a:off x="10625328" y="3493008"/>
            <a:ext cx="256032" cy="274320"/>
          </a:xfrm>
          <a:prstGeom prst="down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48640" y="3822191"/>
            <a:ext cx="11091672" cy="566928"/>
          </a:xfrm>
          <a:prstGeom prst="roundRect">
            <a:avLst>
              <a:gd name="adj" fmla="val 2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3822191"/>
            <a:ext cx="10698480" cy="566928"/>
          </a:xfrm>
          <a:prstGeom prst="rect">
            <a:avLst/>
          </a:prstGeom>
          <a:noFill/>
        </p:spPr>
        <p:txBody>
          <a:bodyPr wrap="square" lIns="0" rIns="0" tIns="0" bIns="0" anchor="ctr">
            <a:spAutoFit/>
          </a:bodyPr>
          <a:lstStyle/>
          <a:p>
            <a:pPr algn="ctr">
              <a:spcBef>
                <a:spcPts val="0"/>
              </a:spcBef>
              <a:spcAft>
                <a:spcPts val="0"/>
              </a:spcAft>
            </a:pPr>
            <a:r>
              <a:rPr sz="1100" b="1" i="0">
                <a:solidFill>
                  <a:srgbClr val="005EB8"/>
                </a:solidFill>
                <a:latin typeface="Arial"/>
              </a:rPr>
              <a:t>SHARED CORE   </a:t>
            </a:r>
            <a:r>
              <a:rPr sz="1200" b="0" i="0">
                <a:solidFill>
                  <a:srgbClr val="14181C"/>
                </a:solidFill>
                <a:latin typeface="Arial"/>
              </a:rPr>
              <a:t>money engine with fixed rules  ·  PostgreSQL database  ·  XGBoost bill estimator  ·  AI readers for policies, reports and questions</a:t>
            </a:r>
          </a:p>
        </p:txBody>
      </p:sp>
      <p:sp>
        <p:nvSpPr>
          <p:cNvPr id="45" name="Down Arrow 44"/>
          <p:cNvSpPr/>
          <p:nvPr/>
        </p:nvSpPr>
        <p:spPr>
          <a:xfrm>
            <a:off x="4572000" y="4453128"/>
            <a:ext cx="256032" cy="274320"/>
          </a:xfrm>
          <a:prstGeom prst="down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wn Arrow 45"/>
          <p:cNvSpPr/>
          <p:nvPr/>
        </p:nvSpPr>
        <p:spPr>
          <a:xfrm>
            <a:off x="10058400" y="4453128"/>
            <a:ext cx="256032" cy="274320"/>
          </a:xfrm>
          <a:prstGeom prst="down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4754880"/>
            <a:ext cx="5486400" cy="237744"/>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TEAM SIDE  ·  ClaimCast team</a:t>
            </a:r>
          </a:p>
        </p:txBody>
      </p:sp>
      <p:sp>
        <p:nvSpPr>
          <p:cNvPr id="48" name="Rounded Rectangle 47"/>
          <p:cNvSpPr/>
          <p:nvPr/>
        </p:nvSpPr>
        <p:spPr>
          <a:xfrm>
            <a:off x="548640" y="5029200"/>
            <a:ext cx="2624328" cy="1261872"/>
          </a:xfrm>
          <a:prstGeom prst="roundRect">
            <a:avLst>
              <a:gd name="adj" fmla="val 8000"/>
            </a:avLst>
          </a:prstGeom>
          <a:solidFill>
            <a:srgbClr val="003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76656" y="5157216"/>
            <a:ext cx="310896" cy="3108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005EB8"/>
                </a:solidFill>
                <a:latin typeface="Rockwell"/>
              </a:rPr>
              <a:t>1</a:t>
            </a:r>
          </a:p>
        </p:txBody>
      </p:sp>
      <p:sp>
        <p:nvSpPr>
          <p:cNvPr id="50" name="TextBox 49"/>
          <p:cNvSpPr txBox="1"/>
          <p:nvPr/>
        </p:nvSpPr>
        <p:spPr>
          <a:xfrm>
            <a:off x="1060704" y="5148072"/>
            <a:ext cx="2020824" cy="365760"/>
          </a:xfrm>
          <a:prstGeom prst="rect">
            <a:avLst/>
          </a:prstGeom>
          <a:noFill/>
        </p:spPr>
        <p:txBody>
          <a:bodyPr wrap="square" lIns="0" rIns="0" tIns="0" bIns="0" anchor="ctr">
            <a:spAutoFit/>
          </a:bodyPr>
          <a:lstStyle/>
          <a:p>
            <a:pPr algn="l">
              <a:spcBef>
                <a:spcPts val="0"/>
              </a:spcBef>
              <a:spcAft>
                <a:spcPts val="0"/>
              </a:spcAft>
            </a:pPr>
            <a:r>
              <a:rPr sz="1200" b="1" i="0">
                <a:solidFill>
                  <a:srgbClr val="FFFFFF"/>
                </a:solidFill>
                <a:latin typeface="Arial"/>
              </a:rPr>
              <a:t>Log in</a:t>
            </a:r>
          </a:p>
        </p:txBody>
      </p:sp>
      <p:sp>
        <p:nvSpPr>
          <p:cNvPr id="51" name="TextBox 50"/>
          <p:cNvSpPr txBox="1"/>
          <p:nvPr/>
        </p:nvSpPr>
        <p:spPr>
          <a:xfrm>
            <a:off x="694944" y="5577840"/>
            <a:ext cx="2350008" cy="658367"/>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C4DCEF"/>
                </a:solidFill>
                <a:latin typeface="Arial"/>
              </a:rPr>
              <a:t>Choose ClaimCast team (no password in the demo).</a:t>
            </a:r>
          </a:p>
        </p:txBody>
      </p:sp>
      <p:sp>
        <p:nvSpPr>
          <p:cNvPr id="52" name="Right Arrow 51"/>
          <p:cNvSpPr/>
          <p:nvPr/>
        </p:nvSpPr>
        <p:spPr>
          <a:xfrm>
            <a:off x="3182112" y="5532120"/>
            <a:ext cx="182880" cy="237744"/>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3371392" y="5029200"/>
            <a:ext cx="2624328" cy="1261872"/>
          </a:xfrm>
          <a:prstGeom prst="roundRect">
            <a:avLst>
              <a:gd name="adj" fmla="val 8000"/>
            </a:avLst>
          </a:prstGeom>
          <a:solidFill>
            <a:srgbClr val="003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3499408" y="5157216"/>
            <a:ext cx="310896" cy="3108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005EB8"/>
                </a:solidFill>
                <a:latin typeface="Rockwell"/>
              </a:rPr>
              <a:t>2</a:t>
            </a:r>
          </a:p>
        </p:txBody>
      </p:sp>
      <p:sp>
        <p:nvSpPr>
          <p:cNvPr id="55" name="TextBox 54"/>
          <p:cNvSpPr txBox="1"/>
          <p:nvPr/>
        </p:nvSpPr>
        <p:spPr>
          <a:xfrm>
            <a:off x="3883456" y="5148072"/>
            <a:ext cx="2020824" cy="365760"/>
          </a:xfrm>
          <a:prstGeom prst="rect">
            <a:avLst/>
          </a:prstGeom>
          <a:noFill/>
        </p:spPr>
        <p:txBody>
          <a:bodyPr wrap="square" lIns="0" rIns="0" tIns="0" bIns="0" anchor="ctr">
            <a:spAutoFit/>
          </a:bodyPr>
          <a:lstStyle/>
          <a:p>
            <a:pPr algn="l">
              <a:spcBef>
                <a:spcPts val="0"/>
              </a:spcBef>
              <a:spcAft>
                <a:spcPts val="0"/>
              </a:spcAft>
            </a:pPr>
            <a:r>
              <a:rPr sz="1200" b="1" i="0">
                <a:solidFill>
                  <a:srgbClr val="FFFFFF"/>
                </a:solidFill>
                <a:latin typeface="Arial"/>
              </a:rPr>
              <a:t>Saved sessions</a:t>
            </a:r>
          </a:p>
        </p:txBody>
      </p:sp>
      <p:sp>
        <p:nvSpPr>
          <p:cNvPr id="56" name="TextBox 55"/>
          <p:cNvSpPr txBox="1"/>
          <p:nvPr/>
        </p:nvSpPr>
        <p:spPr>
          <a:xfrm>
            <a:off x="3517696" y="5577840"/>
            <a:ext cx="2350008" cy="658367"/>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C4DCEF"/>
                </a:solidFill>
                <a:latin typeface="Arial"/>
              </a:rPr>
              <a:t>Search by name, hospital, diagnosis or ID. See people, health report and questions; open it as the family saw it.</a:t>
            </a:r>
          </a:p>
        </p:txBody>
      </p:sp>
      <p:sp>
        <p:nvSpPr>
          <p:cNvPr id="57" name="Right Arrow 56"/>
          <p:cNvSpPr/>
          <p:nvPr/>
        </p:nvSpPr>
        <p:spPr>
          <a:xfrm>
            <a:off x="6004864" y="5532120"/>
            <a:ext cx="182880" cy="237744"/>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6194145" y="5029200"/>
            <a:ext cx="2624328" cy="1261872"/>
          </a:xfrm>
          <a:prstGeom prst="roundRect">
            <a:avLst>
              <a:gd name="adj" fmla="val 8000"/>
            </a:avLst>
          </a:prstGeom>
          <a:solidFill>
            <a:srgbClr val="003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322161" y="5157216"/>
            <a:ext cx="310896" cy="3108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005EB8"/>
                </a:solidFill>
                <a:latin typeface="Rockwell"/>
              </a:rPr>
              <a:t>3</a:t>
            </a:r>
          </a:p>
        </p:txBody>
      </p:sp>
      <p:sp>
        <p:nvSpPr>
          <p:cNvPr id="60" name="TextBox 59"/>
          <p:cNvSpPr txBox="1"/>
          <p:nvPr/>
        </p:nvSpPr>
        <p:spPr>
          <a:xfrm>
            <a:off x="6706209" y="5148072"/>
            <a:ext cx="2020824" cy="365760"/>
          </a:xfrm>
          <a:prstGeom prst="rect">
            <a:avLst/>
          </a:prstGeom>
          <a:noFill/>
        </p:spPr>
        <p:txBody>
          <a:bodyPr wrap="square" lIns="0" rIns="0" tIns="0" bIns="0" anchor="ctr">
            <a:spAutoFit/>
          </a:bodyPr>
          <a:lstStyle/>
          <a:p>
            <a:pPr algn="l">
              <a:spcBef>
                <a:spcPts val="0"/>
              </a:spcBef>
              <a:spcAft>
                <a:spcPts val="0"/>
              </a:spcAft>
            </a:pPr>
            <a:r>
              <a:rPr sz="1200" b="1" i="0">
                <a:solidFill>
                  <a:srgbClr val="FFFFFF"/>
                </a:solidFill>
                <a:latin typeface="Arial"/>
              </a:rPr>
              <a:t>What ClaimCast knows</a:t>
            </a:r>
          </a:p>
        </p:txBody>
      </p:sp>
      <p:sp>
        <p:nvSpPr>
          <p:cNvPr id="61" name="TextBox 60"/>
          <p:cNvSpPr txBox="1"/>
          <p:nvPr/>
        </p:nvSpPr>
        <p:spPr>
          <a:xfrm>
            <a:off x="6340449" y="5577840"/>
            <a:ext cx="2350008" cy="658367"/>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C4DCEF"/>
                </a:solidFill>
                <a:latin typeface="Arial"/>
              </a:rPr>
              <a:t>Hospitals, treatments, plans, never-covered items and rules, each with its public source.</a:t>
            </a:r>
          </a:p>
        </p:txBody>
      </p:sp>
      <p:sp>
        <p:nvSpPr>
          <p:cNvPr id="62" name="Right Arrow 61"/>
          <p:cNvSpPr/>
          <p:nvPr/>
        </p:nvSpPr>
        <p:spPr>
          <a:xfrm>
            <a:off x="8827617" y="5532120"/>
            <a:ext cx="182880" cy="237744"/>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16898" y="5029200"/>
            <a:ext cx="2624328" cy="1261872"/>
          </a:xfrm>
          <a:prstGeom prst="roundRect">
            <a:avLst>
              <a:gd name="adj" fmla="val 8000"/>
            </a:avLst>
          </a:prstGeom>
          <a:solidFill>
            <a:srgbClr val="003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9144914" y="5157216"/>
            <a:ext cx="310896" cy="3108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005EB8"/>
                </a:solidFill>
                <a:latin typeface="Rockwell"/>
              </a:rPr>
              <a:t>4</a:t>
            </a:r>
          </a:p>
        </p:txBody>
      </p:sp>
      <p:sp>
        <p:nvSpPr>
          <p:cNvPr id="65" name="TextBox 64"/>
          <p:cNvSpPr txBox="1"/>
          <p:nvPr/>
        </p:nvSpPr>
        <p:spPr>
          <a:xfrm>
            <a:off x="9528962" y="5148072"/>
            <a:ext cx="2020824" cy="365760"/>
          </a:xfrm>
          <a:prstGeom prst="rect">
            <a:avLst/>
          </a:prstGeom>
          <a:noFill/>
        </p:spPr>
        <p:txBody>
          <a:bodyPr wrap="square" lIns="0" rIns="0" tIns="0" bIns="0" anchor="ctr">
            <a:spAutoFit/>
          </a:bodyPr>
          <a:lstStyle/>
          <a:p>
            <a:pPr algn="l">
              <a:spcBef>
                <a:spcPts val="0"/>
              </a:spcBef>
              <a:spcAft>
                <a:spcPts val="0"/>
              </a:spcAft>
            </a:pPr>
            <a:r>
              <a:rPr sz="1200" b="1" i="0">
                <a:solidFill>
                  <a:srgbClr val="FFFFFF"/>
                </a:solidFill>
                <a:latin typeface="Arial"/>
              </a:rPr>
              <a:t>What it has learned</a:t>
            </a:r>
          </a:p>
        </p:txBody>
      </p:sp>
      <p:sp>
        <p:nvSpPr>
          <p:cNvPr id="66" name="TextBox 65"/>
          <p:cNvSpPr txBox="1"/>
          <p:nvPr/>
        </p:nvSpPr>
        <p:spPr>
          <a:xfrm>
            <a:off x="9163202" y="5577840"/>
            <a:ext cx="2350008" cy="658367"/>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C4DCEF"/>
                </a:solidFill>
                <a:latin typeface="Arial"/>
              </a:rPr>
              <a:t>Policy fixes, bills shared, choices, chat memory. The estimator retrains every 10 bills.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5</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Built around the whole family</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One profile holds everyone, each with their own ID, and a health report becomes a plan.</a:t>
            </a:r>
          </a:p>
        </p:txBody>
      </p:sp>
      <p:sp>
        <p:nvSpPr>
          <p:cNvPr id="6" name="Rounded Rectangle 5"/>
          <p:cNvSpPr/>
          <p:nvPr/>
        </p:nvSpPr>
        <p:spPr>
          <a:xfrm>
            <a:off x="548640" y="1417320"/>
            <a:ext cx="5440680" cy="480060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72768"/>
            <a:ext cx="493776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FAMILY BRANCH  +  UNIQUE IDs</a:t>
            </a:r>
          </a:p>
        </p:txBody>
      </p:sp>
      <p:sp>
        <p:nvSpPr>
          <p:cNvPr id="8" name="TextBox 7"/>
          <p:cNvSpPr txBox="1"/>
          <p:nvPr/>
        </p:nvSpPr>
        <p:spPr>
          <a:xfrm>
            <a:off x="822960" y="1847088"/>
            <a:ext cx="4937760" cy="411480"/>
          </a:xfrm>
          <a:prstGeom prst="rect">
            <a:avLst/>
          </a:prstGeom>
          <a:noFill/>
        </p:spPr>
        <p:txBody>
          <a:bodyPr wrap="square" lIns="0" rIns="0" tIns="0" bIns="0" anchor="t">
            <a:spAutoFit/>
          </a:bodyPr>
          <a:lstStyle/>
          <a:p>
            <a:pPr algn="l">
              <a:spcBef>
                <a:spcPts val="0"/>
              </a:spcBef>
              <a:spcAft>
                <a:spcPts val="0"/>
              </a:spcAft>
            </a:pPr>
            <a:r>
              <a:rPr sz="1700" b="1" i="0">
                <a:solidFill>
                  <a:srgbClr val="14181C"/>
                </a:solidFill>
                <a:latin typeface="Rockwell"/>
              </a:rPr>
              <a:t>Two sons called Ravi are two people</a:t>
            </a:r>
          </a:p>
        </p:txBody>
      </p:sp>
      <p:graphicFrame>
        <p:nvGraphicFramePr>
          <p:cNvPr id="9" name="Table 8"/>
          <p:cNvGraphicFramePr>
            <a:graphicFrameLocks noGrp="1"/>
          </p:cNvGraphicFramePr>
          <p:nvPr/>
        </p:nvGraphicFramePr>
        <p:xfrm>
          <a:off x="822960" y="2395728"/>
          <a:ext cx="4892040" cy="1600200"/>
        </p:xfrm>
        <a:graphic>
          <a:graphicData uri="http://schemas.openxmlformats.org/drawingml/2006/table">
            <a:tbl>
              <a:tblPr firstRow="1" bandRow="1">
                <a:tableStyleId>{5C22544A-7EE6-4342-B048-85BDC9FD1C3A}</a:tableStyleId>
              </a:tblPr>
              <a:tblGrid>
                <a:gridCol w="868680"/>
                <a:gridCol w="1234440"/>
                <a:gridCol w="548640"/>
                <a:gridCol w="2240280"/>
              </a:tblGrid>
              <a:tr h="320040">
                <a:tc>
                  <a:txBody>
                    <a:bodyPr/>
                    <a:lstStyle/>
                    <a:p>
                      <a:r>
                        <a:rPr sz="1000" b="1">
                          <a:solidFill>
                            <a:srgbClr val="FFFFFF"/>
                          </a:solidFill>
                          <a:latin typeface="Arial"/>
                        </a:rPr>
                        <a:t>Who</a:t>
                      </a:r>
                    </a:p>
                  </a:txBody>
                  <a:tcPr marL="73152" marR="73152" marT="18288" marB="18288" anchor="ctr">
                    <a:solidFill>
                      <a:srgbClr val="14181C"/>
                    </a:solidFill>
                  </a:tcPr>
                </a:tc>
                <a:tc>
                  <a:txBody>
                    <a:bodyPr/>
                    <a:lstStyle/>
                    <a:p>
                      <a:r>
                        <a:rPr sz="1000" b="1">
                          <a:solidFill>
                            <a:srgbClr val="FFFFFF"/>
                          </a:solidFill>
                          <a:latin typeface="Arial"/>
                        </a:rPr>
                        <a:t>Name</a:t>
                      </a:r>
                    </a:p>
                  </a:txBody>
                  <a:tcPr marL="73152" marR="73152" marT="18288" marB="18288" anchor="ctr">
                    <a:solidFill>
                      <a:srgbClr val="14181C"/>
                    </a:solidFill>
                  </a:tcPr>
                </a:tc>
                <a:tc>
                  <a:txBody>
                    <a:bodyPr/>
                    <a:lstStyle/>
                    <a:p>
                      <a:r>
                        <a:rPr sz="1000" b="1">
                          <a:solidFill>
                            <a:srgbClr val="FFFFFF"/>
                          </a:solidFill>
                          <a:latin typeface="Arial"/>
                        </a:rPr>
                        <a:t>Age</a:t>
                      </a:r>
                    </a:p>
                  </a:txBody>
                  <a:tcPr marL="73152" marR="73152" marT="18288" marB="18288" anchor="ctr">
                    <a:solidFill>
                      <a:srgbClr val="14181C"/>
                    </a:solidFill>
                  </a:tcPr>
                </a:tc>
                <a:tc>
                  <a:txBody>
                    <a:bodyPr/>
                    <a:lstStyle/>
                    <a:p>
                      <a:r>
                        <a:rPr sz="1000" b="1">
                          <a:solidFill>
                            <a:srgbClr val="FFFFFF"/>
                          </a:solidFill>
                          <a:latin typeface="Arial"/>
                        </a:rPr>
                        <a:t>Unique ID (UUID)</a:t>
                      </a:r>
                    </a:p>
                  </a:txBody>
                  <a:tcPr marL="73152" marR="73152" marT="18288" marB="18288" anchor="ctr">
                    <a:solidFill>
                      <a:srgbClr val="14181C"/>
                    </a:solidFill>
                  </a:tcPr>
                </a:tc>
              </a:tr>
              <a:tr h="320040">
                <a:tc>
                  <a:txBody>
                    <a:bodyPr/>
                    <a:lstStyle/>
                    <a:p>
                      <a:r>
                        <a:rPr sz="1050" b="0">
                          <a:solidFill>
                            <a:srgbClr val="14181C"/>
                          </a:solidFill>
                          <a:latin typeface="Arial"/>
                        </a:rPr>
                        <a:t>You</a:t>
                      </a:r>
                    </a:p>
                  </a:txBody>
                  <a:tcPr marL="73152" marR="73152" marT="18288" marB="18288" anchor="ctr">
                    <a:solidFill>
                      <a:srgbClr val="FFFFFF"/>
                    </a:solidFill>
                  </a:tcPr>
                </a:tc>
                <a:tc>
                  <a:txBody>
                    <a:bodyPr/>
                    <a:lstStyle/>
                    <a:p>
                      <a:r>
                        <a:rPr sz="1050" b="0">
                          <a:solidFill>
                            <a:srgbClr val="14181C"/>
                          </a:solidFill>
                          <a:latin typeface="Arial"/>
                        </a:rPr>
                        <a:t>Ravi Kumar</a:t>
                      </a:r>
                    </a:p>
                  </a:txBody>
                  <a:tcPr marL="73152" marR="73152" marT="18288" marB="18288" anchor="ctr">
                    <a:solidFill>
                      <a:srgbClr val="FFFFFF"/>
                    </a:solidFill>
                  </a:tcPr>
                </a:tc>
                <a:tc>
                  <a:txBody>
                    <a:bodyPr/>
                    <a:lstStyle/>
                    <a:p>
                      <a:r>
                        <a:rPr sz="1050" b="0">
                          <a:solidFill>
                            <a:srgbClr val="14181C"/>
                          </a:solidFill>
                          <a:latin typeface="Arial"/>
                        </a:rPr>
                        <a:t>40</a:t>
                      </a:r>
                    </a:p>
                  </a:txBody>
                  <a:tcPr marL="73152" marR="73152" marT="18288" marB="18288" anchor="ctr">
                    <a:solidFill>
                      <a:srgbClr val="FFFFFF"/>
                    </a:solidFill>
                  </a:tcPr>
                </a:tc>
                <a:tc>
                  <a:txBody>
                    <a:bodyPr/>
                    <a:lstStyle/>
                    <a:p>
                      <a:r>
                        <a:rPr sz="1050" b="0">
                          <a:solidFill>
                            <a:srgbClr val="14181C"/>
                          </a:solidFill>
                          <a:latin typeface="Courier New"/>
                        </a:rPr>
                        <a:t>6fc021f8-f023-4d28-…</a:t>
                      </a:r>
                    </a:p>
                  </a:txBody>
                  <a:tcPr marL="73152" marR="73152" marT="18288" marB="18288" anchor="ctr">
                    <a:solidFill>
                      <a:srgbClr val="FFFFFF"/>
                    </a:solidFill>
                  </a:tcPr>
                </a:tc>
              </a:tr>
              <a:tr h="320040">
                <a:tc>
                  <a:txBody>
                    <a:bodyPr/>
                    <a:lstStyle/>
                    <a:p>
                      <a:r>
                        <a:rPr sz="1050" b="0">
                          <a:solidFill>
                            <a:srgbClr val="14181C"/>
                          </a:solidFill>
                          <a:latin typeface="Arial"/>
                        </a:rPr>
                        <a:t>Patient</a:t>
                      </a:r>
                    </a:p>
                  </a:txBody>
                  <a:tcPr marL="73152" marR="73152" marT="18288" marB="18288" anchor="ctr">
                    <a:solidFill>
                      <a:srgbClr val="E8F1FA"/>
                    </a:solidFill>
                  </a:tcPr>
                </a:tc>
                <a:tc>
                  <a:txBody>
                    <a:bodyPr/>
                    <a:lstStyle/>
                    <a:p>
                      <a:r>
                        <a:rPr sz="1050" b="0">
                          <a:solidFill>
                            <a:srgbClr val="14181C"/>
                          </a:solidFill>
                          <a:latin typeface="Arial"/>
                        </a:rPr>
                        <a:t>Sita Kumar</a:t>
                      </a:r>
                    </a:p>
                  </a:txBody>
                  <a:tcPr marL="73152" marR="73152" marT="18288" marB="18288" anchor="ctr">
                    <a:solidFill>
                      <a:srgbClr val="E8F1FA"/>
                    </a:solidFill>
                  </a:tcPr>
                </a:tc>
                <a:tc>
                  <a:txBody>
                    <a:bodyPr/>
                    <a:lstStyle/>
                    <a:p>
                      <a:r>
                        <a:rPr sz="1050" b="0">
                          <a:solidFill>
                            <a:srgbClr val="14181C"/>
                          </a:solidFill>
                          <a:latin typeface="Arial"/>
                        </a:rPr>
                        <a:t>68</a:t>
                      </a:r>
                    </a:p>
                  </a:txBody>
                  <a:tcPr marL="73152" marR="73152" marT="18288" marB="18288" anchor="ctr">
                    <a:solidFill>
                      <a:srgbClr val="E8F1FA"/>
                    </a:solidFill>
                  </a:tcPr>
                </a:tc>
                <a:tc>
                  <a:txBody>
                    <a:bodyPr/>
                    <a:lstStyle/>
                    <a:p>
                      <a:r>
                        <a:rPr sz="1050" b="0">
                          <a:solidFill>
                            <a:srgbClr val="14181C"/>
                          </a:solidFill>
                          <a:latin typeface="Courier New"/>
                        </a:rPr>
                        <a:t>e27087d2-3ec2-4513-…</a:t>
                      </a:r>
                    </a:p>
                  </a:txBody>
                  <a:tcPr marL="73152" marR="73152" marT="18288" marB="18288" anchor="ctr">
                    <a:solidFill>
                      <a:srgbClr val="E8F1FA"/>
                    </a:solidFill>
                  </a:tcPr>
                </a:tc>
              </a:tr>
              <a:tr h="320040">
                <a:tc>
                  <a:txBody>
                    <a:bodyPr/>
                    <a:lstStyle/>
                    <a:p>
                      <a:r>
                        <a:rPr sz="1050" b="0">
                          <a:solidFill>
                            <a:srgbClr val="14181C"/>
                          </a:solidFill>
                          <a:latin typeface="Arial"/>
                        </a:rPr>
                        <a:t>Son</a:t>
                      </a:r>
                    </a:p>
                  </a:txBody>
                  <a:tcPr marL="73152" marR="73152" marT="18288" marB="18288" anchor="ctr">
                    <a:solidFill>
                      <a:srgbClr val="FFFFFF"/>
                    </a:solidFill>
                  </a:tcPr>
                </a:tc>
                <a:tc>
                  <a:txBody>
                    <a:bodyPr/>
                    <a:lstStyle/>
                    <a:p>
                      <a:r>
                        <a:rPr sz="1050" b="0">
                          <a:solidFill>
                            <a:srgbClr val="14181C"/>
                          </a:solidFill>
                          <a:latin typeface="Arial"/>
                        </a:rPr>
                        <a:t>Ravi</a:t>
                      </a:r>
                    </a:p>
                  </a:txBody>
                  <a:tcPr marL="73152" marR="73152" marT="18288" marB="18288" anchor="ctr">
                    <a:solidFill>
                      <a:srgbClr val="FFFFFF"/>
                    </a:solidFill>
                  </a:tcPr>
                </a:tc>
                <a:tc>
                  <a:txBody>
                    <a:bodyPr/>
                    <a:lstStyle/>
                    <a:p>
                      <a:r>
                        <a:rPr sz="1050" b="0">
                          <a:solidFill>
                            <a:srgbClr val="14181C"/>
                          </a:solidFill>
                          <a:latin typeface="Arial"/>
                        </a:rPr>
                        <a:t>12</a:t>
                      </a:r>
                    </a:p>
                  </a:txBody>
                  <a:tcPr marL="73152" marR="73152" marT="18288" marB="18288" anchor="ctr">
                    <a:solidFill>
                      <a:srgbClr val="FFFFFF"/>
                    </a:solidFill>
                  </a:tcPr>
                </a:tc>
                <a:tc>
                  <a:txBody>
                    <a:bodyPr/>
                    <a:lstStyle/>
                    <a:p>
                      <a:r>
                        <a:rPr sz="1050" b="0">
                          <a:solidFill>
                            <a:srgbClr val="14181C"/>
                          </a:solidFill>
                          <a:latin typeface="Courier New"/>
                        </a:rPr>
                        <a:t>02bc3da4-956e-415f-…</a:t>
                      </a:r>
                    </a:p>
                  </a:txBody>
                  <a:tcPr marL="73152" marR="73152" marT="18288" marB="18288" anchor="ctr">
                    <a:solidFill>
                      <a:srgbClr val="FFFFFF"/>
                    </a:solidFill>
                  </a:tcPr>
                </a:tc>
              </a:tr>
              <a:tr h="320040">
                <a:tc>
                  <a:txBody>
                    <a:bodyPr/>
                    <a:lstStyle/>
                    <a:p>
                      <a:r>
                        <a:rPr sz="1050" b="0">
                          <a:solidFill>
                            <a:srgbClr val="14181C"/>
                          </a:solidFill>
                          <a:latin typeface="Arial"/>
                        </a:rPr>
                        <a:t>Son</a:t>
                      </a:r>
                    </a:p>
                  </a:txBody>
                  <a:tcPr marL="73152" marR="73152" marT="18288" marB="18288" anchor="ctr">
                    <a:solidFill>
                      <a:srgbClr val="E8F1FA"/>
                    </a:solidFill>
                  </a:tcPr>
                </a:tc>
                <a:tc>
                  <a:txBody>
                    <a:bodyPr/>
                    <a:lstStyle/>
                    <a:p>
                      <a:r>
                        <a:rPr sz="1050" b="0">
                          <a:solidFill>
                            <a:srgbClr val="14181C"/>
                          </a:solidFill>
                          <a:latin typeface="Arial"/>
                        </a:rPr>
                        <a:t>Ravi</a:t>
                      </a:r>
                    </a:p>
                  </a:txBody>
                  <a:tcPr marL="73152" marR="73152" marT="18288" marB="18288" anchor="ctr">
                    <a:solidFill>
                      <a:srgbClr val="E8F1FA"/>
                    </a:solidFill>
                  </a:tcPr>
                </a:tc>
                <a:tc>
                  <a:txBody>
                    <a:bodyPr/>
                    <a:lstStyle/>
                    <a:p>
                      <a:r>
                        <a:rPr sz="1050" b="0">
                          <a:solidFill>
                            <a:srgbClr val="14181C"/>
                          </a:solidFill>
                          <a:latin typeface="Arial"/>
                        </a:rPr>
                        <a:t>9</a:t>
                      </a:r>
                    </a:p>
                  </a:txBody>
                  <a:tcPr marL="73152" marR="73152" marT="18288" marB="18288" anchor="ctr">
                    <a:solidFill>
                      <a:srgbClr val="E8F1FA"/>
                    </a:solidFill>
                  </a:tcPr>
                </a:tc>
                <a:tc>
                  <a:txBody>
                    <a:bodyPr/>
                    <a:lstStyle/>
                    <a:p>
                      <a:r>
                        <a:rPr sz="1050" b="0">
                          <a:solidFill>
                            <a:srgbClr val="14181C"/>
                          </a:solidFill>
                          <a:latin typeface="Courier New"/>
                        </a:rPr>
                        <a:t>a0ba8257-2790-44dd-…</a:t>
                      </a:r>
                    </a:p>
                  </a:txBody>
                  <a:tcPr marL="73152" marR="73152" marT="18288" marB="18288" anchor="ctr">
                    <a:solidFill>
                      <a:srgbClr val="E8F1FA"/>
                    </a:solidFill>
                  </a:tcPr>
                </a:tc>
              </a:tr>
            </a:tbl>
          </a:graphicData>
        </a:graphic>
      </p:graphicFrame>
      <p:sp>
        <p:nvSpPr>
          <p:cNvPr id="10" name="TextBox 9"/>
          <p:cNvSpPr txBox="1"/>
          <p:nvPr/>
        </p:nvSpPr>
        <p:spPr>
          <a:xfrm>
            <a:off x="822960" y="4160520"/>
            <a:ext cx="4937760" cy="2011680"/>
          </a:xfrm>
          <a:prstGeom prst="rect">
            <a:avLst/>
          </a:prstGeom>
          <a:noFill/>
        </p:spPr>
        <p:txBody>
          <a:bodyPr wrap="square" lIns="0" rIns="0" tIns="0" bIns="0">
            <a:spAutoFit/>
          </a:bodyPr>
          <a:lstStyle/>
          <a:p>
            <a:pPr>
              <a:lnSpc>
                <a:spcPct val="112000"/>
              </a:lnSpc>
              <a:spcAft>
                <a:spcPts val="500"/>
              </a:spcAft>
            </a:pPr>
            <a:r>
              <a:rPr sz="1100" b="1">
                <a:solidFill>
                  <a:srgbClr val="005EB8"/>
                </a:solidFill>
                <a:latin typeface="Arial"/>
              </a:rPr>
              <a:t>•  </a:t>
            </a:r>
            <a:r>
              <a:rPr sz="1100" b="1">
                <a:solidFill>
                  <a:srgbClr val="14181C"/>
                </a:solidFill>
                <a:latin typeface="Arial"/>
              </a:rPr>
              <a:t>Start asks for </a:t>
            </a:r>
            <a:r>
              <a:rPr sz="1100">
                <a:solidFill>
                  <a:srgbClr val="2B3138"/>
                </a:solidFill>
                <a:latin typeface="Arial"/>
              </a:rPr>
              <a:t>your name and age, the patient’s, the name on the policy, and any number of husband, wife, children or parents (+ Add).</a:t>
            </a:r>
          </a:p>
          <a:p>
            <a:pPr>
              <a:lnSpc>
                <a:spcPct val="112000"/>
              </a:lnSpc>
              <a:spcAft>
                <a:spcPts val="500"/>
              </a:spcAft>
            </a:pPr>
            <a:r>
              <a:rPr sz="1100" b="1">
                <a:solidFill>
                  <a:srgbClr val="005EB8"/>
                </a:solidFill>
                <a:latin typeface="Arial"/>
              </a:rPr>
              <a:t>•  </a:t>
            </a:r>
            <a:r>
              <a:rPr sz="1100" b="1">
                <a:solidFill>
                  <a:srgbClr val="14181C"/>
                </a:solidFill>
                <a:latin typeface="Arial"/>
              </a:rPr>
              <a:t>On save, </a:t>
            </a:r>
            <a:r>
              <a:rPr sz="1100">
                <a:solidFill>
                  <a:srgbClr val="2B3138"/>
                </a:solidFill>
                <a:latin typeface="Arial"/>
              </a:rPr>
              <a:t>the server gives every person a UUID and keeps it on every later save. A copied or repeated ID is replaced, never shared.</a:t>
            </a:r>
          </a:p>
          <a:p>
            <a:pPr>
              <a:lnSpc>
                <a:spcPct val="112000"/>
              </a:lnSpc>
              <a:spcAft>
                <a:spcPts val="500"/>
              </a:spcAft>
            </a:pPr>
            <a:r>
              <a:rPr sz="1100" b="1">
                <a:solidFill>
                  <a:srgbClr val="005EB8"/>
                </a:solidFill>
                <a:latin typeface="Arial"/>
              </a:rPr>
              <a:t>•  </a:t>
            </a:r>
            <a:r>
              <a:rPr sz="1100" b="1">
                <a:solidFill>
                  <a:srgbClr val="14181C"/>
                </a:solidFill>
                <a:latin typeface="Arial"/>
              </a:rPr>
              <a:t>Shown in </a:t>
            </a:r>
            <a:r>
              <a:rPr sz="1100">
                <a:solidFill>
                  <a:srgbClr val="2B3138"/>
                </a:solidFill>
                <a:latin typeface="Arial"/>
              </a:rPr>
              <a:t>Profile → My family and in the team’s Database, searchable by ID.</a:t>
            </a:r>
          </a:p>
        </p:txBody>
      </p:sp>
      <p:sp>
        <p:nvSpPr>
          <p:cNvPr id="11" name="Rounded Rectangle 10"/>
          <p:cNvSpPr/>
          <p:nvPr/>
        </p:nvSpPr>
        <p:spPr>
          <a:xfrm>
            <a:off x="6199632" y="1417320"/>
            <a:ext cx="5440680" cy="48006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3952" y="1572768"/>
            <a:ext cx="493776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HEALTH REPORT  →  PLAN</a:t>
            </a:r>
          </a:p>
        </p:txBody>
      </p:sp>
      <p:sp>
        <p:nvSpPr>
          <p:cNvPr id="13" name="TextBox 12"/>
          <p:cNvSpPr txBox="1"/>
          <p:nvPr/>
        </p:nvSpPr>
        <p:spPr>
          <a:xfrm>
            <a:off x="6473952" y="1847088"/>
            <a:ext cx="4937760" cy="411480"/>
          </a:xfrm>
          <a:prstGeom prst="rect">
            <a:avLst/>
          </a:prstGeom>
          <a:noFill/>
        </p:spPr>
        <p:txBody>
          <a:bodyPr wrap="square" lIns="0" rIns="0" tIns="0" bIns="0" anchor="t">
            <a:spAutoFit/>
          </a:bodyPr>
          <a:lstStyle/>
          <a:p>
            <a:pPr algn="l">
              <a:spcBef>
                <a:spcPts val="0"/>
              </a:spcBef>
              <a:spcAft>
                <a:spcPts val="0"/>
              </a:spcAft>
            </a:pPr>
            <a:r>
              <a:rPr sz="1700" b="1" i="0">
                <a:solidFill>
                  <a:srgbClr val="14181C"/>
                </a:solidFill>
                <a:latin typeface="Rockwell"/>
              </a:rPr>
              <a:t>Upload the report, see where and what</a:t>
            </a:r>
          </a:p>
        </p:txBody>
      </p:sp>
      <p:sp>
        <p:nvSpPr>
          <p:cNvPr id="14" name="Oval 13"/>
          <p:cNvSpPr/>
          <p:nvPr/>
        </p:nvSpPr>
        <p:spPr>
          <a:xfrm>
            <a:off x="6473952" y="2377440"/>
            <a:ext cx="329184" cy="32918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Rockwell"/>
              </a:rPr>
              <a:t>1</a:t>
            </a:r>
          </a:p>
        </p:txBody>
      </p:sp>
      <p:sp>
        <p:nvSpPr>
          <p:cNvPr id="15" name="TextBox 14"/>
          <p:cNvSpPr txBox="1"/>
          <p:nvPr/>
        </p:nvSpPr>
        <p:spPr>
          <a:xfrm>
            <a:off x="6949440" y="2359152"/>
            <a:ext cx="4526280" cy="566928"/>
          </a:xfrm>
          <a:prstGeom prst="rect">
            <a:avLst/>
          </a:prstGeom>
          <a:noFill/>
        </p:spPr>
        <p:txBody>
          <a:bodyPr wrap="square" lIns="0" rIns="0" tIns="0" bIns="0" anchor="t">
            <a:spAutoFit/>
          </a:bodyPr>
          <a:lstStyle/>
          <a:p>
            <a:pPr algn="l">
              <a:lnSpc>
                <a:spcPct val="115000"/>
              </a:lnSpc>
              <a:spcBef>
                <a:spcPts val="0"/>
              </a:spcBef>
              <a:spcAft>
                <a:spcPts val="0"/>
              </a:spcAft>
            </a:pPr>
            <a:r>
              <a:rPr sz="1150" b="1" i="0">
                <a:solidFill>
                  <a:srgbClr val="14181C"/>
                </a:solidFill>
                <a:latin typeface="Arial"/>
              </a:rPr>
              <a:t>Upload  </a:t>
            </a:r>
            <a:r>
              <a:rPr sz="1050" b="0" i="0">
                <a:solidFill>
                  <a:srgbClr val="2B3138"/>
                </a:solidFill>
                <a:latin typeface="Arial"/>
              </a:rPr>
              <a:t>a PDF or a photo, or type it. Read once and not kept.</a:t>
            </a:r>
          </a:p>
        </p:txBody>
      </p:sp>
      <p:sp>
        <p:nvSpPr>
          <p:cNvPr id="16" name="Oval 15"/>
          <p:cNvSpPr/>
          <p:nvPr/>
        </p:nvSpPr>
        <p:spPr>
          <a:xfrm>
            <a:off x="6473952" y="2980944"/>
            <a:ext cx="329184" cy="32918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Rockwell"/>
              </a:rPr>
              <a:t>2</a:t>
            </a:r>
          </a:p>
        </p:txBody>
      </p:sp>
      <p:sp>
        <p:nvSpPr>
          <p:cNvPr id="17" name="TextBox 16"/>
          <p:cNvSpPr txBox="1"/>
          <p:nvPr/>
        </p:nvSpPr>
        <p:spPr>
          <a:xfrm>
            <a:off x="6949440" y="2962656"/>
            <a:ext cx="4526280" cy="566928"/>
          </a:xfrm>
          <a:prstGeom prst="rect">
            <a:avLst/>
          </a:prstGeom>
          <a:noFill/>
        </p:spPr>
        <p:txBody>
          <a:bodyPr wrap="square" lIns="0" rIns="0" tIns="0" bIns="0" anchor="t">
            <a:spAutoFit/>
          </a:bodyPr>
          <a:lstStyle/>
          <a:p>
            <a:pPr algn="l">
              <a:lnSpc>
                <a:spcPct val="115000"/>
              </a:lnSpc>
              <a:spcBef>
                <a:spcPts val="0"/>
              </a:spcBef>
              <a:spcAft>
                <a:spcPts val="0"/>
              </a:spcAft>
            </a:pPr>
            <a:r>
              <a:rPr sz="1150" b="1" i="0">
                <a:solidFill>
                  <a:srgbClr val="14181C"/>
                </a:solidFill>
                <a:latin typeface="Arial"/>
              </a:rPr>
              <a:t>Read and checked  </a:t>
            </a:r>
            <a:r>
              <a:rPr sz="1050" b="0" i="0">
                <a:solidFill>
                  <a:srgbClr val="2B3138"/>
                </a:solidFill>
                <a:latin typeface="Arial"/>
              </a:rPr>
              <a:t>Each test, the diagnosis and the surgery are quoted from the report, and each quote is looked for in it.</a:t>
            </a:r>
          </a:p>
        </p:txBody>
      </p:sp>
      <p:sp>
        <p:nvSpPr>
          <p:cNvPr id="18" name="Oval 17"/>
          <p:cNvSpPr/>
          <p:nvPr/>
        </p:nvSpPr>
        <p:spPr>
          <a:xfrm>
            <a:off x="6473952" y="3584448"/>
            <a:ext cx="329184" cy="32918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Rockwell"/>
              </a:rPr>
              <a:t>3</a:t>
            </a:r>
          </a:p>
        </p:txBody>
      </p:sp>
      <p:sp>
        <p:nvSpPr>
          <p:cNvPr id="19" name="TextBox 18"/>
          <p:cNvSpPr txBox="1"/>
          <p:nvPr/>
        </p:nvSpPr>
        <p:spPr>
          <a:xfrm>
            <a:off x="6949440" y="3566160"/>
            <a:ext cx="4526280" cy="566928"/>
          </a:xfrm>
          <a:prstGeom prst="rect">
            <a:avLst/>
          </a:prstGeom>
          <a:noFill/>
        </p:spPr>
        <p:txBody>
          <a:bodyPr wrap="square" lIns="0" rIns="0" tIns="0" bIns="0" anchor="t">
            <a:spAutoFit/>
          </a:bodyPr>
          <a:lstStyle/>
          <a:p>
            <a:pPr algn="l">
              <a:lnSpc>
                <a:spcPct val="115000"/>
              </a:lnSpc>
              <a:spcBef>
                <a:spcPts val="0"/>
              </a:spcBef>
              <a:spcAft>
                <a:spcPts val="0"/>
              </a:spcAft>
            </a:pPr>
            <a:r>
              <a:rPr sz="1150" b="1" i="0">
                <a:solidFill>
                  <a:srgbClr val="14181C"/>
                </a:solidFill>
                <a:latin typeface="Arial"/>
              </a:rPr>
              <a:t>Matched to public rates  </a:t>
            </a:r>
            <a:r>
              <a:rPr sz="1050" b="0" i="0">
                <a:solidFill>
                  <a:srgbClr val="2B3138"/>
                </a:solidFill>
                <a:latin typeface="Arial"/>
              </a:rPr>
              <a:t>Scans to CGHS test codes, surgery to the PM-JAY package. You confirm or fix first.</a:t>
            </a:r>
          </a:p>
        </p:txBody>
      </p:sp>
      <p:sp>
        <p:nvSpPr>
          <p:cNvPr id="20" name="Oval 19"/>
          <p:cNvSpPr/>
          <p:nvPr/>
        </p:nvSpPr>
        <p:spPr>
          <a:xfrm>
            <a:off x="6473952" y="4187952"/>
            <a:ext cx="329184" cy="32918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Rockwell"/>
              </a:rPr>
              <a:t>4</a:t>
            </a:r>
          </a:p>
        </p:txBody>
      </p:sp>
      <p:sp>
        <p:nvSpPr>
          <p:cNvPr id="21" name="TextBox 20"/>
          <p:cNvSpPr txBox="1"/>
          <p:nvPr/>
        </p:nvSpPr>
        <p:spPr>
          <a:xfrm>
            <a:off x="6949440" y="4169664"/>
            <a:ext cx="4526280" cy="566928"/>
          </a:xfrm>
          <a:prstGeom prst="rect">
            <a:avLst/>
          </a:prstGeom>
          <a:noFill/>
        </p:spPr>
        <p:txBody>
          <a:bodyPr wrap="square" lIns="0" rIns="0" tIns="0" bIns="0" anchor="t">
            <a:spAutoFit/>
          </a:bodyPr>
          <a:lstStyle/>
          <a:p>
            <a:pPr algn="l">
              <a:lnSpc>
                <a:spcPct val="115000"/>
              </a:lnSpc>
              <a:spcBef>
                <a:spcPts val="0"/>
              </a:spcBef>
              <a:spcAft>
                <a:spcPts val="0"/>
              </a:spcAft>
            </a:pPr>
            <a:r>
              <a:rPr sz="1150" b="1" i="0">
                <a:solidFill>
                  <a:srgbClr val="14181C"/>
                </a:solidFill>
                <a:latin typeface="Arial"/>
              </a:rPr>
              <a:t>A plan on the path  </a:t>
            </a:r>
            <a:r>
              <a:rPr sz="1050" b="0" i="0">
                <a:solidFill>
                  <a:srgbClr val="2B3138"/>
                </a:solidFill>
                <a:latin typeface="Arial"/>
              </a:rPr>
              <a:t>The cheapest hospital for everything, each scan at every hospital, and who pays: your plan, PM-JAY, CGHS, ESI or you.</a:t>
            </a:r>
          </a:p>
        </p:txBody>
      </p:sp>
      <p:sp>
        <p:nvSpPr>
          <p:cNvPr id="22" name="Rounded Rectangle 21"/>
          <p:cNvSpPr/>
          <p:nvPr/>
        </p:nvSpPr>
        <p:spPr>
          <a:xfrm>
            <a:off x="6473952" y="4873752"/>
            <a:ext cx="4910328" cy="1188720"/>
          </a:xfrm>
          <a:prstGeom prst="roundRect">
            <a:avLst>
              <a:gd name="adj" fmla="val 8000"/>
            </a:avLst>
          </a:prstGeom>
          <a:solidFill>
            <a:srgbClr val="007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4937760"/>
            <a:ext cx="4572000" cy="1078992"/>
          </a:xfrm>
          <a:prstGeom prst="rect">
            <a:avLst/>
          </a:prstGeom>
          <a:noFill/>
        </p:spPr>
        <p:txBody>
          <a:bodyPr wrap="square" lIns="0" rIns="0" tIns="0" bIns="0" anchor="ctr">
            <a:spAutoFit/>
          </a:bodyPr>
          <a:lstStyle/>
          <a:p>
            <a:pPr algn="l">
              <a:spcBef>
                <a:spcPts val="0"/>
              </a:spcBef>
              <a:spcAft>
                <a:spcPts val="300"/>
              </a:spcAft>
            </a:pPr>
            <a:r>
              <a:rPr sz="1050" b="1" i="0">
                <a:solidFill>
                  <a:srgbClr val="FFFFFF"/>
                </a:solidFill>
                <a:latin typeface="Arial"/>
              </a:rPr>
              <a:t>Example: broken ankle, patient 68, Health Shield Classic</a:t>
            </a:r>
          </a:p>
          <a:p>
            <a:pPr algn="l">
              <a:spcBef>
                <a:spcPts val="0"/>
              </a:spcBef>
              <a:spcAft>
                <a:spcPts val="400"/>
              </a:spcAft>
            </a:pPr>
            <a:r>
              <a:rPr sz="1000" b="0" i="0">
                <a:solidFill>
                  <a:srgbClr val="FFFFFF"/>
                </a:solidFill>
                <a:latin typeface="Arial"/>
              </a:rPr>
              <a:t>X-ray, MRI, blood tests, ECG + ankle fixation (ORIF)</a:t>
            </a:r>
          </a:p>
          <a:p>
            <a:pPr algn="l">
              <a:spcBef>
                <a:spcPts val="0"/>
              </a:spcBef>
              <a:spcAft>
                <a:spcPts val="0"/>
              </a:spcAft>
            </a:pPr>
            <a:r>
              <a:rPr sz="1200" b="1" i="0">
                <a:solidFill>
                  <a:srgbClr val="FFFFFF"/>
                </a:solidFill>
                <a:latin typeface="Arial"/>
              </a:rPr>
              <a:t>Navjeevan, Rewa  </a:t>
            </a:r>
            <a:r>
              <a:rPr sz="1700" b="1" i="0">
                <a:solidFill>
                  <a:srgbClr val="FFFFFF"/>
                </a:solidFill>
                <a:latin typeface="Rockwell"/>
              </a:rPr>
              <a:t>about ₹9,300 in all</a:t>
            </a:r>
            <a:r>
              <a:rPr sz="1100" b="0" i="0">
                <a:solidFill>
                  <a:srgbClr val="FFFFFF"/>
                </a:solidFill>
                <a:latin typeface="Arial"/>
              </a:rPr>
              <a:t>   vs ₹53,600 at Meridian, Delhi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6</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The AI inside: what reads, what answers, what checks</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Language models read and explain. They never work out a rupee.</a:t>
            </a:r>
          </a:p>
        </p:txBody>
      </p:sp>
      <p:sp>
        <p:nvSpPr>
          <p:cNvPr id="6" name="Rounded Rectangle 5"/>
          <p:cNvSpPr/>
          <p:nvPr/>
        </p:nvSpPr>
        <p:spPr>
          <a:xfrm>
            <a:off x="548640" y="1389888"/>
            <a:ext cx="3566160" cy="3977639"/>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36192"/>
            <a:ext cx="3154680" cy="256032"/>
          </a:xfrm>
          <a:prstGeom prst="rect">
            <a:avLst/>
          </a:prstGeom>
          <a:noFill/>
        </p:spPr>
        <p:txBody>
          <a:bodyPr wrap="square" lIns="0" rIns="0" tIns="0" bIns="0" anchor="t">
            <a:spAutoFit/>
          </a:bodyPr>
          <a:lstStyle/>
          <a:p>
            <a:pPr algn="l">
              <a:spcBef>
                <a:spcPts val="0"/>
              </a:spcBef>
              <a:spcAft>
                <a:spcPts val="0"/>
              </a:spcAft>
            </a:pPr>
            <a:r>
              <a:rPr sz="1050" b="1" i="0">
                <a:solidFill>
                  <a:srgbClr val="005EB8"/>
                </a:solidFill>
                <a:latin typeface="Arial"/>
              </a:rPr>
              <a:t>READING YOUR POLICY PDF</a:t>
            </a:r>
          </a:p>
        </p:txBody>
      </p:sp>
      <p:sp>
        <p:nvSpPr>
          <p:cNvPr id="8" name="Rounded Rectangle 7"/>
          <p:cNvSpPr/>
          <p:nvPr/>
        </p:nvSpPr>
        <p:spPr>
          <a:xfrm>
            <a:off x="777240" y="1828800"/>
            <a:ext cx="3108960" cy="566928"/>
          </a:xfrm>
          <a:prstGeom prst="roundRect">
            <a:avLst>
              <a:gd name="adj" fmla="val 18000"/>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28800"/>
            <a:ext cx="2926080" cy="566928"/>
          </a:xfrm>
          <a:prstGeom prst="rect">
            <a:avLst/>
          </a:prstGeom>
          <a:noFill/>
        </p:spPr>
        <p:txBody>
          <a:bodyPr wrap="square" lIns="0" rIns="0" tIns="0" bIns="0" anchor="ctr">
            <a:spAutoFit/>
          </a:bodyPr>
          <a:lstStyle/>
          <a:p>
            <a:pPr algn="ctr">
              <a:spcBef>
                <a:spcPts val="0"/>
              </a:spcBef>
              <a:spcAft>
                <a:spcPts val="0"/>
              </a:spcAft>
            </a:pPr>
            <a:r>
              <a:rPr sz="1250" b="1" i="0">
                <a:solidFill>
                  <a:srgbClr val="FFFFFF"/>
                </a:solidFill>
                <a:latin typeface="Arial"/>
              </a:rPr>
              <a:t>Gemini 2.5 Pro on Vertex AI</a:t>
            </a:r>
          </a:p>
          <a:p>
            <a:pPr algn="ctr">
              <a:spcBef>
                <a:spcPts val="0"/>
              </a:spcBef>
              <a:spcAft>
                <a:spcPts val="0"/>
              </a:spcAft>
            </a:pPr>
            <a:r>
              <a:rPr sz="900" b="0" i="0">
                <a:solidFill>
                  <a:srgbClr val="C4DCEF"/>
                </a:solidFill>
                <a:latin typeface="Arial"/>
              </a:rPr>
              <a:t>fallback: Groq gpt-oss-120b · Llama 3.3 70B</a:t>
            </a:r>
          </a:p>
        </p:txBody>
      </p:sp>
      <p:sp>
        <p:nvSpPr>
          <p:cNvPr id="10" name="TextBox 9"/>
          <p:cNvSpPr txBox="1"/>
          <p:nvPr/>
        </p:nvSpPr>
        <p:spPr>
          <a:xfrm>
            <a:off x="777240" y="25603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GETS</a:t>
            </a:r>
          </a:p>
        </p:txBody>
      </p:sp>
      <p:sp>
        <p:nvSpPr>
          <p:cNvPr id="11" name="TextBox 10"/>
          <p:cNvSpPr txBox="1"/>
          <p:nvPr/>
        </p:nvSpPr>
        <p:spPr>
          <a:xfrm>
            <a:off x="777240" y="27797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the PDF, the passages a TF-IDF search finds for each detail, and past corrections (only if the family agreed)</a:t>
            </a:r>
          </a:p>
        </p:txBody>
      </p:sp>
      <p:sp>
        <p:nvSpPr>
          <p:cNvPr id="12" name="TextBox 11"/>
          <p:cNvSpPr txBox="1"/>
          <p:nvPr/>
        </p:nvSpPr>
        <p:spPr>
          <a:xfrm>
            <a:off x="777240" y="34747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GIVES BACK</a:t>
            </a:r>
          </a:p>
        </p:txBody>
      </p:sp>
      <p:sp>
        <p:nvSpPr>
          <p:cNvPr id="13" name="TextBox 12"/>
          <p:cNvSpPr txBox="1"/>
          <p:nvPr/>
        </p:nvSpPr>
        <p:spPr>
          <a:xfrm>
            <a:off x="777240" y="36941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17 policy details, each with the sentence and page it came from</a:t>
            </a:r>
          </a:p>
        </p:txBody>
      </p:sp>
      <p:sp>
        <p:nvSpPr>
          <p:cNvPr id="14" name="TextBox 13"/>
          <p:cNvSpPr txBox="1"/>
          <p:nvPr/>
        </p:nvSpPr>
        <p:spPr>
          <a:xfrm>
            <a:off x="777240" y="43891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007A4D"/>
                </a:solidFill>
                <a:latin typeface="Arial"/>
              </a:rPr>
              <a:t>CHECKED BY CODE</a:t>
            </a:r>
          </a:p>
        </p:txBody>
      </p:sp>
      <p:sp>
        <p:nvSpPr>
          <p:cNvPr id="15" name="TextBox 14"/>
          <p:cNvSpPr txBox="1"/>
          <p:nvPr/>
        </p:nvSpPr>
        <p:spPr>
          <a:xfrm>
            <a:off x="777240" y="46085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each quote is searched in the PDF’s own text; the family confirms every detail before it is used</a:t>
            </a:r>
          </a:p>
        </p:txBody>
      </p:sp>
      <p:sp>
        <p:nvSpPr>
          <p:cNvPr id="16" name="Rounded Rectangle 15"/>
          <p:cNvSpPr/>
          <p:nvPr/>
        </p:nvSpPr>
        <p:spPr>
          <a:xfrm>
            <a:off x="4315968" y="1389888"/>
            <a:ext cx="3566160" cy="3977639"/>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4568" y="1536192"/>
            <a:ext cx="3154680" cy="256032"/>
          </a:xfrm>
          <a:prstGeom prst="rect">
            <a:avLst/>
          </a:prstGeom>
          <a:noFill/>
        </p:spPr>
        <p:txBody>
          <a:bodyPr wrap="square" lIns="0" rIns="0" tIns="0" bIns="0" anchor="t">
            <a:spAutoFit/>
          </a:bodyPr>
          <a:lstStyle/>
          <a:p>
            <a:pPr algn="l">
              <a:spcBef>
                <a:spcPts val="0"/>
              </a:spcBef>
              <a:spcAft>
                <a:spcPts val="0"/>
              </a:spcAft>
            </a:pPr>
            <a:r>
              <a:rPr sz="1050" b="1" i="0">
                <a:solidFill>
                  <a:srgbClr val="005EB8"/>
                </a:solidFill>
                <a:latin typeface="Arial"/>
              </a:rPr>
              <a:t>ASK CLAIMCAST  (CHAT)</a:t>
            </a:r>
          </a:p>
        </p:txBody>
      </p:sp>
      <p:sp>
        <p:nvSpPr>
          <p:cNvPr id="18" name="Rounded Rectangle 17"/>
          <p:cNvSpPr/>
          <p:nvPr/>
        </p:nvSpPr>
        <p:spPr>
          <a:xfrm>
            <a:off x="4544568" y="1828800"/>
            <a:ext cx="3108960" cy="566928"/>
          </a:xfrm>
          <a:prstGeom prst="roundRect">
            <a:avLst>
              <a:gd name="adj" fmla="val 18000"/>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6007" y="1828800"/>
            <a:ext cx="2926080" cy="566928"/>
          </a:xfrm>
          <a:prstGeom prst="rect">
            <a:avLst/>
          </a:prstGeom>
          <a:noFill/>
        </p:spPr>
        <p:txBody>
          <a:bodyPr wrap="square" lIns="0" rIns="0" tIns="0" bIns="0" anchor="ctr">
            <a:spAutoFit/>
          </a:bodyPr>
          <a:lstStyle/>
          <a:p>
            <a:pPr algn="ctr">
              <a:spcBef>
                <a:spcPts val="0"/>
              </a:spcBef>
              <a:spcAft>
                <a:spcPts val="0"/>
              </a:spcAft>
            </a:pPr>
            <a:r>
              <a:rPr sz="1250" b="1" i="0">
                <a:solidFill>
                  <a:srgbClr val="FFFFFF"/>
                </a:solidFill>
                <a:latin typeface="Arial"/>
              </a:rPr>
              <a:t>Llama 3.3 70B via OpenRouter</a:t>
            </a:r>
          </a:p>
          <a:p>
            <a:pPr algn="ctr">
              <a:spcBef>
                <a:spcPts val="0"/>
              </a:spcBef>
              <a:spcAft>
                <a:spcPts val="0"/>
              </a:spcAft>
            </a:pPr>
            <a:r>
              <a:rPr sz="900" b="0" i="0">
                <a:solidFill>
                  <a:srgbClr val="C4DCEF"/>
                </a:solidFill>
                <a:latin typeface="Arial"/>
              </a:rPr>
              <a:t>English or Hindi answers</a:t>
            </a:r>
          </a:p>
        </p:txBody>
      </p:sp>
      <p:sp>
        <p:nvSpPr>
          <p:cNvPr id="20" name="TextBox 19"/>
          <p:cNvSpPr txBox="1"/>
          <p:nvPr/>
        </p:nvSpPr>
        <p:spPr>
          <a:xfrm>
            <a:off x="4544568" y="25603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GETS</a:t>
            </a:r>
          </a:p>
        </p:txBody>
      </p:sp>
      <p:sp>
        <p:nvSpPr>
          <p:cNvPr id="21" name="TextBox 20"/>
          <p:cNvSpPr txBox="1"/>
          <p:nvPr/>
        </p:nvSpPr>
        <p:spPr>
          <a:xfrm>
            <a:off x="4544568" y="27797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the engine’s numbered facts about this stay, health-report facts, policy passages, and 3 similar past answers</a:t>
            </a:r>
          </a:p>
        </p:txBody>
      </p:sp>
      <p:sp>
        <p:nvSpPr>
          <p:cNvPr id="22" name="TextBox 21"/>
          <p:cNvSpPr txBox="1"/>
          <p:nvPr/>
        </p:nvSpPr>
        <p:spPr>
          <a:xfrm>
            <a:off x="4544568" y="34747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GIVES BACK</a:t>
            </a:r>
          </a:p>
        </p:txBody>
      </p:sp>
      <p:sp>
        <p:nvSpPr>
          <p:cNvPr id="23" name="TextBox 22"/>
          <p:cNvSpPr txBox="1"/>
          <p:nvPr/>
        </p:nvSpPr>
        <p:spPr>
          <a:xfrm>
            <a:off x="4544568" y="36941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a short answer, the facts it used, quotes from the policy</a:t>
            </a:r>
          </a:p>
        </p:txBody>
      </p:sp>
      <p:sp>
        <p:nvSpPr>
          <p:cNvPr id="24" name="TextBox 23"/>
          <p:cNvSpPr txBox="1"/>
          <p:nvPr/>
        </p:nvSpPr>
        <p:spPr>
          <a:xfrm>
            <a:off x="4544568" y="43891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007A4D"/>
                </a:solidFill>
                <a:latin typeface="Arial"/>
              </a:rPr>
              <a:t>CHECKED BY CODE</a:t>
            </a:r>
          </a:p>
        </p:txBody>
      </p:sp>
      <p:sp>
        <p:nvSpPr>
          <p:cNvPr id="25" name="TextBox 24"/>
          <p:cNvSpPr txBox="1"/>
          <p:nvPr/>
        </p:nvSpPr>
        <p:spPr>
          <a:xfrm>
            <a:off x="4544568" y="46085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every ₹ figure must match an engine fact or a checked quote; anything else is flagged on screen</a:t>
            </a:r>
          </a:p>
        </p:txBody>
      </p:sp>
      <p:sp>
        <p:nvSpPr>
          <p:cNvPr id="26" name="Rounded Rectangle 25"/>
          <p:cNvSpPr/>
          <p:nvPr/>
        </p:nvSpPr>
        <p:spPr>
          <a:xfrm>
            <a:off x="8083296" y="1389888"/>
            <a:ext cx="3566160" cy="3977639"/>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11896" y="1536192"/>
            <a:ext cx="3154680" cy="256032"/>
          </a:xfrm>
          <a:prstGeom prst="rect">
            <a:avLst/>
          </a:prstGeom>
          <a:noFill/>
        </p:spPr>
        <p:txBody>
          <a:bodyPr wrap="square" lIns="0" rIns="0" tIns="0" bIns="0" anchor="t">
            <a:spAutoFit/>
          </a:bodyPr>
          <a:lstStyle/>
          <a:p>
            <a:pPr algn="l">
              <a:spcBef>
                <a:spcPts val="0"/>
              </a:spcBef>
              <a:spcAft>
                <a:spcPts val="0"/>
              </a:spcAft>
            </a:pPr>
            <a:r>
              <a:rPr sz="1050" b="1" i="0">
                <a:solidFill>
                  <a:srgbClr val="005EB8"/>
                </a:solidFill>
                <a:latin typeface="Arial"/>
              </a:rPr>
              <a:t>READING A HEALTH REPORT</a:t>
            </a:r>
          </a:p>
        </p:txBody>
      </p:sp>
      <p:sp>
        <p:nvSpPr>
          <p:cNvPr id="28" name="Rounded Rectangle 27"/>
          <p:cNvSpPr/>
          <p:nvPr/>
        </p:nvSpPr>
        <p:spPr>
          <a:xfrm>
            <a:off x="8311896" y="1828800"/>
            <a:ext cx="3108960" cy="566928"/>
          </a:xfrm>
          <a:prstGeom prst="roundRect">
            <a:avLst>
              <a:gd name="adj" fmla="val 18000"/>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6" y="1828800"/>
            <a:ext cx="2926080" cy="566928"/>
          </a:xfrm>
          <a:prstGeom prst="rect">
            <a:avLst/>
          </a:prstGeom>
          <a:noFill/>
        </p:spPr>
        <p:txBody>
          <a:bodyPr wrap="square" lIns="0" rIns="0" tIns="0" bIns="0" anchor="ctr">
            <a:spAutoFit/>
          </a:bodyPr>
          <a:lstStyle/>
          <a:p>
            <a:pPr algn="ctr">
              <a:spcBef>
                <a:spcPts val="0"/>
              </a:spcBef>
              <a:spcAft>
                <a:spcPts val="0"/>
              </a:spcAft>
            </a:pPr>
            <a:r>
              <a:rPr sz="1250" b="1" i="0">
                <a:solidFill>
                  <a:srgbClr val="FFFFFF"/>
                </a:solidFill>
                <a:latin typeface="Arial"/>
              </a:rPr>
              <a:t>Llama 3.3 70B via OpenRouter</a:t>
            </a:r>
          </a:p>
          <a:p>
            <a:pPr algn="ctr">
              <a:spcBef>
                <a:spcPts val="0"/>
              </a:spcBef>
              <a:spcAft>
                <a:spcPts val="0"/>
              </a:spcAft>
            </a:pPr>
            <a:r>
              <a:rPr sz="900" b="0" i="0">
                <a:solidFill>
                  <a:srgbClr val="C4DCEF"/>
                </a:solidFill>
                <a:latin typeface="Arial"/>
              </a:rPr>
              <a:t>photos first transcribed by Gemini 2.5 Flash</a:t>
            </a:r>
          </a:p>
        </p:txBody>
      </p:sp>
      <p:sp>
        <p:nvSpPr>
          <p:cNvPr id="30" name="TextBox 29"/>
          <p:cNvSpPr txBox="1"/>
          <p:nvPr/>
        </p:nvSpPr>
        <p:spPr>
          <a:xfrm>
            <a:off x="8311896" y="25603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GETS</a:t>
            </a:r>
          </a:p>
        </p:txBody>
      </p:sp>
      <p:sp>
        <p:nvSpPr>
          <p:cNvPr id="31" name="TextBox 30"/>
          <p:cNvSpPr txBox="1"/>
          <p:nvPr/>
        </p:nvSpPr>
        <p:spPr>
          <a:xfrm>
            <a:off x="8311896" y="27797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the report’s text: from the PDF, a photo transcription, or typed</a:t>
            </a:r>
          </a:p>
        </p:txBody>
      </p:sp>
      <p:sp>
        <p:nvSpPr>
          <p:cNvPr id="32" name="TextBox 31"/>
          <p:cNvSpPr txBox="1"/>
          <p:nvPr/>
        </p:nvSpPr>
        <p:spPr>
          <a:xfrm>
            <a:off x="8311896" y="34747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GIVES BACK</a:t>
            </a:r>
          </a:p>
        </p:txBody>
      </p:sp>
      <p:sp>
        <p:nvSpPr>
          <p:cNvPr id="33" name="TextBox 32"/>
          <p:cNvSpPr txBox="1"/>
          <p:nvPr/>
        </p:nvSpPr>
        <p:spPr>
          <a:xfrm>
            <a:off x="8311896" y="36941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diagnosis, tests, surgery and medicines, each with a quote</a:t>
            </a:r>
          </a:p>
        </p:txBody>
      </p:sp>
      <p:sp>
        <p:nvSpPr>
          <p:cNvPr id="34" name="TextBox 33"/>
          <p:cNvSpPr txBox="1"/>
          <p:nvPr/>
        </p:nvSpPr>
        <p:spPr>
          <a:xfrm>
            <a:off x="8311896" y="43891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007A4D"/>
                </a:solidFill>
                <a:latin typeface="Arial"/>
              </a:rPr>
              <a:t>CHECKED BY CODE</a:t>
            </a:r>
          </a:p>
        </p:txBody>
      </p:sp>
      <p:sp>
        <p:nvSpPr>
          <p:cNvPr id="35" name="TextBox 34"/>
          <p:cNvSpPr txBox="1"/>
          <p:nvPr/>
        </p:nvSpPr>
        <p:spPr>
          <a:xfrm>
            <a:off x="8311896" y="46085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quotes checked in the report; tests matched to CGHS codes by fixed rules; family confirms; keyword rules if no model</a:t>
            </a:r>
          </a:p>
        </p:txBody>
      </p:sp>
      <p:sp>
        <p:nvSpPr>
          <p:cNvPr id="36" name="Rounded Rectangle 35"/>
          <p:cNvSpPr/>
          <p:nvPr/>
        </p:nvSpPr>
        <p:spPr>
          <a:xfrm>
            <a:off x="548640" y="5513832"/>
            <a:ext cx="11091672" cy="713232"/>
          </a:xfrm>
          <a:prstGeom prst="roundRect">
            <a:avLst>
              <a:gd name="adj" fmla="val 12000"/>
            </a:avLst>
          </a:prstGeom>
          <a:solidFill>
            <a:srgbClr val="14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513832"/>
            <a:ext cx="10607040" cy="713232"/>
          </a:xfrm>
          <a:prstGeom prst="rect">
            <a:avLst/>
          </a:prstGeom>
          <a:noFill/>
        </p:spPr>
        <p:txBody>
          <a:bodyPr wrap="square" lIns="0" rIns="0" tIns="0" bIns="0" anchor="ctr">
            <a:spAutoFit/>
          </a:bodyPr>
          <a:lstStyle/>
          <a:p>
            <a:pPr algn="ctr">
              <a:lnSpc>
                <a:spcPct val="115000"/>
              </a:lnSpc>
              <a:spcBef>
                <a:spcPts val="0"/>
              </a:spcBef>
              <a:spcAft>
                <a:spcPts val="0"/>
              </a:spcAft>
            </a:pPr>
            <a:r>
              <a:rPr sz="1300" b="1" i="0">
                <a:solidFill>
                  <a:srgbClr val="C4DCEF"/>
                </a:solidFill>
                <a:latin typeface="Arial"/>
              </a:rPr>
              <a:t>Not AI, on purpose:  </a:t>
            </a:r>
            <a:r>
              <a:rPr sz="1200" b="0" i="0">
                <a:solidFill>
                  <a:srgbClr val="FFFFFF"/>
                </a:solidFill>
                <a:latin typeface="Arial"/>
              </a:rPr>
              <a:t>the money engine (IRDAI and policy rules, same code in browser and server)  ·  XGBoost bill-range model  ·  the browser’s own speech for voice in and read-aloud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7</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Self-learning, checked on the running system</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Four signals. Three change what the next family sees; one is only counted.</a:t>
            </a:r>
          </a:p>
        </p:txBody>
      </p:sp>
      <p:sp>
        <p:nvSpPr>
          <p:cNvPr id="6" name="Rounded Rectangle 5"/>
          <p:cNvSpPr/>
          <p:nvPr/>
        </p:nvSpPr>
        <p:spPr>
          <a:xfrm>
            <a:off x="548640" y="1371600"/>
            <a:ext cx="5806440" cy="484632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517904"/>
            <a:ext cx="5394960" cy="256032"/>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1 · FINAL BILLS  →  THE BILL ESTIMATOR</a:t>
            </a:r>
          </a:p>
        </p:txBody>
      </p:sp>
      <p:sp>
        <p:nvSpPr>
          <p:cNvPr id="8" name="TextBox 7"/>
          <p:cNvSpPr txBox="1"/>
          <p:nvPr/>
        </p:nvSpPr>
        <p:spPr>
          <a:xfrm>
            <a:off x="804672" y="1792224"/>
            <a:ext cx="5394960" cy="566928"/>
          </a:xfrm>
          <a:prstGeom prst="rect">
            <a:avLst/>
          </a:prstGeom>
          <a:noFill/>
        </p:spPr>
        <p:txBody>
          <a:bodyPr wrap="square" lIns="0" rIns="0" tIns="0" bIns="0" anchor="t">
            <a:spAutoFit/>
          </a:bodyPr>
          <a:lstStyle/>
          <a:p>
            <a:pPr algn="l">
              <a:lnSpc>
                <a:spcPct val="115000"/>
              </a:lnSpc>
              <a:spcBef>
                <a:spcPts val="0"/>
              </a:spcBef>
              <a:spcAft>
                <a:spcPts val="0"/>
              </a:spcAft>
            </a:pPr>
            <a:r>
              <a:rPr sz="1200" b="1" i="0">
                <a:solidFill>
                  <a:srgbClr val="14181C"/>
                </a:solidFill>
                <a:latin typeface="Arial"/>
              </a:rPr>
              <a:t>Live test, 29 Sep 2026: ten ankle-surgery bills reported about 60% above the estimate</a:t>
            </a:r>
          </a:p>
        </p:txBody>
      </p:sp>
      <p:graphicFrame>
        <p:nvGraphicFramePr>
          <p:cNvPr id="9" name="Chart 8"/>
          <p:cNvGraphicFramePr>
            <a:graphicFrameLocks noGrp="1"/>
          </p:cNvGraphicFramePr>
          <p:nvPr/>
        </p:nvGraphicFramePr>
        <p:xfrm>
          <a:off x="685800" y="2377440"/>
          <a:ext cx="5532120" cy="2697480"/>
        </p:xfrm>
        <a:graphic>
          <a:graphicData uri="http://schemas.openxmlformats.org/drawingml/2006/chart">
            <c:chart xmlns:c="http://schemas.openxmlformats.org/drawingml/2006/chart" r:id="rId2"/>
          </a:graphicData>
        </a:graphic>
      </p:graphicFrame>
      <p:sp>
        <p:nvSpPr>
          <p:cNvPr id="10" name="TextBox 9"/>
          <p:cNvSpPr txBox="1"/>
          <p:nvPr/>
        </p:nvSpPr>
        <p:spPr>
          <a:xfrm>
            <a:off x="804672" y="5138928"/>
            <a:ext cx="5394960" cy="100584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Between retrains, every new bill corrects the estimate at once. At 10 new bills the XGBoost model rebuilt itself as a new version (2026-09-29.1 → .2) with no one pressing a button.</a:t>
            </a:r>
          </a:p>
        </p:txBody>
      </p:sp>
      <p:sp>
        <p:nvSpPr>
          <p:cNvPr id="11" name="Rounded Rectangle 10"/>
          <p:cNvSpPr/>
          <p:nvPr/>
        </p:nvSpPr>
        <p:spPr>
          <a:xfrm>
            <a:off x="6583680" y="1371600"/>
            <a:ext cx="5056632" cy="1243584"/>
          </a:xfrm>
          <a:prstGeom prst="roundRect">
            <a:avLst>
              <a:gd name="adj" fmla="val 6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1481328"/>
            <a:ext cx="4663440" cy="256032"/>
          </a:xfrm>
          <a:prstGeom prst="rect">
            <a:avLst/>
          </a:prstGeom>
          <a:noFill/>
        </p:spPr>
        <p:txBody>
          <a:bodyPr wrap="square" lIns="0" rIns="0" tIns="0" bIns="0" anchor="t">
            <a:spAutoFit/>
          </a:bodyPr>
          <a:lstStyle/>
          <a:p>
            <a:pPr algn="l">
              <a:spcBef>
                <a:spcPts val="0"/>
              </a:spcBef>
              <a:spcAft>
                <a:spcPts val="0"/>
              </a:spcAft>
            </a:pPr>
            <a:r>
              <a:rPr sz="1050" b="1" i="0">
                <a:solidFill>
                  <a:srgbClr val="005EB8"/>
                </a:solidFill>
                <a:latin typeface="Arial"/>
              </a:rPr>
              <a:t>2 · POLICY FIXES  →  THE PDF READER</a:t>
            </a:r>
          </a:p>
        </p:txBody>
      </p:sp>
      <p:sp>
        <p:nvSpPr>
          <p:cNvPr id="13" name="TextBox 12"/>
          <p:cNvSpPr txBox="1"/>
          <p:nvPr/>
        </p:nvSpPr>
        <p:spPr>
          <a:xfrm>
            <a:off x="6812280" y="1755648"/>
            <a:ext cx="4663440" cy="822960"/>
          </a:xfrm>
          <a:prstGeom prst="rect">
            <a:avLst/>
          </a:prstGeom>
          <a:noFill/>
        </p:spPr>
        <p:txBody>
          <a:bodyPr wrap="square" lIns="0" rIns="0" tIns="0" bIns="0" anchor="t">
            <a:spAutoFit/>
          </a:bodyPr>
          <a:lstStyle/>
          <a:p>
            <a:pPr algn="l">
              <a:lnSpc>
                <a:spcPct val="118000"/>
              </a:lnSpc>
              <a:spcBef>
                <a:spcPts val="0"/>
              </a:spcBef>
              <a:spcAft>
                <a:spcPts val="0"/>
              </a:spcAft>
            </a:pPr>
            <a:r>
              <a:rPr sz="1050" b="0" i="0">
                <a:solidFill>
                  <a:srgbClr val="2B3138"/>
                </a:solidFill>
                <a:latin typeface="Arial"/>
              </a:rPr>
              <a:t>A detail families often correct gets a warning for the next family (“others often correct this one, 3 of 5 times”). Corrections they agree to share become worked examples in the next reading.</a:t>
            </a:r>
          </a:p>
        </p:txBody>
      </p:sp>
      <p:sp>
        <p:nvSpPr>
          <p:cNvPr id="14" name="Rounded Rectangle 13"/>
          <p:cNvSpPr/>
          <p:nvPr/>
        </p:nvSpPr>
        <p:spPr>
          <a:xfrm>
            <a:off x="6583680" y="2743200"/>
            <a:ext cx="5056632" cy="1243584"/>
          </a:xfrm>
          <a:prstGeom prst="roundRect">
            <a:avLst>
              <a:gd name="adj" fmla="val 6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12280" y="2852928"/>
            <a:ext cx="4663440" cy="256032"/>
          </a:xfrm>
          <a:prstGeom prst="rect">
            <a:avLst/>
          </a:prstGeom>
          <a:noFill/>
        </p:spPr>
        <p:txBody>
          <a:bodyPr wrap="square" lIns="0" rIns="0" tIns="0" bIns="0" anchor="t">
            <a:spAutoFit/>
          </a:bodyPr>
          <a:lstStyle/>
          <a:p>
            <a:pPr algn="l">
              <a:spcBef>
                <a:spcPts val="0"/>
              </a:spcBef>
              <a:spcAft>
                <a:spcPts val="0"/>
              </a:spcAft>
            </a:pPr>
            <a:r>
              <a:rPr sz="1050" b="1" i="0">
                <a:solidFill>
                  <a:srgbClr val="005EB8"/>
                </a:solidFill>
                <a:latin typeface="Arial"/>
              </a:rPr>
              <a:t>3 · SAVED CHATS  →  THE CHAT’S MEMORY</a:t>
            </a:r>
          </a:p>
        </p:txBody>
      </p:sp>
      <p:sp>
        <p:nvSpPr>
          <p:cNvPr id="16" name="TextBox 15"/>
          <p:cNvSpPr txBox="1"/>
          <p:nvPr/>
        </p:nvSpPr>
        <p:spPr>
          <a:xfrm>
            <a:off x="6812280" y="3127248"/>
            <a:ext cx="4663440" cy="822960"/>
          </a:xfrm>
          <a:prstGeom prst="rect">
            <a:avLst/>
          </a:prstGeom>
          <a:noFill/>
        </p:spPr>
        <p:txBody>
          <a:bodyPr wrap="square" lIns="0" rIns="0" tIns="0" bIns="0" anchor="t">
            <a:spAutoFit/>
          </a:bodyPr>
          <a:lstStyle/>
          <a:p>
            <a:pPr algn="l">
              <a:lnSpc>
                <a:spcPct val="118000"/>
              </a:lnSpc>
              <a:spcBef>
                <a:spcPts val="0"/>
              </a:spcBef>
              <a:spcAft>
                <a:spcPts val="0"/>
              </a:spcAft>
            </a:pPr>
            <a:r>
              <a:rPr sz="1050" b="0" i="0">
                <a:solidFill>
                  <a:srgbClr val="2B3138"/>
                </a:solidFill>
                <a:latin typeface="Arial"/>
              </a:rPr>
              <a:t>The 3 most similar past answers guide how a new question is explained. Answers with a wrong figure are left out; figures always come from the new family’s own bill.</a:t>
            </a:r>
          </a:p>
        </p:txBody>
      </p:sp>
      <p:sp>
        <p:nvSpPr>
          <p:cNvPr id="17" name="Rounded Rectangle 16"/>
          <p:cNvSpPr/>
          <p:nvPr/>
        </p:nvSpPr>
        <p:spPr>
          <a:xfrm>
            <a:off x="6583680" y="4114800"/>
            <a:ext cx="5056632" cy="1243584"/>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224528"/>
            <a:ext cx="4663440" cy="256032"/>
          </a:xfrm>
          <a:prstGeom prst="rect">
            <a:avLst/>
          </a:prstGeom>
          <a:noFill/>
        </p:spPr>
        <p:txBody>
          <a:bodyPr wrap="square" lIns="0" rIns="0" tIns="0" bIns="0" anchor="t">
            <a:spAutoFit/>
          </a:bodyPr>
          <a:lstStyle/>
          <a:p>
            <a:pPr algn="l">
              <a:spcBef>
                <a:spcPts val="0"/>
              </a:spcBef>
              <a:spcAft>
                <a:spcPts val="0"/>
              </a:spcAft>
            </a:pPr>
            <a:r>
              <a:rPr sz="1050" b="1" i="0">
                <a:solidFill>
                  <a:srgbClr val="5F6872"/>
                </a:solidFill>
                <a:latin typeface="Arial"/>
              </a:rPr>
              <a:t>4 · CHOICES ON THE PATH  →  COUNTED</a:t>
            </a:r>
          </a:p>
        </p:txBody>
      </p:sp>
      <p:sp>
        <p:nvSpPr>
          <p:cNvPr id="19" name="TextBox 18"/>
          <p:cNvSpPr txBox="1"/>
          <p:nvPr/>
        </p:nvSpPr>
        <p:spPr>
          <a:xfrm>
            <a:off x="6812280" y="4498848"/>
            <a:ext cx="4663440" cy="822960"/>
          </a:xfrm>
          <a:prstGeom prst="rect">
            <a:avLst/>
          </a:prstGeom>
          <a:noFill/>
        </p:spPr>
        <p:txBody>
          <a:bodyPr wrap="square" lIns="0" rIns="0" tIns="0" bIns="0" anchor="t">
            <a:spAutoFit/>
          </a:bodyPr>
          <a:lstStyle/>
          <a:p>
            <a:pPr algn="l">
              <a:lnSpc>
                <a:spcPct val="118000"/>
              </a:lnSpc>
              <a:spcBef>
                <a:spcPts val="0"/>
              </a:spcBef>
              <a:spcAft>
                <a:spcPts val="0"/>
              </a:spcAft>
            </a:pPr>
            <a:r>
              <a:rPr sz="1050" b="0" i="0">
                <a:solidFill>
                  <a:srgbClr val="2B3138"/>
                </a:solidFill>
                <a:latin typeface="Arial"/>
              </a:rPr>
              <a:t>Which hospital or room families pick is counted for the team. It changes no figure and is never linked to a person.</a:t>
            </a:r>
          </a:p>
        </p:txBody>
      </p:sp>
      <p:sp>
        <p:nvSpPr>
          <p:cNvPr id="20" name="Rounded Rectangle 19"/>
          <p:cNvSpPr/>
          <p:nvPr/>
        </p:nvSpPr>
        <p:spPr>
          <a:xfrm>
            <a:off x="6583680" y="5486400"/>
            <a:ext cx="5056632" cy="73152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0" y="5486400"/>
            <a:ext cx="4709160" cy="731520"/>
          </a:xfrm>
          <a:prstGeom prst="rect">
            <a:avLst/>
          </a:prstGeom>
          <a:noFill/>
        </p:spPr>
        <p:txBody>
          <a:bodyPr wrap="square" lIns="0" rIns="0" tIns="0" bIns="0" anchor="ctr">
            <a:spAutoFit/>
          </a:bodyPr>
          <a:lstStyle/>
          <a:p>
            <a:pPr algn="l">
              <a:lnSpc>
                <a:spcPct val="115000"/>
              </a:lnSpc>
              <a:spcBef>
                <a:spcPts val="0"/>
              </a:spcBef>
              <a:spcAft>
                <a:spcPts val="0"/>
              </a:spcAft>
            </a:pPr>
            <a:r>
              <a:rPr sz="1050" b="1" i="0">
                <a:solidFill>
                  <a:srgbClr val="14181C"/>
                </a:solidFill>
                <a:latin typeface="Arial"/>
              </a:rPr>
              <a:t>What does not learn, by design: </a:t>
            </a:r>
            <a:r>
              <a:rPr sz="1050" b="0" i="0">
                <a:solidFill>
                  <a:srgbClr val="2B3138"/>
                </a:solidFill>
                <a:latin typeface="Arial"/>
              </a:rPr>
              <a:t>the AI models’ weights and the money rules. Loops 1–3 are also checked by automated tests against a real database.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8</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User study: is it easy, open to everyone, and useful?</a:t>
            </a:r>
          </a:p>
        </p:txBody>
      </p:sp>
      <p:sp>
        <p:nvSpPr>
          <p:cNvPr id="5" name="Rounded Rectangle 4"/>
          <p:cNvSpPr/>
          <p:nvPr/>
        </p:nvSpPr>
        <p:spPr>
          <a:xfrm>
            <a:off x="548640" y="1188720"/>
            <a:ext cx="3520440" cy="35204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371600"/>
            <a:ext cx="301752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USABILITY</a:t>
            </a:r>
          </a:p>
        </p:txBody>
      </p:sp>
      <p:sp>
        <p:nvSpPr>
          <p:cNvPr id="7" name="TextBox 6"/>
          <p:cNvSpPr txBox="1"/>
          <p:nvPr/>
        </p:nvSpPr>
        <p:spPr>
          <a:xfrm>
            <a:off x="822959" y="1664208"/>
            <a:ext cx="3017520" cy="640080"/>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14181C"/>
                </a:solidFill>
                <a:latin typeface="Rockwell"/>
              </a:rPr>
              <a:t>Can a stressed caregiver use it in minutes?</a:t>
            </a:r>
          </a:p>
        </p:txBody>
      </p:sp>
      <p:sp>
        <p:nvSpPr>
          <p:cNvPr id="8" name="TextBox 7"/>
          <p:cNvSpPr txBox="1"/>
          <p:nvPr/>
        </p:nvSpPr>
        <p:spPr>
          <a:xfrm>
            <a:off x="822959" y="2377440"/>
            <a:ext cx="3017520" cy="2286000"/>
          </a:xfrm>
          <a:prstGeom prst="rect">
            <a:avLst/>
          </a:prstGeom>
          <a:noFill/>
        </p:spPr>
        <p:txBody>
          <a:bodyPr wrap="square" lIns="0" rIns="0" tIns="0" bIns="0">
            <a:spAutoFit/>
          </a:bodyPr>
          <a:lstStyle/>
          <a:p>
            <a:pPr>
              <a:lnSpc>
                <a:spcPct val="112000"/>
              </a:lnSpc>
              <a:spcAft>
                <a:spcPts val="600"/>
              </a:spcAft>
            </a:pPr>
            <a:r>
              <a:rPr sz="1150" b="1">
                <a:solidFill>
                  <a:srgbClr val="005EB8"/>
                </a:solidFill>
                <a:latin typeface="Arial"/>
              </a:rPr>
              <a:t>•  </a:t>
            </a:r>
            <a:r>
              <a:rPr sz="1150">
                <a:solidFill>
                  <a:srgbClr val="2B3138"/>
                </a:solidFill>
                <a:latin typeface="Arial"/>
              </a:rPr>
              <a:t>Start is five short steps, one question at a time, with a Review at the end.</a:t>
            </a:r>
          </a:p>
          <a:p>
            <a:pPr>
              <a:lnSpc>
                <a:spcPct val="112000"/>
              </a:lnSpc>
              <a:spcAft>
                <a:spcPts val="600"/>
              </a:spcAft>
            </a:pPr>
            <a:r>
              <a:rPr sz="1150" b="1">
                <a:solidFill>
                  <a:srgbClr val="005EB8"/>
                </a:solidFill>
                <a:latin typeface="Arial"/>
              </a:rPr>
              <a:t>•  </a:t>
            </a:r>
            <a:r>
              <a:rPr sz="1150">
                <a:solidFill>
                  <a:srgbClr val="2B3138"/>
                </a:solidFill>
                <a:latin typeface="Arial"/>
              </a:rPr>
              <a:t>The answer comes first: “As things stand, you pay ₹…”.</a:t>
            </a:r>
          </a:p>
          <a:p>
            <a:pPr>
              <a:lnSpc>
                <a:spcPct val="112000"/>
              </a:lnSpc>
              <a:spcAft>
                <a:spcPts val="600"/>
              </a:spcAft>
            </a:pPr>
            <a:r>
              <a:rPr sz="1150" b="1">
                <a:solidFill>
                  <a:srgbClr val="005EB8"/>
                </a:solidFill>
                <a:latin typeface="Arial"/>
              </a:rPr>
              <a:t>•  </a:t>
            </a:r>
            <a:r>
              <a:rPr sz="1150">
                <a:solidFill>
                  <a:srgbClr val="2B3138"/>
                </a:solidFill>
                <a:latin typeface="Arial"/>
              </a:rPr>
              <a:t>Insurance words replaced: “When did this illness begin?” instead of “pre-existing condition”.</a:t>
            </a:r>
          </a:p>
        </p:txBody>
      </p:sp>
      <p:sp>
        <p:nvSpPr>
          <p:cNvPr id="9" name="Rounded Rectangle 8"/>
          <p:cNvSpPr/>
          <p:nvPr/>
        </p:nvSpPr>
        <p:spPr>
          <a:xfrm>
            <a:off x="4343400" y="1188720"/>
            <a:ext cx="3520440" cy="35204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1371600"/>
            <a:ext cx="301752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ACCESSIBILITY</a:t>
            </a:r>
          </a:p>
        </p:txBody>
      </p:sp>
      <p:sp>
        <p:nvSpPr>
          <p:cNvPr id="11" name="TextBox 10"/>
          <p:cNvSpPr txBox="1"/>
          <p:nvPr/>
        </p:nvSpPr>
        <p:spPr>
          <a:xfrm>
            <a:off x="4617720" y="1664208"/>
            <a:ext cx="3017520" cy="640080"/>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14181C"/>
                </a:solidFill>
                <a:latin typeface="Rockwell"/>
              </a:rPr>
              <a:t>Can everyone read, hear and trust it?</a:t>
            </a:r>
          </a:p>
        </p:txBody>
      </p:sp>
      <p:sp>
        <p:nvSpPr>
          <p:cNvPr id="12" name="TextBox 11"/>
          <p:cNvSpPr txBox="1"/>
          <p:nvPr/>
        </p:nvSpPr>
        <p:spPr>
          <a:xfrm>
            <a:off x="4617720" y="2377440"/>
            <a:ext cx="3017520" cy="2286000"/>
          </a:xfrm>
          <a:prstGeom prst="rect">
            <a:avLst/>
          </a:prstGeom>
          <a:noFill/>
        </p:spPr>
        <p:txBody>
          <a:bodyPr wrap="square" lIns="0" rIns="0" tIns="0" bIns="0">
            <a:spAutoFit/>
          </a:bodyPr>
          <a:lstStyle/>
          <a:p>
            <a:pPr>
              <a:lnSpc>
                <a:spcPct val="112000"/>
              </a:lnSpc>
              <a:spcAft>
                <a:spcPts val="600"/>
              </a:spcAft>
            </a:pPr>
            <a:r>
              <a:rPr sz="1150" b="1">
                <a:solidFill>
                  <a:srgbClr val="005EB8"/>
                </a:solidFill>
                <a:latin typeface="Arial"/>
              </a:rPr>
              <a:t>•  </a:t>
            </a:r>
            <a:r>
              <a:rPr sz="1150">
                <a:solidFill>
                  <a:srgbClr val="2B3138"/>
                </a:solidFill>
                <a:latin typeface="Arial"/>
              </a:rPr>
              <a:t>English and Hindi on every page, switched with one button.</a:t>
            </a:r>
          </a:p>
          <a:p>
            <a:pPr>
              <a:lnSpc>
                <a:spcPct val="112000"/>
              </a:lnSpc>
              <a:spcAft>
                <a:spcPts val="600"/>
              </a:spcAft>
            </a:pPr>
            <a:r>
              <a:rPr sz="1150" b="1">
                <a:solidFill>
                  <a:srgbClr val="005EB8"/>
                </a:solidFill>
                <a:latin typeface="Arial"/>
              </a:rPr>
              <a:t>•  </a:t>
            </a:r>
            <a:r>
              <a:rPr sz="1150">
                <a:solidFill>
                  <a:srgbClr val="2B3138"/>
                </a:solidFill>
                <a:latin typeface="Arial"/>
              </a:rPr>
              <a:t>Speak a question in Hindi or English; every answer can be read aloud.</a:t>
            </a:r>
          </a:p>
          <a:p>
            <a:pPr>
              <a:lnSpc>
                <a:spcPct val="112000"/>
              </a:lnSpc>
              <a:spcAft>
                <a:spcPts val="600"/>
              </a:spcAft>
            </a:pPr>
            <a:r>
              <a:rPr sz="1150" b="1">
                <a:solidFill>
                  <a:srgbClr val="005EB8"/>
                </a:solidFill>
                <a:latin typeface="Arial"/>
              </a:rPr>
              <a:t>•  </a:t>
            </a:r>
            <a:r>
              <a:rPr sz="1150">
                <a:solidFill>
                  <a:srgbClr val="2B3138"/>
                </a:solidFill>
                <a:latin typeface="Arial"/>
              </a:rPr>
              <a:t>High-contrast colours, large figures, light and dark themes.</a:t>
            </a:r>
          </a:p>
        </p:txBody>
      </p:sp>
      <p:sp>
        <p:nvSpPr>
          <p:cNvPr id="13" name="Rounded Rectangle 12"/>
          <p:cNvSpPr/>
          <p:nvPr/>
        </p:nvSpPr>
        <p:spPr>
          <a:xfrm>
            <a:off x="8138160" y="1188720"/>
            <a:ext cx="3520440" cy="35204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1371600"/>
            <a:ext cx="301752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PURPOSE</a:t>
            </a:r>
          </a:p>
        </p:txBody>
      </p:sp>
      <p:sp>
        <p:nvSpPr>
          <p:cNvPr id="15" name="TextBox 14"/>
          <p:cNvSpPr txBox="1"/>
          <p:nvPr/>
        </p:nvSpPr>
        <p:spPr>
          <a:xfrm>
            <a:off x="8412480" y="1664208"/>
            <a:ext cx="3017520" cy="640080"/>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14181C"/>
                </a:solidFill>
                <a:latin typeface="Rockwell"/>
              </a:rPr>
              <a:t>Does it change a decision?</a:t>
            </a:r>
          </a:p>
        </p:txBody>
      </p:sp>
      <p:sp>
        <p:nvSpPr>
          <p:cNvPr id="16" name="TextBox 15"/>
          <p:cNvSpPr txBox="1"/>
          <p:nvPr/>
        </p:nvSpPr>
        <p:spPr>
          <a:xfrm>
            <a:off x="8412480" y="2377440"/>
            <a:ext cx="3017520" cy="2286000"/>
          </a:xfrm>
          <a:prstGeom prst="rect">
            <a:avLst/>
          </a:prstGeom>
          <a:noFill/>
        </p:spPr>
        <p:txBody>
          <a:bodyPr wrap="square" lIns="0" rIns="0" tIns="0" bIns="0">
            <a:spAutoFit/>
          </a:bodyPr>
          <a:lstStyle/>
          <a:p>
            <a:pPr>
              <a:lnSpc>
                <a:spcPct val="112000"/>
              </a:lnSpc>
              <a:spcAft>
                <a:spcPts val="600"/>
              </a:spcAft>
            </a:pPr>
            <a:r>
              <a:rPr sz="1150" b="1">
                <a:solidFill>
                  <a:srgbClr val="005EB8"/>
                </a:solidFill>
                <a:latin typeface="Arial"/>
              </a:rPr>
              <a:t>•  </a:t>
            </a:r>
            <a:r>
              <a:rPr sz="1150">
                <a:solidFill>
                  <a:srgbClr val="2B3138"/>
                </a:solidFill>
                <a:latin typeface="Arial"/>
              </a:rPr>
              <a:t>Each choice shows how much it saves or costs, e.g. ₹78,400 for the right room.</a:t>
            </a:r>
          </a:p>
          <a:p>
            <a:pPr>
              <a:lnSpc>
                <a:spcPct val="112000"/>
              </a:lnSpc>
              <a:spcAft>
                <a:spcPts val="600"/>
              </a:spcAft>
            </a:pPr>
            <a:r>
              <a:rPr sz="1150" b="1">
                <a:solidFill>
                  <a:srgbClr val="005EB8"/>
                </a:solidFill>
                <a:latin typeface="Arial"/>
              </a:rPr>
              <a:t>•  </a:t>
            </a:r>
            <a:r>
              <a:rPr sz="1150">
                <a:solidFill>
                  <a:srgbClr val="2B3138"/>
                </a:solidFill>
                <a:latin typeface="Arial"/>
              </a:rPr>
              <a:t>A health report turns into the cheapest place for each scan and the surgery.</a:t>
            </a:r>
          </a:p>
          <a:p>
            <a:pPr>
              <a:lnSpc>
                <a:spcPct val="112000"/>
              </a:lnSpc>
              <a:spcAft>
                <a:spcPts val="600"/>
              </a:spcAft>
            </a:pPr>
            <a:r>
              <a:rPr sz="1150" b="1">
                <a:solidFill>
                  <a:srgbClr val="005EB8"/>
                </a:solidFill>
                <a:latin typeface="Arial"/>
              </a:rPr>
              <a:t>•  </a:t>
            </a:r>
            <a:r>
              <a:rPr sz="1150">
                <a:solidFill>
                  <a:srgbClr val="2B3138"/>
                </a:solidFill>
                <a:latin typeface="Arial"/>
              </a:rPr>
              <a:t>Measure next: did the family pick a different room, hospital or scheme?</a:t>
            </a:r>
          </a:p>
        </p:txBody>
      </p:sp>
      <p:sp>
        <p:nvSpPr>
          <p:cNvPr id="17" name="Rounded Rectangle 16"/>
          <p:cNvSpPr/>
          <p:nvPr/>
        </p:nvSpPr>
        <p:spPr>
          <a:xfrm>
            <a:off x="548640" y="4892040"/>
            <a:ext cx="11091672" cy="1280160"/>
          </a:xfrm>
          <a:prstGeom prst="roundRect">
            <a:avLst>
              <a:gd name="adj" fmla="val 8000"/>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29200"/>
            <a:ext cx="2377440" cy="1005840"/>
          </a:xfrm>
          <a:prstGeom prst="rect">
            <a:avLst/>
          </a:prstGeom>
          <a:noFill/>
        </p:spPr>
        <p:txBody>
          <a:bodyPr wrap="square" lIns="0" rIns="0" tIns="0" bIns="0" anchor="ctr">
            <a:spAutoFit/>
          </a:bodyPr>
          <a:lstStyle/>
          <a:p>
            <a:pPr algn="l">
              <a:spcBef>
                <a:spcPts val="0"/>
              </a:spcBef>
              <a:spcAft>
                <a:spcPts val="300"/>
              </a:spcAft>
            </a:pPr>
            <a:r>
              <a:rPr sz="1700" b="1" i="0">
                <a:solidFill>
                  <a:srgbClr val="FFFFFF"/>
                </a:solidFill>
                <a:latin typeface="Rockwell"/>
              </a:rPr>
              <a:t>Study with families</a:t>
            </a:r>
          </a:p>
          <a:p>
            <a:pPr algn="l">
              <a:spcBef>
                <a:spcPts val="0"/>
              </a:spcBef>
              <a:spcAft>
                <a:spcPts val="0"/>
              </a:spcAft>
            </a:pPr>
            <a:r>
              <a:rPr sz="1100" b="0" i="1">
                <a:solidFill>
                  <a:srgbClr val="C4DCEF"/>
                </a:solidFill>
                <a:latin typeface="Arial"/>
              </a:rPr>
              <a:t>planned · results to be added</a:t>
            </a:r>
          </a:p>
        </p:txBody>
      </p:sp>
      <p:sp>
        <p:nvSpPr>
          <p:cNvPr id="19" name="TextBox 18"/>
          <p:cNvSpPr txBox="1"/>
          <p:nvPr/>
        </p:nvSpPr>
        <p:spPr>
          <a:xfrm>
            <a:off x="3383280" y="5047488"/>
            <a:ext cx="2651760" cy="457200"/>
          </a:xfrm>
          <a:prstGeom prst="rect">
            <a:avLst/>
          </a:prstGeom>
          <a:noFill/>
        </p:spPr>
        <p:txBody>
          <a:bodyPr wrap="square" lIns="0" rIns="0" tIns="0" bIns="0" anchor="t">
            <a:spAutoFit/>
          </a:bodyPr>
          <a:lstStyle/>
          <a:p>
            <a:pPr algn="l">
              <a:spcBef>
                <a:spcPts val="0"/>
              </a:spcBef>
              <a:spcAft>
                <a:spcPts val="0"/>
              </a:spcAft>
            </a:pPr>
            <a:r>
              <a:rPr sz="2200" b="1" i="0">
                <a:solidFill>
                  <a:srgbClr val="FFFFFF"/>
                </a:solidFill>
                <a:latin typeface="Rockwell"/>
              </a:rPr>
              <a:t>20</a:t>
            </a:r>
          </a:p>
        </p:txBody>
      </p:sp>
      <p:sp>
        <p:nvSpPr>
          <p:cNvPr id="20" name="TextBox 19"/>
          <p:cNvSpPr txBox="1"/>
          <p:nvPr/>
        </p:nvSpPr>
        <p:spPr>
          <a:xfrm>
            <a:off x="3383280" y="5504688"/>
            <a:ext cx="2606040" cy="59436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C4DCEF"/>
                </a:solidFill>
                <a:latin typeface="Arial"/>
              </a:rPr>
              <a:t>caregivers at a hospital admission desk</a:t>
            </a:r>
          </a:p>
        </p:txBody>
      </p:sp>
      <p:sp>
        <p:nvSpPr>
          <p:cNvPr id="21" name="TextBox 20"/>
          <p:cNvSpPr txBox="1"/>
          <p:nvPr/>
        </p:nvSpPr>
        <p:spPr>
          <a:xfrm>
            <a:off x="6172200" y="5047488"/>
            <a:ext cx="2651760" cy="457200"/>
          </a:xfrm>
          <a:prstGeom prst="rect">
            <a:avLst/>
          </a:prstGeom>
          <a:noFill/>
        </p:spPr>
        <p:txBody>
          <a:bodyPr wrap="square" lIns="0" rIns="0" tIns="0" bIns="0" anchor="t">
            <a:spAutoFit/>
          </a:bodyPr>
          <a:lstStyle/>
          <a:p>
            <a:pPr algn="l">
              <a:spcBef>
                <a:spcPts val="0"/>
              </a:spcBef>
              <a:spcAft>
                <a:spcPts val="0"/>
              </a:spcAft>
            </a:pPr>
            <a:r>
              <a:rPr sz="2200" b="1" i="0">
                <a:solidFill>
                  <a:srgbClr val="FFFFFF"/>
                </a:solidFill>
                <a:latin typeface="Rockwell"/>
              </a:rPr>
              <a:t>3 tasks</a:t>
            </a:r>
          </a:p>
        </p:txBody>
      </p:sp>
      <p:sp>
        <p:nvSpPr>
          <p:cNvPr id="22" name="TextBox 21"/>
          <p:cNvSpPr txBox="1"/>
          <p:nvPr/>
        </p:nvSpPr>
        <p:spPr>
          <a:xfrm>
            <a:off x="6172200" y="5504688"/>
            <a:ext cx="2606040" cy="59436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C4DCEF"/>
                </a:solidFill>
                <a:latin typeface="Arial"/>
              </a:rPr>
              <a:t>find what you pay · find a cheaper choice · ask a question by voice</a:t>
            </a:r>
          </a:p>
        </p:txBody>
      </p:sp>
      <p:sp>
        <p:nvSpPr>
          <p:cNvPr id="23" name="TextBox 22"/>
          <p:cNvSpPr txBox="1"/>
          <p:nvPr/>
        </p:nvSpPr>
        <p:spPr>
          <a:xfrm>
            <a:off x="8961120" y="5047488"/>
            <a:ext cx="2651760" cy="457200"/>
          </a:xfrm>
          <a:prstGeom prst="rect">
            <a:avLst/>
          </a:prstGeom>
          <a:noFill/>
        </p:spPr>
        <p:txBody>
          <a:bodyPr wrap="square" lIns="0" rIns="0" tIns="0" bIns="0" anchor="t">
            <a:spAutoFit/>
          </a:bodyPr>
          <a:lstStyle/>
          <a:p>
            <a:pPr algn="l">
              <a:spcBef>
                <a:spcPts val="0"/>
              </a:spcBef>
              <a:spcAft>
                <a:spcPts val="0"/>
              </a:spcAft>
            </a:pPr>
            <a:r>
              <a:rPr sz="2200" b="1" i="0">
                <a:solidFill>
                  <a:srgbClr val="FFFFFF"/>
                </a:solidFill>
                <a:latin typeface="Rockwell"/>
              </a:rPr>
              <a:t>≥ 70</a:t>
            </a:r>
          </a:p>
        </p:txBody>
      </p:sp>
      <p:sp>
        <p:nvSpPr>
          <p:cNvPr id="24" name="TextBox 23"/>
          <p:cNvSpPr txBox="1"/>
          <p:nvPr/>
        </p:nvSpPr>
        <p:spPr>
          <a:xfrm>
            <a:off x="8961120" y="5504688"/>
            <a:ext cx="2606040" cy="59436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C4DCEF"/>
                </a:solidFill>
                <a:latin typeface="Arial"/>
              </a:rPr>
              <a:t>target usability score (SUS, out of 100)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9</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User personas: who each feature was built for</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Five people the prototype was designed and walked through for.</a:t>
            </a:r>
          </a:p>
        </p:txBody>
      </p:sp>
      <p:sp>
        <p:nvSpPr>
          <p:cNvPr id="6" name="Rounded Rectangle 5"/>
          <p:cNvSpPr/>
          <p:nvPr/>
        </p:nvSpPr>
        <p:spPr>
          <a:xfrm>
            <a:off x="548640" y="1325880"/>
            <a:ext cx="2130552" cy="48920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148132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A</a:t>
            </a:r>
          </a:p>
        </p:txBody>
      </p:sp>
      <p:sp>
        <p:nvSpPr>
          <p:cNvPr id="8" name="TextBox 7"/>
          <p:cNvSpPr txBox="1"/>
          <p:nvPr/>
        </p:nvSpPr>
        <p:spPr>
          <a:xfrm>
            <a:off x="1261872" y="1481328"/>
            <a:ext cx="1307592" cy="420624"/>
          </a:xfrm>
          <a:prstGeom prst="rect">
            <a:avLst/>
          </a:prstGeom>
          <a:noFill/>
        </p:spPr>
        <p:txBody>
          <a:bodyPr wrap="square" lIns="0" rIns="0" tIns="0" bIns="0" anchor="ctr">
            <a:spAutoFit/>
          </a:bodyPr>
          <a:lstStyle/>
          <a:p>
            <a:pPr algn="l">
              <a:spcBef>
                <a:spcPts val="0"/>
              </a:spcBef>
              <a:spcAft>
                <a:spcPts val="0"/>
              </a:spcAft>
            </a:pPr>
            <a:r>
              <a:rPr sz="1300" b="1" i="0">
                <a:solidFill>
                  <a:srgbClr val="005EB8"/>
                </a:solidFill>
                <a:latin typeface="Arial"/>
              </a:rPr>
              <a:t>The chatbox</a:t>
            </a:r>
          </a:p>
        </p:txBody>
      </p:sp>
      <p:sp>
        <p:nvSpPr>
          <p:cNvPr id="9" name="TextBox 8"/>
          <p:cNvSpPr txBox="1"/>
          <p:nvPr/>
        </p:nvSpPr>
        <p:spPr>
          <a:xfrm>
            <a:off x="731520" y="2057400"/>
            <a:ext cx="1810512" cy="566928"/>
          </a:xfrm>
          <a:prstGeom prst="rect">
            <a:avLst/>
          </a:prstGeom>
          <a:noFill/>
        </p:spPr>
        <p:txBody>
          <a:bodyPr wrap="square" lIns="0" rIns="0" tIns="0" bIns="0" anchor="t">
            <a:spAutoFit/>
          </a:bodyPr>
          <a:lstStyle/>
          <a:p>
            <a:pPr algn="l">
              <a:lnSpc>
                <a:spcPct val="110000"/>
              </a:lnSpc>
              <a:spcBef>
                <a:spcPts val="0"/>
              </a:spcBef>
              <a:spcAft>
                <a:spcPts val="0"/>
              </a:spcAft>
            </a:pPr>
            <a:r>
              <a:rPr sz="1250" b="1" i="0">
                <a:solidFill>
                  <a:srgbClr val="14181C"/>
                </a:solidFill>
                <a:latin typeface="Rockwell"/>
              </a:rPr>
              <a:t>Rohit, 34, son</a:t>
            </a:r>
          </a:p>
        </p:txBody>
      </p:sp>
      <p:sp>
        <p:nvSpPr>
          <p:cNvPr id="10" name="TextBox 9"/>
          <p:cNvSpPr txBox="1"/>
          <p:nvPr/>
        </p:nvSpPr>
        <p:spPr>
          <a:xfrm>
            <a:off x="731520" y="2697480"/>
            <a:ext cx="1810512" cy="1097280"/>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5F6872"/>
                </a:solidFill>
                <a:latin typeface="Arial"/>
              </a:rPr>
              <a:t>“What if Papa needs two days in ICU?” A question the screen does not show.</a:t>
            </a:r>
          </a:p>
        </p:txBody>
      </p:sp>
      <p:sp>
        <p:nvSpPr>
          <p:cNvPr id="11" name="Rectangle 10"/>
          <p:cNvSpPr/>
          <p:nvPr/>
        </p:nvSpPr>
        <p:spPr>
          <a:xfrm>
            <a:off x="731520" y="3767328"/>
            <a:ext cx="1764792"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858768"/>
            <a:ext cx="1810512" cy="256032"/>
          </a:xfrm>
          <a:prstGeom prst="rect">
            <a:avLst/>
          </a:prstGeom>
          <a:noFill/>
        </p:spPr>
        <p:txBody>
          <a:bodyPr wrap="square" lIns="0" rIns="0" tIns="0" bIns="0" anchor="t">
            <a:spAutoFit/>
          </a:bodyPr>
          <a:lstStyle/>
          <a:p>
            <a:pPr algn="l">
              <a:spcBef>
                <a:spcPts val="0"/>
              </a:spcBef>
              <a:spcAft>
                <a:spcPts val="0"/>
              </a:spcAft>
            </a:pPr>
            <a:r>
              <a:rPr sz="900" b="1" i="0">
                <a:solidFill>
                  <a:srgbClr val="007A4D"/>
                </a:solidFill>
                <a:latin typeface="Arial"/>
              </a:rPr>
              <a:t>ON CLAIMCAST</a:t>
            </a:r>
          </a:p>
        </p:txBody>
      </p:sp>
      <p:sp>
        <p:nvSpPr>
          <p:cNvPr id="13" name="TextBox 12"/>
          <p:cNvSpPr txBox="1"/>
          <p:nvPr/>
        </p:nvSpPr>
        <p:spPr>
          <a:xfrm>
            <a:off x="731520" y="4114800"/>
            <a:ext cx="1810512" cy="141732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Ask ClaimCast answers from the engine’s own figures, remembers the conversation, and says so when it does not know.</a:t>
            </a:r>
          </a:p>
        </p:txBody>
      </p:sp>
      <p:sp>
        <p:nvSpPr>
          <p:cNvPr id="14" name="Rounded Rectangle 13"/>
          <p:cNvSpPr/>
          <p:nvPr/>
        </p:nvSpPr>
        <p:spPr>
          <a:xfrm>
            <a:off x="658368" y="5504688"/>
            <a:ext cx="1911095" cy="603504"/>
          </a:xfrm>
          <a:prstGeom prst="roundRect">
            <a:avLst>
              <a:gd name="adj" fmla="val 1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5532120"/>
            <a:ext cx="1728216" cy="548640"/>
          </a:xfrm>
          <a:prstGeom prst="rect">
            <a:avLst/>
          </a:prstGeom>
          <a:noFill/>
        </p:spPr>
        <p:txBody>
          <a:bodyPr wrap="square" lIns="0" rIns="0" tIns="0" bIns="0" anchor="ctr">
            <a:spAutoFit/>
          </a:bodyPr>
          <a:lstStyle/>
          <a:p>
            <a:pPr algn="l">
              <a:lnSpc>
                <a:spcPct val="110000"/>
              </a:lnSpc>
              <a:spcBef>
                <a:spcPts val="0"/>
              </a:spcBef>
              <a:spcAft>
                <a:spcPts val="0"/>
              </a:spcAft>
            </a:pPr>
            <a:r>
              <a:rPr sz="850" b="1" i="0">
                <a:solidFill>
                  <a:srgbClr val="005EB8"/>
                </a:solidFill>
                <a:latin typeface="Arial"/>
              </a:rPr>
              <a:t>WHERE  </a:t>
            </a:r>
            <a:r>
              <a:rPr sz="950" b="0" i="0">
                <a:solidFill>
                  <a:srgbClr val="14181C"/>
                </a:solidFill>
                <a:latin typeface="Arial"/>
              </a:rPr>
              <a:t>“Ask ClaimCast” button, on every family tab</a:t>
            </a:r>
          </a:p>
        </p:txBody>
      </p:sp>
      <p:sp>
        <p:nvSpPr>
          <p:cNvPr id="16" name="Rounded Rectangle 15"/>
          <p:cNvSpPr/>
          <p:nvPr/>
        </p:nvSpPr>
        <p:spPr>
          <a:xfrm>
            <a:off x="2788920" y="1325880"/>
            <a:ext cx="2130552" cy="48920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971800" y="148132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B</a:t>
            </a:r>
          </a:p>
        </p:txBody>
      </p:sp>
      <p:sp>
        <p:nvSpPr>
          <p:cNvPr id="18" name="TextBox 17"/>
          <p:cNvSpPr txBox="1"/>
          <p:nvPr/>
        </p:nvSpPr>
        <p:spPr>
          <a:xfrm>
            <a:off x="3502152" y="1481328"/>
            <a:ext cx="1307592" cy="420624"/>
          </a:xfrm>
          <a:prstGeom prst="rect">
            <a:avLst/>
          </a:prstGeom>
          <a:noFill/>
        </p:spPr>
        <p:txBody>
          <a:bodyPr wrap="square" lIns="0" rIns="0" tIns="0" bIns="0" anchor="ctr">
            <a:spAutoFit/>
          </a:bodyPr>
          <a:lstStyle/>
          <a:p>
            <a:pPr algn="l">
              <a:spcBef>
                <a:spcPts val="0"/>
              </a:spcBef>
              <a:spcAft>
                <a:spcPts val="0"/>
              </a:spcAft>
            </a:pPr>
            <a:r>
              <a:rPr sz="1300" b="1" i="0">
                <a:solidFill>
                  <a:srgbClr val="005EB8"/>
                </a:solidFill>
                <a:latin typeface="Arial"/>
              </a:rPr>
              <a:t>Hindi and voice</a:t>
            </a:r>
          </a:p>
        </p:txBody>
      </p:sp>
      <p:sp>
        <p:nvSpPr>
          <p:cNvPr id="19" name="TextBox 18"/>
          <p:cNvSpPr txBox="1"/>
          <p:nvPr/>
        </p:nvSpPr>
        <p:spPr>
          <a:xfrm>
            <a:off x="2971800" y="2057400"/>
            <a:ext cx="1810512" cy="566928"/>
          </a:xfrm>
          <a:prstGeom prst="rect">
            <a:avLst/>
          </a:prstGeom>
          <a:noFill/>
        </p:spPr>
        <p:txBody>
          <a:bodyPr wrap="square" lIns="0" rIns="0" tIns="0" bIns="0" anchor="t">
            <a:spAutoFit/>
          </a:bodyPr>
          <a:lstStyle/>
          <a:p>
            <a:pPr algn="l">
              <a:lnSpc>
                <a:spcPct val="110000"/>
              </a:lnSpc>
              <a:spcBef>
                <a:spcPts val="0"/>
              </a:spcBef>
              <a:spcAft>
                <a:spcPts val="0"/>
              </a:spcAft>
            </a:pPr>
            <a:r>
              <a:rPr sz="1250" b="1" i="0">
                <a:solidFill>
                  <a:srgbClr val="14181C"/>
                </a:solidFill>
                <a:latin typeface="Rockwell"/>
              </a:rPr>
              <a:t>Kamla, 45, domestic worker, cannot read</a:t>
            </a:r>
          </a:p>
        </p:txBody>
      </p:sp>
      <p:sp>
        <p:nvSpPr>
          <p:cNvPr id="20" name="TextBox 19"/>
          <p:cNvSpPr txBox="1"/>
          <p:nvPr/>
        </p:nvSpPr>
        <p:spPr>
          <a:xfrm>
            <a:off x="2971800" y="2697480"/>
            <a:ext cx="1810512" cy="1097280"/>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5F6872"/>
                </a:solidFill>
                <a:latin typeface="Arial"/>
              </a:rPr>
              <a:t>Needs to ask out loud, in Hindi, and hear the answer.</a:t>
            </a:r>
          </a:p>
        </p:txBody>
      </p:sp>
      <p:sp>
        <p:nvSpPr>
          <p:cNvPr id="21" name="Rectangle 20"/>
          <p:cNvSpPr/>
          <p:nvPr/>
        </p:nvSpPr>
        <p:spPr>
          <a:xfrm>
            <a:off x="2971800" y="3767328"/>
            <a:ext cx="1764792"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71800" y="3858768"/>
            <a:ext cx="1810512" cy="256032"/>
          </a:xfrm>
          <a:prstGeom prst="rect">
            <a:avLst/>
          </a:prstGeom>
          <a:noFill/>
        </p:spPr>
        <p:txBody>
          <a:bodyPr wrap="square" lIns="0" rIns="0" tIns="0" bIns="0" anchor="t">
            <a:spAutoFit/>
          </a:bodyPr>
          <a:lstStyle/>
          <a:p>
            <a:pPr algn="l">
              <a:spcBef>
                <a:spcPts val="0"/>
              </a:spcBef>
              <a:spcAft>
                <a:spcPts val="0"/>
              </a:spcAft>
            </a:pPr>
            <a:r>
              <a:rPr sz="900" b="1" i="0">
                <a:solidFill>
                  <a:srgbClr val="007A4D"/>
                </a:solidFill>
                <a:latin typeface="Arial"/>
              </a:rPr>
              <a:t>ON CLAIMCAST</a:t>
            </a:r>
          </a:p>
        </p:txBody>
      </p:sp>
      <p:sp>
        <p:nvSpPr>
          <p:cNvPr id="23" name="TextBox 22"/>
          <p:cNvSpPr txBox="1"/>
          <p:nvPr/>
        </p:nvSpPr>
        <p:spPr>
          <a:xfrm>
            <a:off x="2971800" y="4114800"/>
            <a:ext cx="1810512" cy="141732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One tap to हिन्दी, the mic takes her question in Hindi, the answer is read back to her; the Ayushman card is asked about up front.</a:t>
            </a:r>
          </a:p>
        </p:txBody>
      </p:sp>
      <p:sp>
        <p:nvSpPr>
          <p:cNvPr id="24" name="Rounded Rectangle 23"/>
          <p:cNvSpPr/>
          <p:nvPr/>
        </p:nvSpPr>
        <p:spPr>
          <a:xfrm>
            <a:off x="2898648" y="5504688"/>
            <a:ext cx="1911095" cy="603504"/>
          </a:xfrm>
          <a:prstGeom prst="roundRect">
            <a:avLst>
              <a:gd name="adj" fmla="val 1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90088" y="5532120"/>
            <a:ext cx="1728216" cy="548640"/>
          </a:xfrm>
          <a:prstGeom prst="rect">
            <a:avLst/>
          </a:prstGeom>
          <a:noFill/>
        </p:spPr>
        <p:txBody>
          <a:bodyPr wrap="square" lIns="0" rIns="0" tIns="0" bIns="0" anchor="ctr">
            <a:spAutoFit/>
          </a:bodyPr>
          <a:lstStyle/>
          <a:p>
            <a:pPr algn="l">
              <a:lnSpc>
                <a:spcPct val="110000"/>
              </a:lnSpc>
              <a:spcBef>
                <a:spcPts val="0"/>
              </a:spcBef>
              <a:spcAft>
                <a:spcPts val="0"/>
              </a:spcAft>
            </a:pPr>
            <a:r>
              <a:rPr sz="850" b="1" i="0">
                <a:solidFill>
                  <a:srgbClr val="005EB8"/>
                </a:solidFill>
                <a:latin typeface="Arial"/>
              </a:rPr>
              <a:t>WHERE  </a:t>
            </a:r>
            <a:r>
              <a:rPr sz="950" b="0" i="0">
                <a:solidFill>
                  <a:srgbClr val="14181C"/>
                </a:solidFill>
                <a:latin typeface="Arial"/>
              </a:rPr>
              <a:t>हिन्दी button, then the mic in the chat</a:t>
            </a:r>
          </a:p>
        </p:txBody>
      </p:sp>
      <p:sp>
        <p:nvSpPr>
          <p:cNvPr id="26" name="Rounded Rectangle 25"/>
          <p:cNvSpPr/>
          <p:nvPr/>
        </p:nvSpPr>
        <p:spPr>
          <a:xfrm>
            <a:off x="5029200" y="1325880"/>
            <a:ext cx="2130552" cy="48920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212080" y="148132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C</a:t>
            </a:r>
          </a:p>
        </p:txBody>
      </p:sp>
      <p:sp>
        <p:nvSpPr>
          <p:cNvPr id="28" name="TextBox 27"/>
          <p:cNvSpPr txBox="1"/>
          <p:nvPr/>
        </p:nvSpPr>
        <p:spPr>
          <a:xfrm>
            <a:off x="5742432" y="1481328"/>
            <a:ext cx="1307592" cy="420624"/>
          </a:xfrm>
          <a:prstGeom prst="rect">
            <a:avLst/>
          </a:prstGeom>
          <a:noFill/>
        </p:spPr>
        <p:txBody>
          <a:bodyPr wrap="square" lIns="0" rIns="0" tIns="0" bIns="0" anchor="ctr">
            <a:spAutoFit/>
          </a:bodyPr>
          <a:lstStyle/>
          <a:p>
            <a:pPr algn="l">
              <a:spcBef>
                <a:spcPts val="0"/>
              </a:spcBef>
              <a:spcAft>
                <a:spcPts val="0"/>
              </a:spcAft>
            </a:pPr>
            <a:r>
              <a:rPr sz="1300" b="1" i="0">
                <a:solidFill>
                  <a:srgbClr val="005EB8"/>
                </a:solidFill>
                <a:latin typeface="Arial"/>
              </a:rPr>
              <a:t>Transparency</a:t>
            </a:r>
          </a:p>
        </p:txBody>
      </p:sp>
      <p:sp>
        <p:nvSpPr>
          <p:cNvPr id="29" name="TextBox 28"/>
          <p:cNvSpPr txBox="1"/>
          <p:nvPr/>
        </p:nvSpPr>
        <p:spPr>
          <a:xfrm>
            <a:off x="5212080" y="2057400"/>
            <a:ext cx="1810512" cy="566928"/>
          </a:xfrm>
          <a:prstGeom prst="rect">
            <a:avLst/>
          </a:prstGeom>
          <a:noFill/>
        </p:spPr>
        <p:txBody>
          <a:bodyPr wrap="square" lIns="0" rIns="0" tIns="0" bIns="0" anchor="t">
            <a:spAutoFit/>
          </a:bodyPr>
          <a:lstStyle/>
          <a:p>
            <a:pPr algn="l">
              <a:lnSpc>
                <a:spcPct val="110000"/>
              </a:lnSpc>
              <a:spcBef>
                <a:spcPts val="0"/>
              </a:spcBef>
              <a:spcAft>
                <a:spcPts val="0"/>
              </a:spcAft>
            </a:pPr>
            <a:r>
              <a:rPr sz="1250" b="1" i="0">
                <a:solidFill>
                  <a:srgbClr val="14181C"/>
                </a:solidFill>
                <a:latin typeface="Rockwell"/>
              </a:rPr>
              <a:t>Mr Sharma, 58, sure he is being cheated</a:t>
            </a:r>
          </a:p>
        </p:txBody>
      </p:sp>
      <p:sp>
        <p:nvSpPr>
          <p:cNvPr id="30" name="TextBox 29"/>
          <p:cNvSpPr txBox="1"/>
          <p:nvPr/>
        </p:nvSpPr>
        <p:spPr>
          <a:xfrm>
            <a:off x="5212080" y="2697480"/>
            <a:ext cx="1810512" cy="1097280"/>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5F6872"/>
                </a:solidFill>
                <a:latin typeface="Arial"/>
              </a:rPr>
              <a:t>“Why is this cut? Show me where it says so.”</a:t>
            </a:r>
          </a:p>
        </p:txBody>
      </p:sp>
      <p:sp>
        <p:nvSpPr>
          <p:cNvPr id="31" name="Rectangle 30"/>
          <p:cNvSpPr/>
          <p:nvPr/>
        </p:nvSpPr>
        <p:spPr>
          <a:xfrm>
            <a:off x="5212080" y="3767328"/>
            <a:ext cx="1764792"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12080" y="3858768"/>
            <a:ext cx="1810512" cy="256032"/>
          </a:xfrm>
          <a:prstGeom prst="rect">
            <a:avLst/>
          </a:prstGeom>
          <a:noFill/>
        </p:spPr>
        <p:txBody>
          <a:bodyPr wrap="square" lIns="0" rIns="0" tIns="0" bIns="0" anchor="t">
            <a:spAutoFit/>
          </a:bodyPr>
          <a:lstStyle/>
          <a:p>
            <a:pPr algn="l">
              <a:spcBef>
                <a:spcPts val="0"/>
              </a:spcBef>
              <a:spcAft>
                <a:spcPts val="0"/>
              </a:spcAft>
            </a:pPr>
            <a:r>
              <a:rPr sz="900" b="1" i="0">
                <a:solidFill>
                  <a:srgbClr val="007A4D"/>
                </a:solidFill>
                <a:latin typeface="Arial"/>
              </a:rPr>
              <a:t>ON CLAIMCAST</a:t>
            </a:r>
          </a:p>
        </p:txBody>
      </p:sp>
      <p:sp>
        <p:nvSpPr>
          <p:cNvPr id="33" name="TextBox 32"/>
          <p:cNvSpPr txBox="1"/>
          <p:nvPr/>
        </p:nvSpPr>
        <p:spPr>
          <a:xfrm>
            <a:off x="5212080" y="4114800"/>
            <a:ext cx="1810512" cy="141732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Every cut names its rule; quotes from his own PDF are checked with page numbers; any AI figure not from the engine is flagged.</a:t>
            </a:r>
          </a:p>
        </p:txBody>
      </p:sp>
      <p:sp>
        <p:nvSpPr>
          <p:cNvPr id="34" name="Rounded Rectangle 33"/>
          <p:cNvSpPr/>
          <p:nvPr/>
        </p:nvSpPr>
        <p:spPr>
          <a:xfrm>
            <a:off x="5138928" y="5504688"/>
            <a:ext cx="1911095" cy="603504"/>
          </a:xfrm>
          <a:prstGeom prst="roundRect">
            <a:avLst>
              <a:gd name="adj" fmla="val 1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30368" y="5532120"/>
            <a:ext cx="1728216" cy="548640"/>
          </a:xfrm>
          <a:prstGeom prst="rect">
            <a:avLst/>
          </a:prstGeom>
          <a:noFill/>
        </p:spPr>
        <p:txBody>
          <a:bodyPr wrap="square" lIns="0" rIns="0" tIns="0" bIns="0" anchor="ctr">
            <a:spAutoFit/>
          </a:bodyPr>
          <a:lstStyle/>
          <a:p>
            <a:pPr algn="l">
              <a:lnSpc>
                <a:spcPct val="110000"/>
              </a:lnSpc>
              <a:spcBef>
                <a:spcPts val="0"/>
              </a:spcBef>
              <a:spcAft>
                <a:spcPts val="0"/>
              </a:spcAft>
            </a:pPr>
            <a:r>
              <a:rPr sz="850" b="1" i="0">
                <a:solidFill>
                  <a:srgbClr val="005EB8"/>
                </a:solidFill>
                <a:latin typeface="Arial"/>
              </a:rPr>
              <a:t>WHERE  </a:t>
            </a:r>
            <a:r>
              <a:rPr sz="950" b="0" i="0">
                <a:solidFill>
                  <a:srgbClr val="14181C"/>
                </a:solidFill>
                <a:latin typeface="Arial"/>
              </a:rPr>
              <a:t>“The working” tab, and the policy PDF upload</a:t>
            </a:r>
          </a:p>
        </p:txBody>
      </p:sp>
      <p:sp>
        <p:nvSpPr>
          <p:cNvPr id="36" name="Rounded Rectangle 35"/>
          <p:cNvSpPr/>
          <p:nvPr/>
        </p:nvSpPr>
        <p:spPr>
          <a:xfrm>
            <a:off x="7269480" y="1325880"/>
            <a:ext cx="2130552" cy="48920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452360" y="148132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D</a:t>
            </a:r>
          </a:p>
        </p:txBody>
      </p:sp>
      <p:sp>
        <p:nvSpPr>
          <p:cNvPr id="38" name="TextBox 37"/>
          <p:cNvSpPr txBox="1"/>
          <p:nvPr/>
        </p:nvSpPr>
        <p:spPr>
          <a:xfrm>
            <a:off x="7982712" y="1481328"/>
            <a:ext cx="1307592" cy="420624"/>
          </a:xfrm>
          <a:prstGeom prst="rect">
            <a:avLst/>
          </a:prstGeom>
          <a:noFill/>
        </p:spPr>
        <p:txBody>
          <a:bodyPr wrap="square" lIns="0" rIns="0" tIns="0" bIns="0" anchor="ctr">
            <a:spAutoFit/>
          </a:bodyPr>
          <a:lstStyle/>
          <a:p>
            <a:pPr algn="l">
              <a:spcBef>
                <a:spcPts val="0"/>
              </a:spcBef>
              <a:spcAft>
                <a:spcPts val="0"/>
              </a:spcAft>
            </a:pPr>
            <a:r>
              <a:rPr sz="1300" b="1" i="0">
                <a:solidFill>
                  <a:srgbClr val="005EB8"/>
                </a:solidFill>
                <a:latin typeface="Arial"/>
              </a:rPr>
              <a:t>Audio answers</a:t>
            </a:r>
          </a:p>
        </p:txBody>
      </p:sp>
      <p:sp>
        <p:nvSpPr>
          <p:cNvPr id="39" name="TextBox 38"/>
          <p:cNvSpPr txBox="1"/>
          <p:nvPr/>
        </p:nvSpPr>
        <p:spPr>
          <a:xfrm>
            <a:off x="7452360" y="2057400"/>
            <a:ext cx="1810512" cy="566928"/>
          </a:xfrm>
          <a:prstGeom prst="rect">
            <a:avLst/>
          </a:prstGeom>
          <a:noFill/>
        </p:spPr>
        <p:txBody>
          <a:bodyPr wrap="square" lIns="0" rIns="0" tIns="0" bIns="0" anchor="t">
            <a:spAutoFit/>
          </a:bodyPr>
          <a:lstStyle/>
          <a:p>
            <a:pPr algn="l">
              <a:lnSpc>
                <a:spcPct val="110000"/>
              </a:lnSpc>
              <a:spcBef>
                <a:spcPts val="0"/>
              </a:spcBef>
              <a:spcAft>
                <a:spcPts val="0"/>
              </a:spcAft>
            </a:pPr>
            <a:r>
              <a:rPr sz="1250" b="1" i="0">
                <a:solidFill>
                  <a:srgbClr val="14181C"/>
                </a:solidFill>
                <a:latin typeface="Rockwell"/>
              </a:rPr>
              <a:t>Arjun, 29, blind</a:t>
            </a:r>
          </a:p>
        </p:txBody>
      </p:sp>
      <p:sp>
        <p:nvSpPr>
          <p:cNvPr id="40" name="TextBox 39"/>
          <p:cNvSpPr txBox="1"/>
          <p:nvPr/>
        </p:nvSpPr>
        <p:spPr>
          <a:xfrm>
            <a:off x="7452360" y="2697480"/>
            <a:ext cx="1810512" cy="1097280"/>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5F6872"/>
                </a:solidFill>
                <a:latin typeface="Arial"/>
              </a:rPr>
              <a:t>Cannot see the numbers on screen.</a:t>
            </a:r>
          </a:p>
        </p:txBody>
      </p:sp>
      <p:sp>
        <p:nvSpPr>
          <p:cNvPr id="41" name="Rectangle 40"/>
          <p:cNvSpPr/>
          <p:nvPr/>
        </p:nvSpPr>
        <p:spPr>
          <a:xfrm>
            <a:off x="7452360" y="3767328"/>
            <a:ext cx="1764792"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52360" y="3858768"/>
            <a:ext cx="1810512" cy="256032"/>
          </a:xfrm>
          <a:prstGeom prst="rect">
            <a:avLst/>
          </a:prstGeom>
          <a:noFill/>
        </p:spPr>
        <p:txBody>
          <a:bodyPr wrap="square" lIns="0" rIns="0" tIns="0" bIns="0" anchor="t">
            <a:spAutoFit/>
          </a:bodyPr>
          <a:lstStyle/>
          <a:p>
            <a:pPr algn="l">
              <a:spcBef>
                <a:spcPts val="0"/>
              </a:spcBef>
              <a:spcAft>
                <a:spcPts val="0"/>
              </a:spcAft>
            </a:pPr>
            <a:r>
              <a:rPr sz="900" b="1" i="0">
                <a:solidFill>
                  <a:srgbClr val="007A4D"/>
                </a:solidFill>
                <a:latin typeface="Arial"/>
              </a:rPr>
              <a:t>ON CLAIMCAST</a:t>
            </a:r>
          </a:p>
        </p:txBody>
      </p:sp>
      <p:sp>
        <p:nvSpPr>
          <p:cNvPr id="43" name="TextBox 42"/>
          <p:cNvSpPr txBox="1"/>
          <p:nvPr/>
        </p:nvSpPr>
        <p:spPr>
          <a:xfrm>
            <a:off x="7452360" y="4114800"/>
            <a:ext cx="1810512" cy="141732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Read-aloud on every answer, a Listen button, spoken questions, and live screen-reader updates; rupees are said as words.</a:t>
            </a:r>
          </a:p>
        </p:txBody>
      </p:sp>
      <p:sp>
        <p:nvSpPr>
          <p:cNvPr id="44" name="Rounded Rectangle 43"/>
          <p:cNvSpPr/>
          <p:nvPr/>
        </p:nvSpPr>
        <p:spPr>
          <a:xfrm>
            <a:off x="7379208" y="5504688"/>
            <a:ext cx="1911095" cy="603504"/>
          </a:xfrm>
          <a:prstGeom prst="roundRect">
            <a:avLst>
              <a:gd name="adj" fmla="val 1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70648" y="5532120"/>
            <a:ext cx="1728216" cy="548640"/>
          </a:xfrm>
          <a:prstGeom prst="rect">
            <a:avLst/>
          </a:prstGeom>
          <a:noFill/>
        </p:spPr>
        <p:txBody>
          <a:bodyPr wrap="square" lIns="0" rIns="0" tIns="0" bIns="0" anchor="ctr">
            <a:spAutoFit/>
          </a:bodyPr>
          <a:lstStyle/>
          <a:p>
            <a:pPr algn="l">
              <a:lnSpc>
                <a:spcPct val="110000"/>
              </a:lnSpc>
              <a:spcBef>
                <a:spcPts val="0"/>
              </a:spcBef>
              <a:spcAft>
                <a:spcPts val="0"/>
              </a:spcAft>
            </a:pPr>
            <a:r>
              <a:rPr sz="850" b="1" i="0">
                <a:solidFill>
                  <a:srgbClr val="005EB8"/>
                </a:solidFill>
                <a:latin typeface="Arial"/>
              </a:rPr>
              <a:t>WHERE  </a:t>
            </a:r>
            <a:r>
              <a:rPr sz="950" b="0" i="0">
                <a:solidFill>
                  <a:srgbClr val="14181C"/>
                </a:solidFill>
                <a:latin typeface="Arial"/>
              </a:rPr>
              <a:t>“Read answers aloud” and Listen, in the chat</a:t>
            </a:r>
          </a:p>
        </p:txBody>
      </p:sp>
      <p:sp>
        <p:nvSpPr>
          <p:cNvPr id="46" name="Rounded Rectangle 45"/>
          <p:cNvSpPr/>
          <p:nvPr/>
        </p:nvSpPr>
        <p:spPr>
          <a:xfrm>
            <a:off x="9509760" y="1325880"/>
            <a:ext cx="2130552" cy="48920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9692640" y="148132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E</a:t>
            </a:r>
          </a:p>
        </p:txBody>
      </p:sp>
      <p:sp>
        <p:nvSpPr>
          <p:cNvPr id="48" name="TextBox 47"/>
          <p:cNvSpPr txBox="1"/>
          <p:nvPr/>
        </p:nvSpPr>
        <p:spPr>
          <a:xfrm>
            <a:off x="10222992" y="1481328"/>
            <a:ext cx="1307592" cy="420624"/>
          </a:xfrm>
          <a:prstGeom prst="rect">
            <a:avLst/>
          </a:prstGeom>
          <a:noFill/>
        </p:spPr>
        <p:txBody>
          <a:bodyPr wrap="square" lIns="0" rIns="0" tIns="0" bIns="0" anchor="ctr">
            <a:spAutoFit/>
          </a:bodyPr>
          <a:lstStyle/>
          <a:p>
            <a:pPr algn="l">
              <a:spcBef>
                <a:spcPts val="0"/>
              </a:spcBef>
              <a:spcAft>
                <a:spcPts val="0"/>
              </a:spcAft>
            </a:pPr>
            <a:r>
              <a:rPr sz="1300" b="1" i="0">
                <a:solidFill>
                  <a:srgbClr val="005EB8"/>
                </a:solidFill>
                <a:latin typeface="Arial"/>
              </a:rPr>
              <a:t>Family analysis</a:t>
            </a:r>
          </a:p>
        </p:txBody>
      </p:sp>
      <p:sp>
        <p:nvSpPr>
          <p:cNvPr id="49" name="TextBox 48"/>
          <p:cNvSpPr txBox="1"/>
          <p:nvPr/>
        </p:nvSpPr>
        <p:spPr>
          <a:xfrm>
            <a:off x="9692640" y="2057400"/>
            <a:ext cx="1810512" cy="566928"/>
          </a:xfrm>
          <a:prstGeom prst="rect">
            <a:avLst/>
          </a:prstGeom>
          <a:noFill/>
        </p:spPr>
        <p:txBody>
          <a:bodyPr wrap="square" lIns="0" rIns="0" tIns="0" bIns="0" anchor="t">
            <a:spAutoFit/>
          </a:bodyPr>
          <a:lstStyle/>
          <a:p>
            <a:pPr algn="l">
              <a:lnSpc>
                <a:spcPct val="110000"/>
              </a:lnSpc>
              <a:spcBef>
                <a:spcPts val="0"/>
              </a:spcBef>
              <a:spcAft>
                <a:spcPts val="0"/>
              </a:spcAft>
            </a:pPr>
            <a:r>
              <a:rPr sz="1250" b="1" i="0">
                <a:solidFill>
                  <a:srgbClr val="14181C"/>
                </a:solidFill>
                <a:latin typeface="Rockwell"/>
              </a:rPr>
              <a:t>Meena, 42, family floater plan</a:t>
            </a:r>
          </a:p>
        </p:txBody>
      </p:sp>
      <p:sp>
        <p:nvSpPr>
          <p:cNvPr id="50" name="TextBox 49"/>
          <p:cNvSpPr txBox="1"/>
          <p:nvPr/>
        </p:nvSpPr>
        <p:spPr>
          <a:xfrm>
            <a:off x="9692640" y="2697480"/>
            <a:ext cx="1810512" cy="1097280"/>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5F6872"/>
                </a:solidFill>
                <a:latin typeface="Arial"/>
              </a:rPr>
              <a:t>Husband, two children and her mother-in-law share one policy.</a:t>
            </a:r>
          </a:p>
        </p:txBody>
      </p:sp>
      <p:sp>
        <p:nvSpPr>
          <p:cNvPr id="51" name="Rectangle 50"/>
          <p:cNvSpPr/>
          <p:nvPr/>
        </p:nvSpPr>
        <p:spPr>
          <a:xfrm>
            <a:off x="9692640" y="3767328"/>
            <a:ext cx="1764792"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92640" y="3858768"/>
            <a:ext cx="1810512" cy="256032"/>
          </a:xfrm>
          <a:prstGeom prst="rect">
            <a:avLst/>
          </a:prstGeom>
          <a:noFill/>
        </p:spPr>
        <p:txBody>
          <a:bodyPr wrap="square" lIns="0" rIns="0" tIns="0" bIns="0" anchor="t">
            <a:spAutoFit/>
          </a:bodyPr>
          <a:lstStyle/>
          <a:p>
            <a:pPr algn="l">
              <a:spcBef>
                <a:spcPts val="0"/>
              </a:spcBef>
              <a:spcAft>
                <a:spcPts val="0"/>
              </a:spcAft>
            </a:pPr>
            <a:r>
              <a:rPr sz="900" b="1" i="0">
                <a:solidFill>
                  <a:srgbClr val="007A4D"/>
                </a:solidFill>
                <a:latin typeface="Arial"/>
              </a:rPr>
              <a:t>ON CLAIMCAST</a:t>
            </a:r>
          </a:p>
        </p:txBody>
      </p:sp>
      <p:sp>
        <p:nvSpPr>
          <p:cNvPr id="53" name="TextBox 52"/>
          <p:cNvSpPr txBox="1"/>
          <p:nvPr/>
        </p:nvSpPr>
        <p:spPr>
          <a:xfrm>
            <a:off x="9692640" y="4114800"/>
            <a:ext cx="1810512" cy="141732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Every member with their own ID; the patient stays separate from the policyholder; at 71, her mother-in-law’s stay is paid automatically by Vay Vandana.</a:t>
            </a:r>
          </a:p>
        </p:txBody>
      </p:sp>
      <p:sp>
        <p:nvSpPr>
          <p:cNvPr id="54" name="Rounded Rectangle 53"/>
          <p:cNvSpPr/>
          <p:nvPr/>
        </p:nvSpPr>
        <p:spPr>
          <a:xfrm>
            <a:off x="9619488" y="5504688"/>
            <a:ext cx="1911095" cy="603504"/>
          </a:xfrm>
          <a:prstGeom prst="roundRect">
            <a:avLst>
              <a:gd name="adj" fmla="val 1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0928" y="5532120"/>
            <a:ext cx="1728216" cy="548640"/>
          </a:xfrm>
          <a:prstGeom prst="rect">
            <a:avLst/>
          </a:prstGeom>
          <a:noFill/>
        </p:spPr>
        <p:txBody>
          <a:bodyPr wrap="square" lIns="0" rIns="0" tIns="0" bIns="0" anchor="ctr">
            <a:spAutoFit/>
          </a:bodyPr>
          <a:lstStyle/>
          <a:p>
            <a:pPr algn="l">
              <a:lnSpc>
                <a:spcPct val="110000"/>
              </a:lnSpc>
              <a:spcBef>
                <a:spcPts val="0"/>
              </a:spcBef>
              <a:spcAft>
                <a:spcPts val="0"/>
              </a:spcAft>
            </a:pPr>
            <a:r>
              <a:rPr sz="850" b="1" i="0">
                <a:solidFill>
                  <a:srgbClr val="005EB8"/>
                </a:solidFill>
                <a:latin typeface="Arial"/>
              </a:rPr>
              <a:t>WHERE  </a:t>
            </a:r>
            <a:r>
              <a:rPr sz="950" b="0" i="0">
                <a:solidFill>
                  <a:srgbClr val="14181C"/>
                </a:solidFill>
                <a:latin typeface="Arial"/>
              </a:rPr>
              <a:t>Start → About you → + Add; “Sum insured used” on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10</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Who it helps: every income group</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Average spent per stay in a private hospital, by household income (today’s rupees)</a:t>
            </a:r>
          </a:p>
        </p:txBody>
      </p:sp>
      <p:graphicFrame>
        <p:nvGraphicFramePr>
          <p:cNvPr id="6" name="Chart 5"/>
          <p:cNvGraphicFramePr>
            <a:graphicFrameLocks noGrp="1"/>
          </p:cNvGraphicFramePr>
          <p:nvPr/>
        </p:nvGraphicFramePr>
        <p:xfrm>
          <a:off x="411480" y="1325880"/>
          <a:ext cx="5989320" cy="4114800"/>
        </p:xfrm>
        <a:graphic>
          <a:graphicData uri="http://schemas.openxmlformats.org/drawingml/2006/chart">
            <c:chart xmlns:c="http://schemas.openxmlformats.org/drawingml/2006/chart" r:id="rId2"/>
          </a:graphicData>
        </a:graphic>
      </p:graphicFrame>
      <p:sp>
        <p:nvSpPr>
          <p:cNvPr id="7" name="TextBox 6"/>
          <p:cNvSpPr txBox="1"/>
          <p:nvPr/>
        </p:nvSpPr>
        <p:spPr>
          <a:xfrm>
            <a:off x="548640" y="5486400"/>
            <a:ext cx="5760720" cy="64008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F6872"/>
                </a:solidFill>
                <a:latin typeface="Arial"/>
              </a:rPr>
              <a:t>A private hospital stay costs about 7× a government one. Source: NSS 75th round (2017–18, 113,823 households), adjusted to Dec 2025 prices with the CPI health index.</a:t>
            </a:r>
          </a:p>
        </p:txBody>
      </p:sp>
      <p:sp>
        <p:nvSpPr>
          <p:cNvPr id="8" name="Rounded Rectangle 7"/>
          <p:cNvSpPr/>
          <p:nvPr/>
        </p:nvSpPr>
        <p:spPr>
          <a:xfrm>
            <a:off x="6629400" y="1371600"/>
            <a:ext cx="5010912" cy="822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812280" y="157276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1</a:t>
            </a:r>
          </a:p>
        </p:txBody>
      </p:sp>
      <p:sp>
        <p:nvSpPr>
          <p:cNvPr id="10" name="TextBox 9"/>
          <p:cNvSpPr txBox="1"/>
          <p:nvPr/>
        </p:nvSpPr>
        <p:spPr>
          <a:xfrm>
            <a:off x="7406640" y="1463040"/>
            <a:ext cx="4114800" cy="685800"/>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14181C"/>
                </a:solidFill>
                <a:latin typeface="Arial"/>
              </a:rPr>
              <a:t>Lower income  </a:t>
            </a:r>
            <a:r>
              <a:rPr sz="1150" b="0" i="0">
                <a:solidFill>
                  <a:srgbClr val="2B3138"/>
                </a:solidFill>
                <a:latin typeface="Arial"/>
              </a:rPr>
              <a:t>At 70+, Ayushman Vay Vandana pays automatically — nothing owed. Below that, checks for a PM-JAY card.</a:t>
            </a:r>
          </a:p>
        </p:txBody>
      </p:sp>
      <p:sp>
        <p:nvSpPr>
          <p:cNvPr id="11" name="Rounded Rectangle 10"/>
          <p:cNvSpPr/>
          <p:nvPr/>
        </p:nvSpPr>
        <p:spPr>
          <a:xfrm>
            <a:off x="6629400" y="2304288"/>
            <a:ext cx="5010912" cy="822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812280" y="2505456"/>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2</a:t>
            </a:r>
          </a:p>
        </p:txBody>
      </p:sp>
      <p:sp>
        <p:nvSpPr>
          <p:cNvPr id="13" name="TextBox 12"/>
          <p:cNvSpPr txBox="1"/>
          <p:nvPr/>
        </p:nvSpPr>
        <p:spPr>
          <a:xfrm>
            <a:off x="7406640" y="2395728"/>
            <a:ext cx="4114800" cy="685800"/>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14181C"/>
                </a:solidFill>
                <a:latin typeface="Arial"/>
              </a:rPr>
              <a:t>Salaried workers  </a:t>
            </a:r>
            <a:r>
              <a:rPr sz="1150" b="0" i="0">
                <a:solidFill>
                  <a:srgbClr val="2B3138"/>
                </a:solidFill>
                <a:latin typeface="Arial"/>
              </a:rPr>
              <a:t>Shows when ESI (for wages up to ₹21,000 a month) covers the treatment at no cost.</a:t>
            </a:r>
          </a:p>
        </p:txBody>
      </p:sp>
      <p:sp>
        <p:nvSpPr>
          <p:cNvPr id="14" name="Rounded Rectangle 13"/>
          <p:cNvSpPr/>
          <p:nvPr/>
        </p:nvSpPr>
        <p:spPr>
          <a:xfrm>
            <a:off x="6629400" y="3236976"/>
            <a:ext cx="5010912" cy="822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812280" y="3438144"/>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3</a:t>
            </a:r>
          </a:p>
        </p:txBody>
      </p:sp>
      <p:sp>
        <p:nvSpPr>
          <p:cNvPr id="16" name="TextBox 15"/>
          <p:cNvSpPr txBox="1"/>
          <p:nvPr/>
        </p:nvSpPr>
        <p:spPr>
          <a:xfrm>
            <a:off x="7406640" y="3328416"/>
            <a:ext cx="4114800" cy="685800"/>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14181C"/>
                </a:solidFill>
                <a:latin typeface="Arial"/>
              </a:rPr>
              <a:t>Government staff  </a:t>
            </a:r>
            <a:r>
              <a:rPr sz="1150" b="0" i="0">
                <a:solidFill>
                  <a:srgbClr val="2B3138"/>
                </a:solidFill>
                <a:latin typeface="Arial"/>
              </a:rPr>
              <a:t>Shows the CGHS option for serving and retired central government employees.</a:t>
            </a:r>
          </a:p>
        </p:txBody>
      </p:sp>
      <p:sp>
        <p:nvSpPr>
          <p:cNvPr id="17" name="Rounded Rectangle 16"/>
          <p:cNvSpPr/>
          <p:nvPr/>
        </p:nvSpPr>
        <p:spPr>
          <a:xfrm>
            <a:off x="6629400" y="4169664"/>
            <a:ext cx="5010912" cy="822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812280" y="4370832"/>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4</a:t>
            </a:r>
          </a:p>
        </p:txBody>
      </p:sp>
      <p:sp>
        <p:nvSpPr>
          <p:cNvPr id="19" name="TextBox 18"/>
          <p:cNvSpPr txBox="1"/>
          <p:nvPr/>
        </p:nvSpPr>
        <p:spPr>
          <a:xfrm>
            <a:off x="7406640" y="4261104"/>
            <a:ext cx="4114800" cy="685800"/>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14181C"/>
                </a:solidFill>
                <a:latin typeface="Arial"/>
              </a:rPr>
              <a:t>Middle income  </a:t>
            </a:r>
            <a:r>
              <a:rPr sz="1150" b="0" i="0">
                <a:solidFill>
                  <a:srgbClr val="2B3138"/>
                </a:solidFill>
                <a:latin typeface="Arial"/>
              </a:rPr>
              <a:t>Finds the room, hospital and implant that keep the most money in the family.</a:t>
            </a:r>
          </a:p>
        </p:txBody>
      </p:sp>
      <p:sp>
        <p:nvSpPr>
          <p:cNvPr id="20" name="Rounded Rectangle 19"/>
          <p:cNvSpPr/>
          <p:nvPr/>
        </p:nvSpPr>
        <p:spPr>
          <a:xfrm>
            <a:off x="6629400" y="5102352"/>
            <a:ext cx="5010912" cy="822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12280" y="5303520"/>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5</a:t>
            </a:r>
          </a:p>
        </p:txBody>
      </p:sp>
      <p:sp>
        <p:nvSpPr>
          <p:cNvPr id="22" name="TextBox 21"/>
          <p:cNvSpPr txBox="1"/>
          <p:nvPr/>
        </p:nvSpPr>
        <p:spPr>
          <a:xfrm>
            <a:off x="7406640" y="5193792"/>
            <a:ext cx="4114800" cy="685800"/>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14181C"/>
                </a:solidFill>
                <a:latin typeface="Arial"/>
              </a:rPr>
              <a:t>Higher income  </a:t>
            </a:r>
            <a:r>
              <a:rPr sz="1150" b="0" i="0">
                <a:solidFill>
                  <a:srgbClr val="2B3138"/>
                </a:solidFill>
                <a:latin typeface="Arial"/>
              </a:rPr>
              <a:t>Shows the true cost of premium rooms: a suite here means paying ₹2,39,762 yourself.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11</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What is new, and how it compares</a:t>
            </a:r>
          </a:p>
        </p:txBody>
      </p:sp>
      <p:graphicFrame>
        <p:nvGraphicFramePr>
          <p:cNvPr id="5" name="Table 4"/>
          <p:cNvGraphicFramePr>
            <a:graphicFrameLocks noGrp="1"/>
          </p:cNvGraphicFramePr>
          <p:nvPr/>
        </p:nvGraphicFramePr>
        <p:xfrm>
          <a:off x="548640" y="1234440"/>
          <a:ext cx="6720840" cy="3611880"/>
        </p:xfrm>
        <a:graphic>
          <a:graphicData uri="http://schemas.openxmlformats.org/drawingml/2006/table">
            <a:tbl>
              <a:tblPr firstRow="1" bandRow="1">
                <a:tableStyleId>{5C22544A-7EE6-4342-B048-85BDC9FD1C3A}</a:tableStyleId>
              </a:tblPr>
              <a:tblGrid>
                <a:gridCol w="1783080"/>
                <a:gridCol w="1783080"/>
                <a:gridCol w="2011680"/>
                <a:gridCol w="1143000"/>
              </a:tblGrid>
              <a:tr h="411480">
                <a:tc>
                  <a:txBody>
                    <a:bodyPr wrap="square"/>
                    <a:lstStyle/>
                    <a:p>
                      <a:r>
                        <a:rPr sz="1050" b="1">
                          <a:solidFill>
                            <a:srgbClr val="FFFFFF"/>
                          </a:solidFill>
                          <a:latin typeface="Arial"/>
                        </a:rPr>
                        <a:t/>
                      </a:r>
                    </a:p>
                  </a:txBody>
                  <a:tcPr marL="109728" marR="109728" anchor="ctr">
                    <a:solidFill>
                      <a:srgbClr val="14181C"/>
                    </a:solidFill>
                  </a:tcPr>
                </a:tc>
                <a:tc>
                  <a:txBody>
                    <a:bodyPr wrap="square"/>
                    <a:lstStyle/>
                    <a:p>
                      <a:r>
                        <a:rPr sz="1050" b="1">
                          <a:solidFill>
                            <a:srgbClr val="FFFFFF"/>
                          </a:solidFill>
                          <a:latin typeface="Arial"/>
                        </a:rPr>
                        <a:t>When it helps</a:t>
                      </a:r>
                    </a:p>
                  </a:txBody>
                  <a:tcPr marL="109728" marR="109728" anchor="ctr">
                    <a:solidFill>
                      <a:srgbClr val="14181C"/>
                    </a:solidFill>
                  </a:tcPr>
                </a:tc>
                <a:tc>
                  <a:txBody>
                    <a:bodyPr wrap="square"/>
                    <a:lstStyle/>
                    <a:p>
                      <a:r>
                        <a:rPr sz="1050" b="1">
                          <a:solidFill>
                            <a:srgbClr val="FFFFFF"/>
                          </a:solidFill>
                          <a:latin typeface="Arial"/>
                        </a:rPr>
                        <a:t>What you get</a:t>
                      </a:r>
                    </a:p>
                  </a:txBody>
                  <a:tcPr marL="109728" marR="109728" anchor="ctr">
                    <a:solidFill>
                      <a:srgbClr val="14181C"/>
                    </a:solidFill>
                  </a:tcPr>
                </a:tc>
                <a:tc>
                  <a:txBody>
                    <a:bodyPr wrap="square"/>
                    <a:lstStyle/>
                    <a:p>
                      <a:r>
                        <a:rPr sz="1050" b="1">
                          <a:solidFill>
                            <a:srgbClr val="FFFFFF"/>
                          </a:solidFill>
                          <a:latin typeface="Arial"/>
                        </a:rPr>
                        <a:t>Whose side</a:t>
                      </a:r>
                    </a:p>
                  </a:txBody>
                  <a:tcPr marL="109728" marR="109728" anchor="ctr">
                    <a:solidFill>
                      <a:srgbClr val="14181C"/>
                    </a:solidFill>
                  </a:tcPr>
                </a:tc>
              </a:tr>
              <a:tr h="640080">
                <a:tc>
                  <a:txBody>
                    <a:bodyPr wrap="square"/>
                    <a:lstStyle/>
                    <a:p>
                      <a:r>
                        <a:rPr sz="1150" b="1">
                          <a:solidFill>
                            <a:srgbClr val="14181C"/>
                          </a:solidFill>
                          <a:latin typeface="Rockwell"/>
                        </a:rPr>
                        <a:t>Hospital insurance desk</a:t>
                      </a:r>
                    </a:p>
                  </a:txBody>
                  <a:tcPr marL="109728" marR="109728" anchor="ctr">
                    <a:solidFill>
                      <a:srgbClr val="FFFFFF"/>
                    </a:solidFill>
                  </a:tcPr>
                </a:tc>
                <a:tc>
                  <a:txBody>
                    <a:bodyPr wrap="square"/>
                    <a:lstStyle/>
                    <a:p>
                      <a:r>
                        <a:rPr sz="1150" b="0">
                          <a:solidFill>
                            <a:srgbClr val="2B3138"/>
                          </a:solidFill>
                          <a:latin typeface="Arial"/>
                        </a:rPr>
                        <a:t>At admission, after you choose</a:t>
                      </a:r>
                    </a:p>
                  </a:txBody>
                  <a:tcPr marL="109728" marR="109728" anchor="ctr">
                    <a:solidFill>
                      <a:srgbClr val="FFFFFF"/>
                    </a:solidFill>
                  </a:tcPr>
                </a:tc>
                <a:tc>
                  <a:txBody>
                    <a:bodyPr wrap="square"/>
                    <a:lstStyle/>
                    <a:p>
                      <a:r>
                        <a:rPr sz="1150" b="0">
                          <a:solidFill>
                            <a:srgbClr val="2B3138"/>
                          </a:solidFill>
                          <a:latin typeface="Arial"/>
                        </a:rPr>
                        <a:t>A spoken estimate</a:t>
                      </a:r>
                    </a:p>
                  </a:txBody>
                  <a:tcPr marL="109728" marR="109728" anchor="ctr">
                    <a:solidFill>
                      <a:srgbClr val="FFFFFF"/>
                    </a:solidFill>
                  </a:tcPr>
                </a:tc>
                <a:tc>
                  <a:txBody>
                    <a:bodyPr wrap="square"/>
                    <a:lstStyle/>
                    <a:p>
                      <a:r>
                        <a:rPr sz="1150" b="0">
                          <a:solidFill>
                            <a:srgbClr val="2B3138"/>
                          </a:solidFill>
                          <a:latin typeface="Arial"/>
                        </a:rPr>
                        <a:t>The hospital</a:t>
                      </a:r>
                    </a:p>
                  </a:txBody>
                  <a:tcPr marL="109728" marR="109728" anchor="ctr">
                    <a:solidFill>
                      <a:srgbClr val="FFFFFF"/>
                    </a:solidFill>
                  </a:tcPr>
                </a:tc>
              </a:tr>
              <a:tr h="640080">
                <a:tc>
                  <a:txBody>
                    <a:bodyPr wrap="square"/>
                    <a:lstStyle/>
                    <a:p>
                      <a:r>
                        <a:rPr sz="1150" b="1">
                          <a:solidFill>
                            <a:srgbClr val="14181C"/>
                          </a:solidFill>
                          <a:latin typeface="Rockwell"/>
                        </a:rPr>
                        <a:t>Policy websites</a:t>
                      </a:r>
                    </a:p>
                  </a:txBody>
                  <a:tcPr marL="109728" marR="109728" anchor="ctr">
                    <a:solidFill>
                      <a:srgbClr val="F4F7FA"/>
                    </a:solidFill>
                  </a:tcPr>
                </a:tc>
                <a:tc>
                  <a:txBody>
                    <a:bodyPr wrap="square"/>
                    <a:lstStyle/>
                    <a:p>
                      <a:r>
                        <a:rPr sz="1150" b="0">
                          <a:solidFill>
                            <a:srgbClr val="2B3138"/>
                          </a:solidFill>
                          <a:latin typeface="Arial"/>
                        </a:rPr>
                        <a:t>When buying a policy</a:t>
                      </a:r>
                    </a:p>
                  </a:txBody>
                  <a:tcPr marL="109728" marR="109728" anchor="ctr">
                    <a:solidFill>
                      <a:srgbClr val="F4F7FA"/>
                    </a:solidFill>
                  </a:tcPr>
                </a:tc>
                <a:tc>
                  <a:txBody>
                    <a:bodyPr wrap="square"/>
                    <a:lstStyle/>
                    <a:p>
                      <a:r>
                        <a:rPr sz="1150" b="0">
                          <a:solidFill>
                            <a:srgbClr val="2B3138"/>
                          </a:solidFill>
                          <a:latin typeface="Arial"/>
                        </a:rPr>
                        <a:t>Help choosing a plan</a:t>
                      </a:r>
                    </a:p>
                  </a:txBody>
                  <a:tcPr marL="109728" marR="109728" anchor="ctr">
                    <a:solidFill>
                      <a:srgbClr val="F4F7FA"/>
                    </a:solidFill>
                  </a:tcPr>
                </a:tc>
                <a:tc>
                  <a:txBody>
                    <a:bodyPr wrap="square"/>
                    <a:lstStyle/>
                    <a:p>
                      <a:r>
                        <a:rPr sz="1150" b="0">
                          <a:solidFill>
                            <a:srgbClr val="2B3138"/>
                          </a:solidFill>
                          <a:latin typeface="Arial"/>
                        </a:rPr>
                        <a:t>Buyers</a:t>
                      </a:r>
                    </a:p>
                  </a:txBody>
                  <a:tcPr marL="109728" marR="109728" anchor="ctr">
                    <a:solidFill>
                      <a:srgbClr val="F4F7FA"/>
                    </a:solidFill>
                  </a:tcPr>
                </a:tc>
              </a:tr>
              <a:tr h="640080">
                <a:tc>
                  <a:txBody>
                    <a:bodyPr wrap="square"/>
                    <a:lstStyle/>
                    <a:p>
                      <a:r>
                        <a:rPr sz="1150" b="1">
                          <a:solidFill>
                            <a:srgbClr val="14181C"/>
                          </a:solidFill>
                          <a:latin typeface="Rockwell"/>
                        </a:rPr>
                        <a:t>Insurer’s own app</a:t>
                      </a:r>
                    </a:p>
                  </a:txBody>
                  <a:tcPr marL="109728" marR="109728" anchor="ctr">
                    <a:solidFill>
                      <a:srgbClr val="FFFFFF"/>
                    </a:solidFill>
                  </a:tcPr>
                </a:tc>
                <a:tc>
                  <a:txBody>
                    <a:bodyPr wrap="square"/>
                    <a:lstStyle/>
                    <a:p>
                      <a:r>
                        <a:rPr sz="1150" b="0">
                          <a:solidFill>
                            <a:srgbClr val="2B3138"/>
                          </a:solidFill>
                          <a:latin typeface="Arial"/>
                        </a:rPr>
                        <a:t>After the claim is filed</a:t>
                      </a:r>
                    </a:p>
                  </a:txBody>
                  <a:tcPr marL="109728" marR="109728" anchor="ctr">
                    <a:solidFill>
                      <a:srgbClr val="FFFFFF"/>
                    </a:solidFill>
                  </a:tcPr>
                </a:tc>
                <a:tc>
                  <a:txBody>
                    <a:bodyPr wrap="square"/>
                    <a:lstStyle/>
                    <a:p>
                      <a:r>
                        <a:rPr sz="1150" b="0">
                          <a:solidFill>
                            <a:srgbClr val="2B3138"/>
                          </a:solidFill>
                          <a:latin typeface="Arial"/>
                        </a:rPr>
                        <a:t>Claim status</a:t>
                      </a:r>
                    </a:p>
                  </a:txBody>
                  <a:tcPr marL="109728" marR="109728" anchor="ctr">
                    <a:solidFill>
                      <a:srgbClr val="FFFFFF"/>
                    </a:solidFill>
                  </a:tcPr>
                </a:tc>
                <a:tc>
                  <a:txBody>
                    <a:bodyPr wrap="square"/>
                    <a:lstStyle/>
                    <a:p>
                      <a:r>
                        <a:rPr sz="1150" b="0">
                          <a:solidFill>
                            <a:srgbClr val="2B3138"/>
                          </a:solidFill>
                          <a:latin typeface="Arial"/>
                        </a:rPr>
                        <a:t>The insurer</a:t>
                      </a:r>
                    </a:p>
                  </a:txBody>
                  <a:tcPr marL="109728" marR="109728" anchor="ctr">
                    <a:solidFill>
                      <a:srgbClr val="FFFFFF"/>
                    </a:solidFill>
                  </a:tcPr>
                </a:tc>
              </a:tr>
              <a:tr h="640080">
                <a:tc>
                  <a:txBody>
                    <a:bodyPr wrap="square"/>
                    <a:lstStyle/>
                    <a:p>
                      <a:r>
                        <a:rPr sz="1150" b="1">
                          <a:solidFill>
                            <a:srgbClr val="14181C"/>
                          </a:solidFill>
                          <a:latin typeface="Rockwell"/>
                        </a:rPr>
                        <a:t>General AI chatbots</a:t>
                      </a:r>
                    </a:p>
                  </a:txBody>
                  <a:tcPr marL="109728" marR="109728" anchor="ctr">
                    <a:solidFill>
                      <a:srgbClr val="F4F7FA"/>
                    </a:solidFill>
                  </a:tcPr>
                </a:tc>
                <a:tc>
                  <a:txBody>
                    <a:bodyPr wrap="square"/>
                    <a:lstStyle/>
                    <a:p>
                      <a:r>
                        <a:rPr sz="1150" b="0">
                          <a:solidFill>
                            <a:srgbClr val="2B3138"/>
                          </a:solidFill>
                          <a:latin typeface="Arial"/>
                        </a:rPr>
                        <a:t>Any time</a:t>
                      </a:r>
                    </a:p>
                  </a:txBody>
                  <a:tcPr marL="109728" marR="109728" anchor="ctr">
                    <a:solidFill>
                      <a:srgbClr val="F4F7FA"/>
                    </a:solidFill>
                  </a:tcPr>
                </a:tc>
                <a:tc>
                  <a:txBody>
                    <a:bodyPr wrap="square"/>
                    <a:lstStyle/>
                    <a:p>
                      <a:r>
                        <a:rPr sz="1150" b="0">
                          <a:solidFill>
                            <a:srgbClr val="2B3138"/>
                          </a:solidFill>
                          <a:latin typeface="Arial"/>
                        </a:rPr>
                        <a:t>Explanations; may guess numbers</a:t>
                      </a:r>
                    </a:p>
                  </a:txBody>
                  <a:tcPr marL="109728" marR="109728" anchor="ctr">
                    <a:solidFill>
                      <a:srgbClr val="F4F7FA"/>
                    </a:solidFill>
                  </a:tcPr>
                </a:tc>
                <a:tc>
                  <a:txBody>
                    <a:bodyPr wrap="square"/>
                    <a:lstStyle/>
                    <a:p>
                      <a:r>
                        <a:rPr sz="1150" b="0">
                          <a:solidFill>
                            <a:srgbClr val="2B3138"/>
                          </a:solidFill>
                          <a:latin typeface="Arial"/>
                        </a:rPr>
                        <a:t>No one</a:t>
                      </a:r>
                    </a:p>
                  </a:txBody>
                  <a:tcPr marL="109728" marR="109728" anchor="ctr">
                    <a:solidFill>
                      <a:srgbClr val="F4F7FA"/>
                    </a:solidFill>
                  </a:tcPr>
                </a:tc>
              </a:tr>
              <a:tr h="640080">
                <a:tc>
                  <a:txBody>
                    <a:bodyPr wrap="square"/>
                    <a:lstStyle/>
                    <a:p>
                      <a:r>
                        <a:rPr sz="1150" b="1">
                          <a:solidFill>
                            <a:srgbClr val="FFFFFF"/>
                          </a:solidFill>
                          <a:latin typeface="Rockwell"/>
                        </a:rPr>
                        <a:t>ClaimCast</a:t>
                      </a:r>
                    </a:p>
                  </a:txBody>
                  <a:tcPr marL="109728" marR="109728" anchor="ctr">
                    <a:solidFill>
                      <a:srgbClr val="005EB8"/>
                    </a:solidFill>
                  </a:tcPr>
                </a:tc>
                <a:tc>
                  <a:txBody>
                    <a:bodyPr wrap="square"/>
                    <a:lstStyle/>
                    <a:p>
                      <a:r>
                        <a:rPr sz="1150" b="1">
                          <a:solidFill>
                            <a:srgbClr val="FFFFFF"/>
                          </a:solidFill>
                          <a:latin typeface="Arial"/>
                        </a:rPr>
                        <a:t>Before admission, at each choice</a:t>
                      </a:r>
                    </a:p>
                  </a:txBody>
                  <a:tcPr marL="109728" marR="109728" anchor="ctr">
                    <a:solidFill>
                      <a:srgbClr val="005EB8"/>
                    </a:solidFill>
                  </a:tcPr>
                </a:tc>
                <a:tc>
                  <a:txBody>
                    <a:bodyPr wrap="square"/>
                    <a:lstStyle/>
                    <a:p>
                      <a:r>
                        <a:rPr sz="1150" b="1">
                          <a:solidFill>
                            <a:srgbClr val="FFFFFF"/>
                          </a:solidFill>
                          <a:latin typeface="Arial"/>
                        </a:rPr>
                        <a:t>Exact rupees + the rule behind them</a:t>
                      </a:r>
                    </a:p>
                  </a:txBody>
                  <a:tcPr marL="109728" marR="109728" anchor="ctr">
                    <a:solidFill>
                      <a:srgbClr val="005EB8"/>
                    </a:solidFill>
                  </a:tcPr>
                </a:tc>
                <a:tc>
                  <a:txBody>
                    <a:bodyPr wrap="square"/>
                    <a:lstStyle/>
                    <a:p>
                      <a:r>
                        <a:rPr sz="1150" b="1">
                          <a:solidFill>
                            <a:srgbClr val="FFFFFF"/>
                          </a:solidFill>
                          <a:latin typeface="Arial"/>
                        </a:rPr>
                        <a:t>The family</a:t>
                      </a:r>
                    </a:p>
                  </a:txBody>
                  <a:tcPr marL="109728" marR="109728" anchor="ctr">
                    <a:solidFill>
                      <a:srgbClr val="005EB8"/>
                    </a:solidFill>
                  </a:tcPr>
                </a:tc>
              </a:tr>
            </a:tbl>
          </a:graphicData>
        </a:graphic>
      </p:graphicFrame>
      <p:sp>
        <p:nvSpPr>
          <p:cNvPr id="6" name="Rounded Rectangle 5"/>
          <p:cNvSpPr/>
          <p:nvPr/>
        </p:nvSpPr>
        <p:spPr>
          <a:xfrm>
            <a:off x="7498079" y="1234440"/>
            <a:ext cx="4142232" cy="713232"/>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635240" y="1399032"/>
            <a:ext cx="384048" cy="38404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Rockwell"/>
              </a:rPr>
              <a:t>1</a:t>
            </a:r>
          </a:p>
        </p:txBody>
      </p:sp>
      <p:sp>
        <p:nvSpPr>
          <p:cNvPr id="8" name="TextBox 7"/>
          <p:cNvSpPr txBox="1"/>
          <p:nvPr/>
        </p:nvSpPr>
        <p:spPr>
          <a:xfrm>
            <a:off x="8156448" y="1298448"/>
            <a:ext cx="3383280" cy="640080"/>
          </a:xfrm>
          <a:prstGeom prst="rect">
            <a:avLst/>
          </a:prstGeom>
          <a:noFill/>
        </p:spPr>
        <p:txBody>
          <a:bodyPr wrap="square" lIns="0" rIns="0" tIns="0" bIns="0" anchor="ctr">
            <a:spAutoFit/>
          </a:bodyPr>
          <a:lstStyle/>
          <a:p>
            <a:pPr algn="l">
              <a:spcBef>
                <a:spcPts val="0"/>
              </a:spcBef>
              <a:spcAft>
                <a:spcPts val="100"/>
              </a:spcAft>
            </a:pPr>
            <a:r>
              <a:rPr sz="1150" b="1" i="0">
                <a:solidFill>
                  <a:srgbClr val="14181C"/>
                </a:solidFill>
                <a:latin typeface="Arial"/>
              </a:rPr>
              <a:t>Before, not after</a:t>
            </a:r>
          </a:p>
          <a:p>
            <a:pPr algn="l">
              <a:lnSpc>
                <a:spcPct val="110000"/>
              </a:lnSpc>
              <a:spcBef>
                <a:spcPts val="0"/>
              </a:spcBef>
              <a:spcAft>
                <a:spcPts val="0"/>
              </a:spcAft>
            </a:pPr>
            <a:r>
              <a:rPr sz="1000" b="0" i="0">
                <a:solidFill>
                  <a:srgbClr val="2B3138"/>
                </a:solidFill>
                <a:latin typeface="Arial"/>
              </a:rPr>
              <a:t>The insurer’s own maths, done before admission while the family can still choose.</a:t>
            </a:r>
          </a:p>
        </p:txBody>
      </p:sp>
      <p:sp>
        <p:nvSpPr>
          <p:cNvPr id="9" name="Rounded Rectangle 8"/>
          <p:cNvSpPr/>
          <p:nvPr/>
        </p:nvSpPr>
        <p:spPr>
          <a:xfrm>
            <a:off x="7498079" y="2029968"/>
            <a:ext cx="4142232" cy="713232"/>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635240" y="2194560"/>
            <a:ext cx="384048" cy="38404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Rockwell"/>
              </a:rPr>
              <a:t>2</a:t>
            </a:r>
          </a:p>
        </p:txBody>
      </p:sp>
      <p:sp>
        <p:nvSpPr>
          <p:cNvPr id="11" name="TextBox 10"/>
          <p:cNvSpPr txBox="1"/>
          <p:nvPr/>
        </p:nvSpPr>
        <p:spPr>
          <a:xfrm>
            <a:off x="8156448" y="2093976"/>
            <a:ext cx="3383280" cy="640080"/>
          </a:xfrm>
          <a:prstGeom prst="rect">
            <a:avLst/>
          </a:prstGeom>
          <a:noFill/>
        </p:spPr>
        <p:txBody>
          <a:bodyPr wrap="square" lIns="0" rIns="0" tIns="0" bIns="0" anchor="ctr">
            <a:spAutoFit/>
          </a:bodyPr>
          <a:lstStyle/>
          <a:p>
            <a:pPr algn="l">
              <a:spcBef>
                <a:spcPts val="0"/>
              </a:spcBef>
              <a:spcAft>
                <a:spcPts val="100"/>
              </a:spcAft>
            </a:pPr>
            <a:r>
              <a:rPr sz="1150" b="1" i="0">
                <a:solidFill>
                  <a:srgbClr val="14181C"/>
                </a:solidFill>
                <a:latin typeface="Arial"/>
              </a:rPr>
              <a:t>Prices every decision</a:t>
            </a:r>
          </a:p>
          <a:p>
            <a:pPr algn="l">
              <a:lnSpc>
                <a:spcPct val="110000"/>
              </a:lnSpc>
              <a:spcBef>
                <a:spcPts val="0"/>
              </a:spcBef>
              <a:spcAft>
                <a:spcPts val="0"/>
              </a:spcAft>
            </a:pPr>
            <a:r>
              <a:rPr sz="1000" b="0" i="0">
                <a:solidFill>
                  <a:srgbClr val="2B3138"/>
                </a:solidFill>
                <a:latin typeface="Arial"/>
              </a:rPr>
              <a:t>Hospital, room, implant, claim route, and now each scan on a health report.</a:t>
            </a:r>
          </a:p>
        </p:txBody>
      </p:sp>
      <p:sp>
        <p:nvSpPr>
          <p:cNvPr id="12" name="Rounded Rectangle 11"/>
          <p:cNvSpPr/>
          <p:nvPr/>
        </p:nvSpPr>
        <p:spPr>
          <a:xfrm>
            <a:off x="7498079" y="2825496"/>
            <a:ext cx="4142232" cy="713232"/>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35240" y="2990088"/>
            <a:ext cx="384048" cy="38404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Rockwell"/>
              </a:rPr>
              <a:t>3</a:t>
            </a:r>
          </a:p>
        </p:txBody>
      </p:sp>
      <p:sp>
        <p:nvSpPr>
          <p:cNvPr id="14" name="TextBox 13"/>
          <p:cNvSpPr txBox="1"/>
          <p:nvPr/>
        </p:nvSpPr>
        <p:spPr>
          <a:xfrm>
            <a:off x="8156448" y="2889503"/>
            <a:ext cx="3383280" cy="640080"/>
          </a:xfrm>
          <a:prstGeom prst="rect">
            <a:avLst/>
          </a:prstGeom>
          <a:noFill/>
        </p:spPr>
        <p:txBody>
          <a:bodyPr wrap="square" lIns="0" rIns="0" tIns="0" bIns="0" anchor="ctr">
            <a:spAutoFit/>
          </a:bodyPr>
          <a:lstStyle/>
          <a:p>
            <a:pPr algn="l">
              <a:spcBef>
                <a:spcPts val="0"/>
              </a:spcBef>
              <a:spcAft>
                <a:spcPts val="100"/>
              </a:spcAft>
            </a:pPr>
            <a:r>
              <a:rPr sz="1150" b="1" i="0">
                <a:solidFill>
                  <a:srgbClr val="14181C"/>
                </a:solidFill>
                <a:latin typeface="Arial"/>
              </a:rPr>
              <a:t>Shows its working</a:t>
            </a:r>
          </a:p>
          <a:p>
            <a:pPr algn="l">
              <a:lnSpc>
                <a:spcPct val="110000"/>
              </a:lnSpc>
              <a:spcBef>
                <a:spcPts val="0"/>
              </a:spcBef>
              <a:spcAft>
                <a:spcPts val="0"/>
              </a:spcAft>
            </a:pPr>
            <a:r>
              <a:rPr sz="1000" b="0" i="0">
                <a:solidFill>
                  <a:srgbClr val="2B3138"/>
                </a:solidFill>
                <a:latin typeface="Arial"/>
              </a:rPr>
              <a:t>Every rupee not paid points to its rule; the AI never makes up a number.</a:t>
            </a:r>
          </a:p>
        </p:txBody>
      </p:sp>
      <p:sp>
        <p:nvSpPr>
          <p:cNvPr id="15" name="Rounded Rectangle 14"/>
          <p:cNvSpPr/>
          <p:nvPr/>
        </p:nvSpPr>
        <p:spPr>
          <a:xfrm>
            <a:off x="7498079" y="3621024"/>
            <a:ext cx="4142232" cy="713232"/>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635240" y="3785615"/>
            <a:ext cx="384048" cy="38404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Rockwell"/>
              </a:rPr>
              <a:t>4</a:t>
            </a:r>
          </a:p>
        </p:txBody>
      </p:sp>
      <p:sp>
        <p:nvSpPr>
          <p:cNvPr id="17" name="TextBox 16"/>
          <p:cNvSpPr txBox="1"/>
          <p:nvPr/>
        </p:nvSpPr>
        <p:spPr>
          <a:xfrm>
            <a:off x="8156448" y="3685032"/>
            <a:ext cx="3383280" cy="640080"/>
          </a:xfrm>
          <a:prstGeom prst="rect">
            <a:avLst/>
          </a:prstGeom>
          <a:noFill/>
        </p:spPr>
        <p:txBody>
          <a:bodyPr wrap="square" lIns="0" rIns="0" tIns="0" bIns="0" anchor="ctr">
            <a:spAutoFit/>
          </a:bodyPr>
          <a:lstStyle/>
          <a:p>
            <a:pPr algn="l">
              <a:spcBef>
                <a:spcPts val="0"/>
              </a:spcBef>
              <a:spcAft>
                <a:spcPts val="100"/>
              </a:spcAft>
            </a:pPr>
            <a:r>
              <a:rPr sz="1150" b="1" i="0">
                <a:solidFill>
                  <a:srgbClr val="14181C"/>
                </a:solidFill>
                <a:latin typeface="Arial"/>
              </a:rPr>
              <a:t>For the whole family, in their language</a:t>
            </a:r>
          </a:p>
          <a:p>
            <a:pPr algn="l">
              <a:lnSpc>
                <a:spcPct val="110000"/>
              </a:lnSpc>
              <a:spcBef>
                <a:spcPts val="0"/>
              </a:spcBef>
              <a:spcAft>
                <a:spcPts val="0"/>
              </a:spcAft>
            </a:pPr>
            <a:r>
              <a:rPr sz="1000" b="0" i="0">
                <a:solidFill>
                  <a:srgbClr val="2B3138"/>
                </a:solidFill>
                <a:latin typeface="Arial"/>
              </a:rPr>
              <a:t>Family IDs, Hindi, voice in and read-aloud, government schemes checked.</a:t>
            </a:r>
          </a:p>
        </p:txBody>
      </p:sp>
      <p:sp>
        <p:nvSpPr>
          <p:cNvPr id="18" name="Rounded Rectangle 17"/>
          <p:cNvSpPr/>
          <p:nvPr/>
        </p:nvSpPr>
        <p:spPr>
          <a:xfrm>
            <a:off x="7498079" y="4416552"/>
            <a:ext cx="4142232" cy="713232"/>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635240" y="4581144"/>
            <a:ext cx="384048" cy="38404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Rockwell"/>
              </a:rPr>
              <a:t>5</a:t>
            </a:r>
          </a:p>
        </p:txBody>
      </p:sp>
      <p:sp>
        <p:nvSpPr>
          <p:cNvPr id="20" name="TextBox 19"/>
          <p:cNvSpPr txBox="1"/>
          <p:nvPr/>
        </p:nvSpPr>
        <p:spPr>
          <a:xfrm>
            <a:off x="8156448" y="4480560"/>
            <a:ext cx="3383280" cy="640080"/>
          </a:xfrm>
          <a:prstGeom prst="rect">
            <a:avLst/>
          </a:prstGeom>
          <a:noFill/>
        </p:spPr>
        <p:txBody>
          <a:bodyPr wrap="square" lIns="0" rIns="0" tIns="0" bIns="0" anchor="ctr">
            <a:spAutoFit/>
          </a:bodyPr>
          <a:lstStyle/>
          <a:p>
            <a:pPr algn="l">
              <a:spcBef>
                <a:spcPts val="0"/>
              </a:spcBef>
              <a:spcAft>
                <a:spcPts val="100"/>
              </a:spcAft>
            </a:pPr>
            <a:r>
              <a:rPr sz="1150" b="1" i="0">
                <a:solidFill>
                  <a:srgbClr val="14181C"/>
                </a:solidFill>
                <a:latin typeface="Arial"/>
              </a:rPr>
              <a:t>Learns from use</a:t>
            </a:r>
          </a:p>
          <a:p>
            <a:pPr algn="l">
              <a:lnSpc>
                <a:spcPct val="110000"/>
              </a:lnSpc>
              <a:spcBef>
                <a:spcPts val="0"/>
              </a:spcBef>
              <a:spcAft>
                <a:spcPts val="0"/>
              </a:spcAft>
            </a:pPr>
            <a:r>
              <a:rPr sz="1000" b="0" i="0">
                <a:solidFill>
                  <a:srgbClr val="2B3138"/>
                </a:solidFill>
                <a:latin typeface="Arial"/>
              </a:rPr>
              <a:t>Shared bills retrain the estimator; policy fixes warn the next family.</a:t>
            </a:r>
          </a:p>
        </p:txBody>
      </p:sp>
      <p:sp>
        <p:nvSpPr>
          <p:cNvPr id="21" name="Rounded Rectangle 20"/>
          <p:cNvSpPr/>
          <p:nvPr/>
        </p:nvSpPr>
        <p:spPr>
          <a:xfrm>
            <a:off x="548640" y="5440680"/>
            <a:ext cx="11091672" cy="731520"/>
          </a:xfrm>
          <a:prstGeom prst="roundRect">
            <a:avLst>
              <a:gd name="adj" fmla="val 12000"/>
            </a:avLst>
          </a:prstGeom>
          <a:solidFill>
            <a:srgbClr val="14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440680"/>
            <a:ext cx="10607040" cy="731520"/>
          </a:xfrm>
          <a:prstGeom prst="rect">
            <a:avLst/>
          </a:prstGeom>
          <a:noFill/>
        </p:spPr>
        <p:txBody>
          <a:bodyPr wrap="square" lIns="0" rIns="0" tIns="0" bIns="0" anchor="ctr">
            <a:spAutoFit/>
          </a:bodyPr>
          <a:lstStyle/>
          <a:p>
            <a:pPr algn="ctr">
              <a:spcBef>
                <a:spcPts val="0"/>
              </a:spcBef>
              <a:spcAft>
                <a:spcPts val="0"/>
              </a:spcAft>
            </a:pPr>
            <a:r>
              <a:rPr sz="1500" b="1" i="0">
                <a:solidFill>
                  <a:srgbClr val="C4DCEF"/>
                </a:solidFill>
                <a:latin typeface="Arial"/>
              </a:rPr>
              <a:t>Today:  </a:t>
            </a:r>
            <a:r>
              <a:rPr sz="1500" b="0" i="0">
                <a:solidFill>
                  <a:srgbClr val="FFFFFF"/>
                </a:solidFill>
                <a:latin typeface="Arial"/>
              </a:rPr>
              <a:t>find out after discharge, from a letter.     </a:t>
            </a:r>
            <a:r>
              <a:rPr sz="1500" b="1" i="0">
                <a:solidFill>
                  <a:srgbClr val="C4DCEF"/>
                </a:solidFill>
                <a:latin typeface="Arial"/>
              </a:rPr>
              <a:t>With ClaimCast:  </a:t>
            </a:r>
            <a:r>
              <a:rPr sz="1500" b="1" i="0">
                <a:solidFill>
                  <a:srgbClr val="FFFFFF"/>
                </a:solidFill>
                <a:latin typeface="Arial"/>
              </a:rPr>
              <a:t>know before admission, and choose.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12</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What each answer costs</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Inference only — the cost of answering a family, measured on the working prototype</a:t>
            </a:r>
          </a:p>
        </p:txBody>
      </p:sp>
      <p:sp>
        <p:nvSpPr>
          <p:cNvPr id="6" name="Rounded Rectangle 5"/>
          <p:cNvSpPr/>
          <p:nvPr/>
        </p:nvSpPr>
        <p:spPr>
          <a:xfrm>
            <a:off x="548640" y="1371600"/>
            <a:ext cx="2633472" cy="1965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36192"/>
            <a:ext cx="2286000" cy="640080"/>
          </a:xfrm>
          <a:prstGeom prst="rect">
            <a:avLst/>
          </a:prstGeom>
          <a:noFill/>
        </p:spPr>
        <p:txBody>
          <a:bodyPr wrap="square" lIns="0" rIns="0" tIns="0" bIns="0" anchor="t">
            <a:spAutoFit/>
          </a:bodyPr>
          <a:lstStyle/>
          <a:p>
            <a:pPr algn="l">
              <a:spcBef>
                <a:spcPts val="0"/>
              </a:spcBef>
              <a:spcAft>
                <a:spcPts val="0"/>
              </a:spcAft>
            </a:pPr>
            <a:r>
              <a:rPr sz="3000" b="1" i="0">
                <a:solidFill>
                  <a:srgbClr val="005EB8"/>
                </a:solidFill>
                <a:latin typeface="Rockwell"/>
              </a:rPr>
              <a:t>₹0</a:t>
            </a:r>
          </a:p>
        </p:txBody>
      </p:sp>
      <p:sp>
        <p:nvSpPr>
          <p:cNvPr id="8" name="TextBox 7"/>
          <p:cNvSpPr txBox="1"/>
          <p:nvPr/>
        </p:nvSpPr>
        <p:spPr>
          <a:xfrm>
            <a:off x="777240" y="2176272"/>
            <a:ext cx="2286000" cy="320040"/>
          </a:xfrm>
          <a:prstGeom prst="rect">
            <a:avLst/>
          </a:prstGeom>
          <a:noFill/>
        </p:spPr>
        <p:txBody>
          <a:bodyPr wrap="square" lIns="0" rIns="0" tIns="0" bIns="0" anchor="t">
            <a:spAutoFit/>
          </a:bodyPr>
          <a:lstStyle/>
          <a:p>
            <a:pPr algn="l">
              <a:spcBef>
                <a:spcPts val="0"/>
              </a:spcBef>
              <a:spcAft>
                <a:spcPts val="0"/>
              </a:spcAft>
            </a:pPr>
            <a:r>
              <a:rPr sz="1300" b="1" i="0">
                <a:solidFill>
                  <a:srgbClr val="14181C"/>
                </a:solidFill>
                <a:latin typeface="Arial"/>
              </a:rPr>
              <a:t>for data</a:t>
            </a:r>
          </a:p>
        </p:txBody>
      </p:sp>
      <p:sp>
        <p:nvSpPr>
          <p:cNvPr id="9" name="TextBox 8"/>
          <p:cNvSpPr txBox="1"/>
          <p:nvPr/>
        </p:nvSpPr>
        <p:spPr>
          <a:xfrm>
            <a:off x="777240" y="2514600"/>
            <a:ext cx="2240280" cy="77724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2B3138"/>
                </a:solidFill>
                <a:latin typeface="Arial"/>
              </a:rPr>
              <a:t>Every price list and rule comes from public government sources.</a:t>
            </a:r>
          </a:p>
        </p:txBody>
      </p:sp>
      <p:sp>
        <p:nvSpPr>
          <p:cNvPr id="10" name="Rounded Rectangle 9"/>
          <p:cNvSpPr/>
          <p:nvPr/>
        </p:nvSpPr>
        <p:spPr>
          <a:xfrm>
            <a:off x="3364992" y="1371600"/>
            <a:ext cx="2633472" cy="1965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93592" y="1536192"/>
            <a:ext cx="2286000" cy="640080"/>
          </a:xfrm>
          <a:prstGeom prst="rect">
            <a:avLst/>
          </a:prstGeom>
          <a:noFill/>
        </p:spPr>
        <p:txBody>
          <a:bodyPr wrap="square" lIns="0" rIns="0" tIns="0" bIns="0" anchor="t">
            <a:spAutoFit/>
          </a:bodyPr>
          <a:lstStyle/>
          <a:p>
            <a:pPr algn="l">
              <a:spcBef>
                <a:spcPts val="0"/>
              </a:spcBef>
              <a:spcAft>
                <a:spcPts val="0"/>
              </a:spcAft>
            </a:pPr>
            <a:r>
              <a:rPr sz="3000" b="1" i="0">
                <a:solidFill>
                  <a:srgbClr val="005EB8"/>
                </a:solidFill>
                <a:latin typeface="Rockwell"/>
              </a:rPr>
              <a:t>~4 paise</a:t>
            </a:r>
          </a:p>
        </p:txBody>
      </p:sp>
      <p:sp>
        <p:nvSpPr>
          <p:cNvPr id="12" name="TextBox 11"/>
          <p:cNvSpPr txBox="1"/>
          <p:nvPr/>
        </p:nvSpPr>
        <p:spPr>
          <a:xfrm>
            <a:off x="3593592" y="2176272"/>
            <a:ext cx="2286000" cy="320040"/>
          </a:xfrm>
          <a:prstGeom prst="rect">
            <a:avLst/>
          </a:prstGeom>
          <a:noFill/>
        </p:spPr>
        <p:txBody>
          <a:bodyPr wrap="square" lIns="0" rIns="0" tIns="0" bIns="0" anchor="t">
            <a:spAutoFit/>
          </a:bodyPr>
          <a:lstStyle/>
          <a:p>
            <a:pPr algn="l">
              <a:spcBef>
                <a:spcPts val="0"/>
              </a:spcBef>
              <a:spcAft>
                <a:spcPts val="0"/>
              </a:spcAft>
            </a:pPr>
            <a:r>
              <a:rPr sz="1300" b="1" i="0">
                <a:solidFill>
                  <a:srgbClr val="14181C"/>
                </a:solidFill>
                <a:latin typeface="Arial"/>
              </a:rPr>
              <a:t>per chat question</a:t>
            </a:r>
          </a:p>
        </p:txBody>
      </p:sp>
      <p:sp>
        <p:nvSpPr>
          <p:cNvPr id="13" name="TextBox 12"/>
          <p:cNvSpPr txBox="1"/>
          <p:nvPr/>
        </p:nvSpPr>
        <p:spPr>
          <a:xfrm>
            <a:off x="3593592" y="2514600"/>
            <a:ext cx="2240280" cy="77724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2B3138"/>
                </a:solidFill>
                <a:latin typeface="Arial"/>
              </a:rPr>
              <a:t>Llama 3.3 70B through OpenRouter, measured on our own usage.</a:t>
            </a:r>
          </a:p>
        </p:txBody>
      </p:sp>
      <p:sp>
        <p:nvSpPr>
          <p:cNvPr id="14" name="Rounded Rectangle 13"/>
          <p:cNvSpPr/>
          <p:nvPr/>
        </p:nvSpPr>
        <p:spPr>
          <a:xfrm>
            <a:off x="6181344" y="1371600"/>
            <a:ext cx="2633472" cy="1965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536192"/>
            <a:ext cx="2286000" cy="640080"/>
          </a:xfrm>
          <a:prstGeom prst="rect">
            <a:avLst/>
          </a:prstGeom>
          <a:noFill/>
        </p:spPr>
        <p:txBody>
          <a:bodyPr wrap="square" lIns="0" rIns="0" tIns="0" bIns="0" anchor="t">
            <a:spAutoFit/>
          </a:bodyPr>
          <a:lstStyle/>
          <a:p>
            <a:pPr algn="l">
              <a:spcBef>
                <a:spcPts val="0"/>
              </a:spcBef>
              <a:spcAft>
                <a:spcPts val="0"/>
              </a:spcAft>
            </a:pPr>
            <a:r>
              <a:rPr sz="3000" b="1" i="0">
                <a:solidFill>
                  <a:srgbClr val="005EB8"/>
                </a:solidFill>
                <a:latin typeface="Rockwell"/>
              </a:rPr>
              <a:t>4–8 paise</a:t>
            </a:r>
          </a:p>
        </p:txBody>
      </p:sp>
      <p:sp>
        <p:nvSpPr>
          <p:cNvPr id="16" name="TextBox 15"/>
          <p:cNvSpPr txBox="1"/>
          <p:nvPr/>
        </p:nvSpPr>
        <p:spPr>
          <a:xfrm>
            <a:off x="6409944" y="2176272"/>
            <a:ext cx="2286000" cy="320040"/>
          </a:xfrm>
          <a:prstGeom prst="rect">
            <a:avLst/>
          </a:prstGeom>
          <a:noFill/>
        </p:spPr>
        <p:txBody>
          <a:bodyPr wrap="square" lIns="0" rIns="0" tIns="0" bIns="0" anchor="t">
            <a:spAutoFit/>
          </a:bodyPr>
          <a:lstStyle/>
          <a:p>
            <a:pPr algn="l">
              <a:spcBef>
                <a:spcPts val="0"/>
              </a:spcBef>
              <a:spcAft>
                <a:spcPts val="0"/>
              </a:spcAft>
            </a:pPr>
            <a:r>
              <a:rPr sz="1300" b="1" i="0">
                <a:solidFill>
                  <a:srgbClr val="14181C"/>
                </a:solidFill>
                <a:latin typeface="Arial"/>
              </a:rPr>
              <a:t>per health report</a:t>
            </a:r>
          </a:p>
        </p:txBody>
      </p:sp>
      <p:sp>
        <p:nvSpPr>
          <p:cNvPr id="17" name="TextBox 16"/>
          <p:cNvSpPr txBox="1"/>
          <p:nvPr/>
        </p:nvSpPr>
        <p:spPr>
          <a:xfrm>
            <a:off x="6409944" y="2514600"/>
            <a:ext cx="2240280" cy="77724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2B3138"/>
                </a:solidFill>
                <a:latin typeface="Arial"/>
              </a:rPr>
              <a:t>4 for a PDF or typed report, 8 for a photo (read by Gemini Flash first). Measured.</a:t>
            </a:r>
          </a:p>
        </p:txBody>
      </p:sp>
      <p:sp>
        <p:nvSpPr>
          <p:cNvPr id="18" name="Rounded Rectangle 17"/>
          <p:cNvSpPr/>
          <p:nvPr/>
        </p:nvSpPr>
        <p:spPr>
          <a:xfrm>
            <a:off x="8997696" y="1371600"/>
            <a:ext cx="2633472" cy="1965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26296" y="1536192"/>
            <a:ext cx="2286000" cy="640080"/>
          </a:xfrm>
          <a:prstGeom prst="rect">
            <a:avLst/>
          </a:prstGeom>
          <a:noFill/>
        </p:spPr>
        <p:txBody>
          <a:bodyPr wrap="square" lIns="0" rIns="0" tIns="0" bIns="0" anchor="t">
            <a:spAutoFit/>
          </a:bodyPr>
          <a:lstStyle/>
          <a:p>
            <a:pPr algn="l">
              <a:spcBef>
                <a:spcPts val="0"/>
              </a:spcBef>
              <a:spcAft>
                <a:spcPts val="0"/>
              </a:spcAft>
            </a:pPr>
            <a:r>
              <a:rPr sz="3000" b="1" i="0">
                <a:solidFill>
                  <a:srgbClr val="005EB8"/>
                </a:solidFill>
                <a:latin typeface="Rockwell"/>
              </a:rPr>
              <a:t>≈ ₹0</a:t>
            </a:r>
          </a:p>
        </p:txBody>
      </p:sp>
      <p:sp>
        <p:nvSpPr>
          <p:cNvPr id="20" name="TextBox 19"/>
          <p:cNvSpPr txBox="1"/>
          <p:nvPr/>
        </p:nvSpPr>
        <p:spPr>
          <a:xfrm>
            <a:off x="9226296" y="2176272"/>
            <a:ext cx="2286000" cy="320040"/>
          </a:xfrm>
          <a:prstGeom prst="rect">
            <a:avLst/>
          </a:prstGeom>
          <a:noFill/>
        </p:spPr>
        <p:txBody>
          <a:bodyPr wrap="square" lIns="0" rIns="0" tIns="0" bIns="0" anchor="t">
            <a:spAutoFit/>
          </a:bodyPr>
          <a:lstStyle/>
          <a:p>
            <a:pPr algn="l">
              <a:spcBef>
                <a:spcPts val="0"/>
              </a:spcBef>
              <a:spcAft>
                <a:spcPts val="0"/>
              </a:spcAft>
            </a:pPr>
            <a:r>
              <a:rPr sz="1300" b="1" i="0">
                <a:solidFill>
                  <a:srgbClr val="14181C"/>
                </a:solidFill>
                <a:latin typeface="Arial"/>
              </a:rPr>
              <a:t>per bill estimate</a:t>
            </a:r>
          </a:p>
        </p:txBody>
      </p:sp>
      <p:sp>
        <p:nvSpPr>
          <p:cNvPr id="21" name="TextBox 20"/>
          <p:cNvSpPr txBox="1"/>
          <p:nvPr/>
        </p:nvSpPr>
        <p:spPr>
          <a:xfrm>
            <a:off x="9226296" y="2514600"/>
            <a:ext cx="2240280" cy="77724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2B3138"/>
                </a:solidFill>
                <a:latin typeface="Arial"/>
              </a:rPr>
              <a:t>The estimator answers in about 1 millisecond on an ordinary CPU.</a:t>
            </a:r>
          </a:p>
        </p:txBody>
      </p:sp>
      <p:sp>
        <p:nvSpPr>
          <p:cNvPr id="22" name="TextBox 21"/>
          <p:cNvSpPr txBox="1"/>
          <p:nvPr/>
        </p:nvSpPr>
        <p:spPr>
          <a:xfrm>
            <a:off x="548640" y="3566160"/>
            <a:ext cx="7589520" cy="32004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IF WE SCALE UP  ·  per family: 5 questions, 1 health report (photo), 20 bill estimates</a:t>
            </a:r>
          </a:p>
        </p:txBody>
      </p:sp>
      <p:graphicFrame>
        <p:nvGraphicFramePr>
          <p:cNvPr id="23" name="Table 22"/>
          <p:cNvGraphicFramePr>
            <a:graphicFrameLocks noGrp="1"/>
          </p:cNvGraphicFramePr>
          <p:nvPr/>
        </p:nvGraphicFramePr>
        <p:xfrm>
          <a:off x="548640" y="3931920"/>
          <a:ext cx="7406640" cy="2121408"/>
        </p:xfrm>
        <a:graphic>
          <a:graphicData uri="http://schemas.openxmlformats.org/drawingml/2006/table">
            <a:tbl>
              <a:tblPr firstRow="1" bandRow="1">
                <a:tableStyleId>{5C22544A-7EE6-4342-B048-85BDC9FD1C3A}</a:tableStyleId>
              </a:tblPr>
              <a:tblGrid>
                <a:gridCol w="1417320"/>
                <a:gridCol w="1280160"/>
                <a:gridCol w="1188720"/>
                <a:gridCol w="1143000"/>
                <a:gridCol w="1325880"/>
                <a:gridCol w="1051560"/>
              </a:tblGrid>
              <a:tr h="475488">
                <a:tc>
                  <a:txBody>
                    <a:bodyPr/>
                    <a:lstStyle/>
                    <a:p>
                      <a:r>
                        <a:rPr sz="1100" b="1">
                          <a:solidFill>
                            <a:srgbClr val="FFFFFF"/>
                          </a:solidFill>
                          <a:latin typeface="Arial"/>
                        </a:rPr>
                        <a:t>Families a month</a:t>
                      </a:r>
                    </a:p>
                  </a:txBody>
                  <a:tcPr marL="109728" marR="109728" anchor="ctr">
                    <a:solidFill>
                      <a:srgbClr val="14181C"/>
                    </a:solidFill>
                  </a:tcPr>
                </a:tc>
                <a:tc>
                  <a:txBody>
                    <a:bodyPr/>
                    <a:lstStyle/>
                    <a:p>
                      <a:r>
                        <a:rPr sz="1100" b="1">
                          <a:solidFill>
                            <a:srgbClr val="FFFFFF"/>
                          </a:solidFill>
                          <a:latin typeface="Arial"/>
                        </a:rPr>
                        <a:t>Chat questions</a:t>
                      </a:r>
                    </a:p>
                  </a:txBody>
                  <a:tcPr marL="109728" marR="109728" anchor="ctr">
                    <a:solidFill>
                      <a:srgbClr val="14181C"/>
                    </a:solidFill>
                  </a:tcPr>
                </a:tc>
                <a:tc>
                  <a:txBody>
                    <a:bodyPr/>
                    <a:lstStyle/>
                    <a:p>
                      <a:r>
                        <a:rPr sz="1100" b="1">
                          <a:solidFill>
                            <a:srgbClr val="FFFFFF"/>
                          </a:solidFill>
                          <a:latin typeface="Arial"/>
                        </a:rPr>
                        <a:t>Chat cost</a:t>
                      </a:r>
                    </a:p>
                  </a:txBody>
                  <a:tcPr marL="109728" marR="109728" anchor="ctr">
                    <a:solidFill>
                      <a:srgbClr val="14181C"/>
                    </a:solidFill>
                  </a:tcPr>
                </a:tc>
                <a:tc>
                  <a:txBody>
                    <a:bodyPr/>
                    <a:lstStyle/>
                    <a:p>
                      <a:r>
                        <a:rPr sz="1100" b="1">
                          <a:solidFill>
                            <a:srgbClr val="FFFFFF"/>
                          </a:solidFill>
                          <a:latin typeface="Arial"/>
                        </a:rPr>
                        <a:t>Reports</a:t>
                      </a:r>
                    </a:p>
                  </a:txBody>
                  <a:tcPr marL="109728" marR="109728" anchor="ctr">
                    <a:solidFill>
                      <a:srgbClr val="14181C"/>
                    </a:solidFill>
                  </a:tcPr>
                </a:tc>
                <a:tc>
                  <a:txBody>
                    <a:bodyPr/>
                    <a:lstStyle/>
                    <a:p>
                      <a:r>
                        <a:rPr sz="1100" b="1">
                          <a:solidFill>
                            <a:srgbClr val="FFFFFF"/>
                          </a:solidFill>
                          <a:latin typeface="Arial"/>
                        </a:rPr>
                        <a:t>Total a month</a:t>
                      </a:r>
                    </a:p>
                  </a:txBody>
                  <a:tcPr marL="109728" marR="109728" anchor="ctr">
                    <a:solidFill>
                      <a:srgbClr val="14181C"/>
                    </a:solidFill>
                  </a:tcPr>
                </a:tc>
                <a:tc>
                  <a:txBody>
                    <a:bodyPr/>
                    <a:lstStyle/>
                    <a:p>
                      <a:r>
                        <a:rPr sz="1100" b="1">
                          <a:solidFill>
                            <a:srgbClr val="FFFFFF"/>
                          </a:solidFill>
                          <a:latin typeface="Arial"/>
                        </a:rPr>
                        <a:t>Per family</a:t>
                      </a:r>
                    </a:p>
                  </a:txBody>
                  <a:tcPr marL="109728" marR="109728" anchor="ctr">
                    <a:solidFill>
                      <a:srgbClr val="14181C"/>
                    </a:solidFill>
                  </a:tcPr>
                </a:tc>
              </a:tr>
              <a:tr h="548640">
                <a:tc>
                  <a:txBody>
                    <a:bodyPr/>
                    <a:lstStyle/>
                    <a:p>
                      <a:r>
                        <a:rPr sz="1300" b="1">
                          <a:solidFill>
                            <a:srgbClr val="14181C"/>
                          </a:solidFill>
                          <a:latin typeface="Arial"/>
                        </a:rPr>
                        <a:t>1,000</a:t>
                      </a:r>
                    </a:p>
                  </a:txBody>
                  <a:tcPr marL="109728" marR="109728" anchor="ctr">
                    <a:solidFill>
                      <a:srgbClr val="FFFFFF"/>
                    </a:solidFill>
                  </a:tcPr>
                </a:tc>
                <a:tc>
                  <a:txBody>
                    <a:bodyPr/>
                    <a:lstStyle/>
                    <a:p>
                      <a:r>
                        <a:rPr sz="1300" b="0">
                          <a:solidFill>
                            <a:srgbClr val="14181C"/>
                          </a:solidFill>
                          <a:latin typeface="Arial"/>
                        </a:rPr>
                        <a:t>5,000</a:t>
                      </a:r>
                    </a:p>
                  </a:txBody>
                  <a:tcPr marL="109728" marR="109728" anchor="ctr">
                    <a:solidFill>
                      <a:srgbClr val="FFFFFF"/>
                    </a:solidFill>
                  </a:tcPr>
                </a:tc>
                <a:tc>
                  <a:txBody>
                    <a:bodyPr/>
                    <a:lstStyle/>
                    <a:p>
                      <a:r>
                        <a:rPr sz="1300" b="0">
                          <a:solidFill>
                            <a:srgbClr val="14181C"/>
                          </a:solidFill>
                          <a:latin typeface="Arial"/>
                        </a:rPr>
                        <a:t>₹220</a:t>
                      </a:r>
                    </a:p>
                  </a:txBody>
                  <a:tcPr marL="109728" marR="109728" anchor="ctr">
                    <a:solidFill>
                      <a:srgbClr val="FFFFFF"/>
                    </a:solidFill>
                  </a:tcPr>
                </a:tc>
                <a:tc>
                  <a:txBody>
                    <a:bodyPr/>
                    <a:lstStyle/>
                    <a:p>
                      <a:r>
                        <a:rPr sz="1300" b="0">
                          <a:solidFill>
                            <a:srgbClr val="14181C"/>
                          </a:solidFill>
                          <a:latin typeface="Arial"/>
                        </a:rPr>
                        <a:t>₹76</a:t>
                      </a:r>
                    </a:p>
                  </a:txBody>
                  <a:tcPr marL="109728" marR="109728" anchor="ctr">
                    <a:solidFill>
                      <a:srgbClr val="FFFFFF"/>
                    </a:solidFill>
                  </a:tcPr>
                </a:tc>
                <a:tc>
                  <a:txBody>
                    <a:bodyPr/>
                    <a:lstStyle/>
                    <a:p>
                      <a:r>
                        <a:rPr sz="1300" b="1">
                          <a:solidFill>
                            <a:srgbClr val="005EB8"/>
                          </a:solidFill>
                          <a:latin typeface="Arial"/>
                        </a:rPr>
                        <a:t>₹296</a:t>
                      </a:r>
                    </a:p>
                  </a:txBody>
                  <a:tcPr marL="109728" marR="109728" anchor="ctr">
                    <a:solidFill>
                      <a:srgbClr val="FFFFFF"/>
                    </a:solidFill>
                  </a:tcPr>
                </a:tc>
                <a:tc>
                  <a:txBody>
                    <a:bodyPr/>
                    <a:lstStyle/>
                    <a:p>
                      <a:r>
                        <a:rPr sz="1300" b="0">
                          <a:solidFill>
                            <a:srgbClr val="14181C"/>
                          </a:solidFill>
                          <a:latin typeface="Arial"/>
                        </a:rPr>
                        <a:t>30 paise</a:t>
                      </a:r>
                    </a:p>
                  </a:txBody>
                  <a:tcPr marL="109728" marR="109728" anchor="ctr">
                    <a:solidFill>
                      <a:srgbClr val="FFFFFF"/>
                    </a:solidFill>
                  </a:tcPr>
                </a:tc>
              </a:tr>
              <a:tr h="548640">
                <a:tc>
                  <a:txBody>
                    <a:bodyPr/>
                    <a:lstStyle/>
                    <a:p>
                      <a:r>
                        <a:rPr sz="1300" b="1">
                          <a:solidFill>
                            <a:srgbClr val="14181C"/>
                          </a:solidFill>
                          <a:latin typeface="Arial"/>
                        </a:rPr>
                        <a:t>1 lakh</a:t>
                      </a:r>
                    </a:p>
                  </a:txBody>
                  <a:tcPr marL="109728" marR="109728" anchor="ctr">
                    <a:solidFill>
                      <a:srgbClr val="F4F7FA"/>
                    </a:solidFill>
                  </a:tcPr>
                </a:tc>
                <a:tc>
                  <a:txBody>
                    <a:bodyPr/>
                    <a:lstStyle/>
                    <a:p>
                      <a:r>
                        <a:rPr sz="1300" b="0">
                          <a:solidFill>
                            <a:srgbClr val="14181C"/>
                          </a:solidFill>
                          <a:latin typeface="Arial"/>
                        </a:rPr>
                        <a:t>5 lakh</a:t>
                      </a:r>
                    </a:p>
                  </a:txBody>
                  <a:tcPr marL="109728" marR="109728" anchor="ctr">
                    <a:solidFill>
                      <a:srgbClr val="F4F7FA"/>
                    </a:solidFill>
                  </a:tcPr>
                </a:tc>
                <a:tc>
                  <a:txBody>
                    <a:bodyPr/>
                    <a:lstStyle/>
                    <a:p>
                      <a:r>
                        <a:rPr sz="1300" b="0">
                          <a:solidFill>
                            <a:srgbClr val="14181C"/>
                          </a:solidFill>
                          <a:latin typeface="Arial"/>
                        </a:rPr>
                        <a:t>₹22,000</a:t>
                      </a:r>
                    </a:p>
                  </a:txBody>
                  <a:tcPr marL="109728" marR="109728" anchor="ctr">
                    <a:solidFill>
                      <a:srgbClr val="F4F7FA"/>
                    </a:solidFill>
                  </a:tcPr>
                </a:tc>
                <a:tc>
                  <a:txBody>
                    <a:bodyPr/>
                    <a:lstStyle/>
                    <a:p>
                      <a:r>
                        <a:rPr sz="1300" b="0">
                          <a:solidFill>
                            <a:srgbClr val="14181C"/>
                          </a:solidFill>
                          <a:latin typeface="Arial"/>
                        </a:rPr>
                        <a:t>₹7,568</a:t>
                      </a:r>
                    </a:p>
                  </a:txBody>
                  <a:tcPr marL="109728" marR="109728" anchor="ctr">
                    <a:solidFill>
                      <a:srgbClr val="F4F7FA"/>
                    </a:solidFill>
                  </a:tcPr>
                </a:tc>
                <a:tc>
                  <a:txBody>
                    <a:bodyPr/>
                    <a:lstStyle/>
                    <a:p>
                      <a:r>
                        <a:rPr sz="1300" b="1">
                          <a:solidFill>
                            <a:srgbClr val="005EB8"/>
                          </a:solidFill>
                          <a:latin typeface="Arial"/>
                        </a:rPr>
                        <a:t>₹29,576</a:t>
                      </a:r>
                    </a:p>
                  </a:txBody>
                  <a:tcPr marL="109728" marR="109728" anchor="ctr">
                    <a:solidFill>
                      <a:srgbClr val="F4F7FA"/>
                    </a:solidFill>
                  </a:tcPr>
                </a:tc>
                <a:tc>
                  <a:txBody>
                    <a:bodyPr/>
                    <a:lstStyle/>
                    <a:p>
                      <a:r>
                        <a:rPr sz="1300" b="0">
                          <a:solidFill>
                            <a:srgbClr val="14181C"/>
                          </a:solidFill>
                          <a:latin typeface="Arial"/>
                        </a:rPr>
                        <a:t>30 paise</a:t>
                      </a:r>
                    </a:p>
                  </a:txBody>
                  <a:tcPr marL="109728" marR="109728" anchor="ctr">
                    <a:solidFill>
                      <a:srgbClr val="F4F7FA"/>
                    </a:solidFill>
                  </a:tcPr>
                </a:tc>
              </a:tr>
              <a:tr h="548640">
                <a:tc>
                  <a:txBody>
                    <a:bodyPr/>
                    <a:lstStyle/>
                    <a:p>
                      <a:r>
                        <a:rPr sz="1300" b="1">
                          <a:solidFill>
                            <a:srgbClr val="14181C"/>
                          </a:solidFill>
                          <a:latin typeface="Arial"/>
                        </a:rPr>
                        <a:t>10 lakh</a:t>
                      </a:r>
                    </a:p>
                  </a:txBody>
                  <a:tcPr marL="109728" marR="109728" anchor="ctr">
                    <a:solidFill>
                      <a:srgbClr val="FFFFFF"/>
                    </a:solidFill>
                  </a:tcPr>
                </a:tc>
                <a:tc>
                  <a:txBody>
                    <a:bodyPr/>
                    <a:lstStyle/>
                    <a:p>
                      <a:r>
                        <a:rPr sz="1300" b="0">
                          <a:solidFill>
                            <a:srgbClr val="14181C"/>
                          </a:solidFill>
                          <a:latin typeface="Arial"/>
                        </a:rPr>
                        <a:t>50 lakh</a:t>
                      </a:r>
                    </a:p>
                  </a:txBody>
                  <a:tcPr marL="109728" marR="109728" anchor="ctr">
                    <a:solidFill>
                      <a:srgbClr val="FFFFFF"/>
                    </a:solidFill>
                  </a:tcPr>
                </a:tc>
                <a:tc>
                  <a:txBody>
                    <a:bodyPr/>
                    <a:lstStyle/>
                    <a:p>
                      <a:r>
                        <a:rPr sz="1300" b="0">
                          <a:solidFill>
                            <a:srgbClr val="14181C"/>
                          </a:solidFill>
                          <a:latin typeface="Arial"/>
                        </a:rPr>
                        <a:t>₹2,20,000</a:t>
                      </a:r>
                    </a:p>
                  </a:txBody>
                  <a:tcPr marL="109728" marR="109728" anchor="ctr">
                    <a:solidFill>
                      <a:srgbClr val="FFFFFF"/>
                    </a:solidFill>
                  </a:tcPr>
                </a:tc>
                <a:tc>
                  <a:txBody>
                    <a:bodyPr/>
                    <a:lstStyle/>
                    <a:p>
                      <a:r>
                        <a:rPr sz="1300" b="0">
                          <a:solidFill>
                            <a:srgbClr val="14181C"/>
                          </a:solidFill>
                          <a:latin typeface="Arial"/>
                        </a:rPr>
                        <a:t>₹75,680</a:t>
                      </a:r>
                    </a:p>
                  </a:txBody>
                  <a:tcPr marL="109728" marR="109728" anchor="ctr">
                    <a:solidFill>
                      <a:srgbClr val="FFFFFF"/>
                    </a:solidFill>
                  </a:tcPr>
                </a:tc>
                <a:tc>
                  <a:txBody>
                    <a:bodyPr/>
                    <a:lstStyle/>
                    <a:p>
                      <a:r>
                        <a:rPr sz="1300" b="1">
                          <a:solidFill>
                            <a:srgbClr val="005EB8"/>
                          </a:solidFill>
                          <a:latin typeface="Arial"/>
                        </a:rPr>
                        <a:t>₹2,95,764</a:t>
                      </a:r>
                    </a:p>
                  </a:txBody>
                  <a:tcPr marL="109728" marR="109728" anchor="ctr">
                    <a:solidFill>
                      <a:srgbClr val="FFFFFF"/>
                    </a:solidFill>
                  </a:tcPr>
                </a:tc>
                <a:tc>
                  <a:txBody>
                    <a:bodyPr/>
                    <a:lstStyle/>
                    <a:p>
                      <a:r>
                        <a:rPr sz="1300" b="0">
                          <a:solidFill>
                            <a:srgbClr val="14181C"/>
                          </a:solidFill>
                          <a:latin typeface="Arial"/>
                        </a:rPr>
                        <a:t>30 paise</a:t>
                      </a:r>
                    </a:p>
                  </a:txBody>
                  <a:tcPr marL="109728" marR="109728" anchor="ctr">
                    <a:solidFill>
                      <a:srgbClr val="FFFFFF"/>
                    </a:solidFill>
                  </a:tcPr>
                </a:tc>
              </a:tr>
            </a:tbl>
          </a:graphicData>
        </a:graphic>
      </p:graphicFrame>
      <p:sp>
        <p:nvSpPr>
          <p:cNvPr id="24" name="Rounded Rectangle 23"/>
          <p:cNvSpPr/>
          <p:nvPr/>
        </p:nvSpPr>
        <p:spPr>
          <a:xfrm>
            <a:off x="8229600" y="3611880"/>
            <a:ext cx="3410712" cy="2514600"/>
          </a:xfrm>
          <a:prstGeom prst="roundRect">
            <a:avLst>
              <a:gd name="adj" fmla="val 6000"/>
            </a:avLst>
          </a:prstGeom>
          <a:solidFill>
            <a:srgbClr val="007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03920" y="3794760"/>
            <a:ext cx="2926080" cy="2194560"/>
          </a:xfrm>
          <a:prstGeom prst="rect">
            <a:avLst/>
          </a:prstGeom>
          <a:noFill/>
        </p:spPr>
        <p:txBody>
          <a:bodyPr wrap="square" lIns="0" rIns="0" tIns="0" bIns="0" anchor="ctr">
            <a:spAutoFit/>
          </a:bodyPr>
          <a:lstStyle/>
          <a:p>
            <a:pPr algn="l">
              <a:spcBef>
                <a:spcPts val="0"/>
              </a:spcBef>
              <a:spcAft>
                <a:spcPts val="400"/>
              </a:spcAft>
            </a:pPr>
            <a:r>
              <a:rPr sz="3600" b="1" i="0">
                <a:solidFill>
                  <a:srgbClr val="FFFFFF"/>
                </a:solidFill>
                <a:latin typeface="Rockwell"/>
              </a:rPr>
              <a:t>~30 paise</a:t>
            </a:r>
          </a:p>
          <a:p>
            <a:pPr algn="l">
              <a:lnSpc>
                <a:spcPct val="125000"/>
              </a:lnSpc>
              <a:spcBef>
                <a:spcPts val="0"/>
              </a:spcBef>
              <a:spcAft>
                <a:spcPts val="800"/>
              </a:spcAft>
            </a:pPr>
            <a:r>
              <a:rPr sz="1250" b="0" i="0">
                <a:solidFill>
                  <a:srgbClr val="FFFFFF"/>
                </a:solidFill>
                <a:latin typeface="Arial"/>
              </a:rPr>
              <a:t>per family, at any size: cost grows in a straight line with use, with no big fixed cost.</a:t>
            </a:r>
          </a:p>
          <a:p>
            <a:pPr algn="l">
              <a:lnSpc>
                <a:spcPct val="120000"/>
              </a:lnSpc>
              <a:spcBef>
                <a:spcPts val="0"/>
              </a:spcBef>
              <a:spcAft>
                <a:spcPts val="0"/>
              </a:spcAft>
            </a:pPr>
            <a:r>
              <a:rPr sz="1200" b="1" i="0">
                <a:solidFill>
                  <a:srgbClr val="FFFFFF"/>
                </a:solidFill>
                <a:latin typeface="Arial"/>
              </a:rPr>
              <a:t>Against ₹78,400 saved in our example admission.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13</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What comes next</a:t>
            </a:r>
          </a:p>
        </p:txBody>
      </p:sp>
      <p:sp>
        <p:nvSpPr>
          <p:cNvPr id="5" name="Rounded Rectangle 4"/>
          <p:cNvSpPr/>
          <p:nvPr/>
        </p:nvSpPr>
        <p:spPr>
          <a:xfrm>
            <a:off x="548640" y="1188720"/>
            <a:ext cx="3520440" cy="416052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59" y="1389888"/>
            <a:ext cx="475488" cy="47548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1</a:t>
            </a:r>
          </a:p>
        </p:txBody>
      </p:sp>
      <p:sp>
        <p:nvSpPr>
          <p:cNvPr id="7" name="TextBox 6"/>
          <p:cNvSpPr txBox="1"/>
          <p:nvPr/>
        </p:nvSpPr>
        <p:spPr>
          <a:xfrm>
            <a:off x="1444752" y="1371600"/>
            <a:ext cx="2560320" cy="36576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Next 3 months</a:t>
            </a:r>
          </a:p>
        </p:txBody>
      </p:sp>
      <p:sp>
        <p:nvSpPr>
          <p:cNvPr id="8" name="TextBox 7"/>
          <p:cNvSpPr txBox="1"/>
          <p:nvPr/>
        </p:nvSpPr>
        <p:spPr>
          <a:xfrm>
            <a:off x="1444752" y="1719072"/>
            <a:ext cx="2560320" cy="274320"/>
          </a:xfrm>
          <a:prstGeom prst="rect">
            <a:avLst/>
          </a:prstGeom>
          <a:noFill/>
        </p:spPr>
        <p:txBody>
          <a:bodyPr wrap="square" lIns="0" rIns="0" tIns="0" bIns="0" anchor="t">
            <a:spAutoFit/>
          </a:bodyPr>
          <a:lstStyle/>
          <a:p>
            <a:pPr algn="l">
              <a:spcBef>
                <a:spcPts val="0"/>
              </a:spcBef>
              <a:spcAft>
                <a:spcPts val="0"/>
              </a:spcAft>
            </a:pPr>
            <a:r>
              <a:rPr sz="1150" b="1" i="0">
                <a:solidFill>
                  <a:srgbClr val="005EB8"/>
                </a:solidFill>
                <a:latin typeface="Arial"/>
              </a:rPr>
              <a:t>Prove it helps families</a:t>
            </a:r>
          </a:p>
        </p:txBody>
      </p:sp>
      <p:sp>
        <p:nvSpPr>
          <p:cNvPr id="9" name="TextBox 8"/>
          <p:cNvSpPr txBox="1"/>
          <p:nvPr/>
        </p:nvSpPr>
        <p:spPr>
          <a:xfrm>
            <a:off x="822959" y="2212848"/>
            <a:ext cx="3063240" cy="2606040"/>
          </a:xfrm>
          <a:prstGeom prst="rect">
            <a:avLst/>
          </a:prstGeom>
          <a:noFill/>
        </p:spPr>
        <p:txBody>
          <a:bodyPr wrap="square" lIns="0" rIns="0" tIns="0" bIns="0">
            <a:spAutoFit/>
          </a:bodyPr>
          <a:lstStyle/>
          <a:p>
            <a:pPr>
              <a:lnSpc>
                <a:spcPct val="112000"/>
              </a:lnSpc>
              <a:spcAft>
                <a:spcPts val="600"/>
              </a:spcAft>
            </a:pPr>
            <a:r>
              <a:rPr sz="1100" b="1">
                <a:solidFill>
                  <a:srgbClr val="005EB8"/>
                </a:solidFill>
                <a:latin typeface="Arial"/>
              </a:rPr>
              <a:t>•  </a:t>
            </a:r>
            <a:r>
              <a:rPr sz="1100">
                <a:solidFill>
                  <a:srgbClr val="2B3138"/>
                </a:solidFill>
                <a:latin typeface="Arial"/>
              </a:rPr>
              <a:t>Study with 20 families at an admission desk, including blind users with a screen reader</a:t>
            </a:r>
          </a:p>
          <a:p>
            <a:pPr>
              <a:lnSpc>
                <a:spcPct val="112000"/>
              </a:lnSpc>
              <a:spcAft>
                <a:spcPts val="600"/>
              </a:spcAft>
            </a:pPr>
            <a:r>
              <a:rPr sz="1100" b="1">
                <a:solidFill>
                  <a:srgbClr val="005EB8"/>
                </a:solidFill>
                <a:latin typeface="Arial"/>
              </a:rPr>
              <a:t>•  </a:t>
            </a:r>
            <a:r>
              <a:rPr sz="1100">
                <a:solidFill>
                  <a:srgbClr val="2B3138"/>
                </a:solidFill>
                <a:latin typeface="Arial"/>
              </a:rPr>
              <a:t>Tamil, Bengali and Marathi, with voice in each</a:t>
            </a:r>
          </a:p>
          <a:p>
            <a:pPr>
              <a:lnSpc>
                <a:spcPct val="112000"/>
              </a:lnSpc>
              <a:spcAft>
                <a:spcPts val="600"/>
              </a:spcAft>
            </a:pPr>
            <a:r>
              <a:rPr sz="1100" b="1">
                <a:solidFill>
                  <a:srgbClr val="005EB8"/>
                </a:solidFill>
                <a:latin typeface="Arial"/>
              </a:rPr>
              <a:t>•  </a:t>
            </a:r>
            <a:r>
              <a:rPr sz="1100">
                <a:solidFill>
                  <a:srgbClr val="2B3138"/>
                </a:solidFill>
                <a:latin typeface="Arial"/>
              </a:rPr>
              <a:t>WhatsApp: send a voice note or a photo of the report, get a spoken answer</a:t>
            </a:r>
          </a:p>
          <a:p>
            <a:pPr>
              <a:lnSpc>
                <a:spcPct val="112000"/>
              </a:lnSpc>
              <a:spcAft>
                <a:spcPts val="600"/>
              </a:spcAft>
            </a:pPr>
            <a:r>
              <a:rPr sz="1100" b="1">
                <a:solidFill>
                  <a:srgbClr val="005EB8"/>
                </a:solidFill>
                <a:latin typeface="Arial"/>
              </a:rPr>
              <a:t>•  </a:t>
            </a:r>
            <a:r>
              <a:rPr sz="1100">
                <a:solidFill>
                  <a:srgbClr val="2B3138"/>
                </a:solidFill>
                <a:latin typeface="Arial"/>
              </a:rPr>
              <a:t>Proper logins and roles for the team side</a:t>
            </a:r>
          </a:p>
        </p:txBody>
      </p:sp>
      <p:sp>
        <p:nvSpPr>
          <p:cNvPr id="10" name="Rounded Rectangle 9"/>
          <p:cNvSpPr/>
          <p:nvPr/>
        </p:nvSpPr>
        <p:spPr>
          <a:xfrm>
            <a:off x="822959" y="4828032"/>
            <a:ext cx="2971800" cy="384048"/>
          </a:xfrm>
          <a:prstGeom prst="roundRect">
            <a:avLst>
              <a:gd name="adj" fmla="val 3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828032"/>
            <a:ext cx="2971800" cy="384048"/>
          </a:xfrm>
          <a:prstGeom prst="rect">
            <a:avLst/>
          </a:prstGeom>
          <a:noFill/>
        </p:spPr>
        <p:txBody>
          <a:bodyPr wrap="square" lIns="0" rIns="0" tIns="0" bIns="0" anchor="ctr">
            <a:spAutoFit/>
          </a:bodyPr>
          <a:lstStyle/>
          <a:p>
            <a:pPr algn="ctr">
              <a:spcBef>
                <a:spcPts val="0"/>
              </a:spcBef>
              <a:spcAft>
                <a:spcPts val="0"/>
              </a:spcAft>
            </a:pPr>
            <a:r>
              <a:rPr sz="1100" b="1" i="0">
                <a:solidFill>
                  <a:srgbClr val="005EB8"/>
                </a:solidFill>
                <a:latin typeface="Arial"/>
              </a:rPr>
              <a:t>Target: usability score 70+</a:t>
            </a:r>
          </a:p>
        </p:txBody>
      </p:sp>
      <p:sp>
        <p:nvSpPr>
          <p:cNvPr id="12" name="Rounded Rectangle 11"/>
          <p:cNvSpPr/>
          <p:nvPr/>
        </p:nvSpPr>
        <p:spPr>
          <a:xfrm>
            <a:off x="4343400" y="1188720"/>
            <a:ext cx="3520440" cy="416052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17720" y="1389888"/>
            <a:ext cx="475488" cy="47548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2</a:t>
            </a:r>
          </a:p>
        </p:txBody>
      </p:sp>
      <p:sp>
        <p:nvSpPr>
          <p:cNvPr id="14" name="TextBox 13"/>
          <p:cNvSpPr txBox="1"/>
          <p:nvPr/>
        </p:nvSpPr>
        <p:spPr>
          <a:xfrm>
            <a:off x="5239512" y="1371600"/>
            <a:ext cx="2560320" cy="36576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Next 6 months</a:t>
            </a:r>
          </a:p>
        </p:txBody>
      </p:sp>
      <p:sp>
        <p:nvSpPr>
          <p:cNvPr id="15" name="TextBox 14"/>
          <p:cNvSpPr txBox="1"/>
          <p:nvPr/>
        </p:nvSpPr>
        <p:spPr>
          <a:xfrm>
            <a:off x="5239512" y="1719072"/>
            <a:ext cx="2560320" cy="274320"/>
          </a:xfrm>
          <a:prstGeom prst="rect">
            <a:avLst/>
          </a:prstGeom>
          <a:noFill/>
        </p:spPr>
        <p:txBody>
          <a:bodyPr wrap="square" lIns="0" rIns="0" tIns="0" bIns="0" anchor="t">
            <a:spAutoFit/>
          </a:bodyPr>
          <a:lstStyle/>
          <a:p>
            <a:pPr algn="l">
              <a:spcBef>
                <a:spcPts val="0"/>
              </a:spcBef>
              <a:spcAft>
                <a:spcPts val="0"/>
              </a:spcAft>
            </a:pPr>
            <a:r>
              <a:rPr sz="1150" b="1" i="0">
                <a:solidFill>
                  <a:srgbClr val="005EB8"/>
                </a:solidFill>
                <a:latin typeface="Arial"/>
              </a:rPr>
              <a:t>Real prices, real bills</a:t>
            </a:r>
          </a:p>
        </p:txBody>
      </p:sp>
      <p:sp>
        <p:nvSpPr>
          <p:cNvPr id="16" name="TextBox 15"/>
          <p:cNvSpPr txBox="1"/>
          <p:nvPr/>
        </p:nvSpPr>
        <p:spPr>
          <a:xfrm>
            <a:off x="4617720" y="2212848"/>
            <a:ext cx="3063240" cy="2606040"/>
          </a:xfrm>
          <a:prstGeom prst="rect">
            <a:avLst/>
          </a:prstGeom>
          <a:noFill/>
        </p:spPr>
        <p:txBody>
          <a:bodyPr wrap="square" lIns="0" rIns="0" tIns="0" bIns="0">
            <a:spAutoFit/>
          </a:bodyPr>
          <a:lstStyle/>
          <a:p>
            <a:pPr>
              <a:lnSpc>
                <a:spcPct val="112000"/>
              </a:lnSpc>
              <a:spcAft>
                <a:spcPts val="600"/>
              </a:spcAft>
            </a:pPr>
            <a:r>
              <a:rPr sz="1100" b="1">
                <a:solidFill>
                  <a:srgbClr val="005EB8"/>
                </a:solidFill>
                <a:latin typeface="Arial"/>
              </a:rPr>
              <a:t>•  </a:t>
            </a:r>
            <a:r>
              <a:rPr sz="1100">
                <a:solidFill>
                  <a:srgbClr val="2B3138"/>
                </a:solidFill>
                <a:latin typeface="Arial"/>
              </a:rPr>
              <a:t>Partner hospitals share price lists and final bills, so scan and bill estimates use real prices</a:t>
            </a:r>
          </a:p>
          <a:p>
            <a:pPr>
              <a:lnSpc>
                <a:spcPct val="112000"/>
              </a:lnSpc>
              <a:spcAft>
                <a:spcPts val="600"/>
              </a:spcAft>
            </a:pPr>
            <a:r>
              <a:rPr sz="1100" b="1">
                <a:solidFill>
                  <a:srgbClr val="005EB8"/>
                </a:solidFill>
                <a:latin typeface="Arial"/>
              </a:rPr>
              <a:t>•  </a:t>
            </a:r>
            <a:r>
              <a:rPr sz="1100">
                <a:solidFill>
                  <a:srgbClr val="2B3138"/>
                </a:solidFill>
                <a:latin typeface="Arial"/>
              </a:rPr>
              <a:t>Price all 1,949 PM-JAY packages on the path (15 today)</a:t>
            </a:r>
          </a:p>
          <a:p>
            <a:pPr>
              <a:lnSpc>
                <a:spcPct val="112000"/>
              </a:lnSpc>
              <a:spcAft>
                <a:spcPts val="600"/>
              </a:spcAft>
            </a:pPr>
            <a:r>
              <a:rPr sz="1100" b="1">
                <a:solidFill>
                  <a:srgbClr val="005EB8"/>
                </a:solidFill>
                <a:latin typeface="Arial"/>
              </a:rPr>
              <a:t>•  </a:t>
            </a:r>
            <a:r>
              <a:rPr sz="1100">
                <a:solidFill>
                  <a:srgbClr val="2B3138"/>
                </a:solidFill>
                <a:latin typeface="Arial"/>
              </a:rPr>
              <a:t>Family floater: sum insured used by each member counted from their saved stays</a:t>
            </a:r>
          </a:p>
          <a:p>
            <a:pPr>
              <a:lnSpc>
                <a:spcPct val="112000"/>
              </a:lnSpc>
              <a:spcAft>
                <a:spcPts val="600"/>
              </a:spcAft>
            </a:pPr>
            <a:r>
              <a:rPr sz="1100" b="1">
                <a:solidFill>
                  <a:srgbClr val="005EB8"/>
                </a:solidFill>
                <a:latin typeface="Arial"/>
              </a:rPr>
              <a:t>•  </a:t>
            </a:r>
            <a:r>
              <a:rPr sz="1100">
                <a:solidFill>
                  <a:srgbClr val="2B3138"/>
                </a:solidFill>
                <a:latin typeface="Arial"/>
              </a:rPr>
              <a:t>Read the policy formats of India’s 20 largest insurers</a:t>
            </a:r>
          </a:p>
        </p:txBody>
      </p:sp>
      <p:sp>
        <p:nvSpPr>
          <p:cNvPr id="17" name="Rounded Rectangle 16"/>
          <p:cNvSpPr/>
          <p:nvPr/>
        </p:nvSpPr>
        <p:spPr>
          <a:xfrm>
            <a:off x="4617720" y="4828032"/>
            <a:ext cx="2971800" cy="384048"/>
          </a:xfrm>
          <a:prstGeom prst="roundRect">
            <a:avLst>
              <a:gd name="adj" fmla="val 3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828032"/>
            <a:ext cx="2971800" cy="384048"/>
          </a:xfrm>
          <a:prstGeom prst="rect">
            <a:avLst/>
          </a:prstGeom>
          <a:noFill/>
        </p:spPr>
        <p:txBody>
          <a:bodyPr wrap="square" lIns="0" rIns="0" tIns="0" bIns="0" anchor="ctr">
            <a:spAutoFit/>
          </a:bodyPr>
          <a:lstStyle/>
          <a:p>
            <a:pPr algn="ctr">
              <a:spcBef>
                <a:spcPts val="0"/>
              </a:spcBef>
              <a:spcAft>
                <a:spcPts val="0"/>
              </a:spcAft>
            </a:pPr>
            <a:r>
              <a:rPr sz="1100" b="1" i="0">
                <a:solidFill>
                  <a:srgbClr val="005EB8"/>
                </a:solidFill>
                <a:latin typeface="Arial"/>
              </a:rPr>
              <a:t>Target: estimate within 15% of the real bill</a:t>
            </a:r>
          </a:p>
        </p:txBody>
      </p:sp>
      <p:sp>
        <p:nvSpPr>
          <p:cNvPr id="19" name="Rounded Rectangle 18"/>
          <p:cNvSpPr/>
          <p:nvPr/>
        </p:nvSpPr>
        <p:spPr>
          <a:xfrm>
            <a:off x="8138160" y="1188720"/>
            <a:ext cx="3520440" cy="416052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0" y="1389888"/>
            <a:ext cx="475488" cy="47548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3</a:t>
            </a:r>
          </a:p>
        </p:txBody>
      </p:sp>
      <p:sp>
        <p:nvSpPr>
          <p:cNvPr id="21" name="TextBox 20"/>
          <p:cNvSpPr txBox="1"/>
          <p:nvPr/>
        </p:nvSpPr>
        <p:spPr>
          <a:xfrm>
            <a:off x="9034272" y="1371600"/>
            <a:ext cx="2560320" cy="36576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Next 12 months</a:t>
            </a:r>
          </a:p>
        </p:txBody>
      </p:sp>
      <p:sp>
        <p:nvSpPr>
          <p:cNvPr id="22" name="TextBox 21"/>
          <p:cNvSpPr txBox="1"/>
          <p:nvPr/>
        </p:nvSpPr>
        <p:spPr>
          <a:xfrm>
            <a:off x="9034272" y="1719072"/>
            <a:ext cx="2560320" cy="274320"/>
          </a:xfrm>
          <a:prstGeom prst="rect">
            <a:avLst/>
          </a:prstGeom>
          <a:noFill/>
        </p:spPr>
        <p:txBody>
          <a:bodyPr wrap="square" lIns="0" rIns="0" tIns="0" bIns="0" anchor="t">
            <a:spAutoFit/>
          </a:bodyPr>
          <a:lstStyle/>
          <a:p>
            <a:pPr algn="l">
              <a:spcBef>
                <a:spcPts val="0"/>
              </a:spcBef>
              <a:spcAft>
                <a:spcPts val="0"/>
              </a:spcAft>
            </a:pPr>
            <a:r>
              <a:rPr sz="1150" b="1" i="0">
                <a:solidFill>
                  <a:srgbClr val="005EB8"/>
                </a:solidFill>
                <a:latin typeface="Arial"/>
              </a:rPr>
              <a:t>Ready for real patients</a:t>
            </a:r>
          </a:p>
        </p:txBody>
      </p:sp>
      <p:sp>
        <p:nvSpPr>
          <p:cNvPr id="23" name="TextBox 22"/>
          <p:cNvSpPr txBox="1"/>
          <p:nvPr/>
        </p:nvSpPr>
        <p:spPr>
          <a:xfrm>
            <a:off x="8412480" y="2212848"/>
            <a:ext cx="3063240" cy="2606040"/>
          </a:xfrm>
          <a:prstGeom prst="rect">
            <a:avLst/>
          </a:prstGeom>
          <a:noFill/>
        </p:spPr>
        <p:txBody>
          <a:bodyPr wrap="square" lIns="0" rIns="0" tIns="0" bIns="0">
            <a:spAutoFit/>
          </a:bodyPr>
          <a:lstStyle/>
          <a:p>
            <a:pPr>
              <a:lnSpc>
                <a:spcPct val="112000"/>
              </a:lnSpc>
              <a:spcAft>
                <a:spcPts val="600"/>
              </a:spcAft>
            </a:pPr>
            <a:r>
              <a:rPr sz="1100" b="1">
                <a:solidFill>
                  <a:srgbClr val="005EB8"/>
                </a:solidFill>
                <a:latin typeface="Arial"/>
              </a:rPr>
              <a:t>•  </a:t>
            </a:r>
            <a:r>
              <a:rPr sz="1100">
                <a:solidFill>
                  <a:srgbClr val="2B3138"/>
                </a:solidFill>
                <a:latin typeface="Arial"/>
              </a:rPr>
              <a:t>Pilot at a hospital admission desk</a:t>
            </a:r>
          </a:p>
          <a:p>
            <a:pPr>
              <a:lnSpc>
                <a:spcPct val="112000"/>
              </a:lnSpc>
              <a:spcAft>
                <a:spcPts val="600"/>
              </a:spcAft>
            </a:pPr>
            <a:r>
              <a:rPr sz="1100" b="1">
                <a:solidFill>
                  <a:srgbClr val="005EB8"/>
                </a:solidFill>
                <a:latin typeface="Arial"/>
              </a:rPr>
              <a:t>•  </a:t>
            </a:r>
            <a:r>
              <a:rPr sz="1100">
                <a:solidFill>
                  <a:srgbClr val="2B3138"/>
                </a:solidFill>
                <a:latin typeface="Arial"/>
              </a:rPr>
              <a:t>Link health records through Ayushman Bharat Digital Mission, with consent</a:t>
            </a:r>
          </a:p>
          <a:p>
            <a:pPr>
              <a:lnSpc>
                <a:spcPct val="112000"/>
              </a:lnSpc>
              <a:spcAft>
                <a:spcPts val="600"/>
              </a:spcAft>
            </a:pPr>
            <a:r>
              <a:rPr sz="1100" b="1">
                <a:solidFill>
                  <a:srgbClr val="005EB8"/>
                </a:solidFill>
                <a:latin typeface="Arial"/>
              </a:rPr>
              <a:t>•  </a:t>
            </a:r>
            <a:r>
              <a:rPr sz="1100">
                <a:solidFill>
                  <a:srgbClr val="2B3138"/>
                </a:solidFill>
                <a:latin typeface="Arial"/>
              </a:rPr>
              <a:t>Consent, deletion and audit under India’s DPDP Act, 2023</a:t>
            </a:r>
          </a:p>
          <a:p>
            <a:pPr>
              <a:lnSpc>
                <a:spcPct val="112000"/>
              </a:lnSpc>
              <a:spcAft>
                <a:spcPts val="600"/>
              </a:spcAft>
            </a:pPr>
            <a:r>
              <a:rPr sz="1100" b="1">
                <a:solidFill>
                  <a:srgbClr val="005EB8"/>
                </a:solidFill>
                <a:latin typeface="Arial"/>
              </a:rPr>
              <a:t>•  </a:t>
            </a:r>
            <a:r>
              <a:rPr sz="1100">
                <a:solidFill>
                  <a:srgbClr val="2B3138"/>
                </a:solidFill>
                <a:latin typeface="Arial"/>
              </a:rPr>
              <a:t>Cashless pre-approval sent straight to the insurer</a:t>
            </a:r>
          </a:p>
        </p:txBody>
      </p:sp>
      <p:sp>
        <p:nvSpPr>
          <p:cNvPr id="24" name="Rounded Rectangle 23"/>
          <p:cNvSpPr/>
          <p:nvPr/>
        </p:nvSpPr>
        <p:spPr>
          <a:xfrm>
            <a:off x="8412480" y="4828032"/>
            <a:ext cx="2971800" cy="384048"/>
          </a:xfrm>
          <a:prstGeom prst="roundRect">
            <a:avLst>
              <a:gd name="adj" fmla="val 3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0" y="4828032"/>
            <a:ext cx="2971800" cy="384048"/>
          </a:xfrm>
          <a:prstGeom prst="rect">
            <a:avLst/>
          </a:prstGeom>
          <a:noFill/>
        </p:spPr>
        <p:txBody>
          <a:bodyPr wrap="square" lIns="0" rIns="0" tIns="0" bIns="0" anchor="ctr">
            <a:spAutoFit/>
          </a:bodyPr>
          <a:lstStyle/>
          <a:p>
            <a:pPr algn="ctr">
              <a:spcBef>
                <a:spcPts val="0"/>
              </a:spcBef>
              <a:spcAft>
                <a:spcPts val="0"/>
              </a:spcAft>
            </a:pPr>
            <a:r>
              <a:rPr sz="1100" b="1" i="0">
                <a:solidFill>
                  <a:srgbClr val="005EB8"/>
                </a:solidFill>
                <a:latin typeface="Arial"/>
              </a:rPr>
              <a:t>Target: 1 lakh families a month</a:t>
            </a:r>
          </a:p>
        </p:txBody>
      </p:sp>
      <p:sp>
        <p:nvSpPr>
          <p:cNvPr id="26" name="Rounded Rectangle 25"/>
          <p:cNvSpPr/>
          <p:nvPr/>
        </p:nvSpPr>
        <p:spPr>
          <a:xfrm>
            <a:off x="548640" y="5486400"/>
            <a:ext cx="11091672" cy="77724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486400"/>
            <a:ext cx="10607040" cy="777240"/>
          </a:xfrm>
          <a:prstGeom prst="rect">
            <a:avLst/>
          </a:prstGeom>
          <a:noFill/>
        </p:spPr>
        <p:txBody>
          <a:bodyPr wrap="square" lIns="0" rIns="0" tIns="0" bIns="0" anchor="ctr">
            <a:spAutoFit/>
          </a:bodyPr>
          <a:lstStyle/>
          <a:p>
            <a:pPr algn="l">
              <a:lnSpc>
                <a:spcPct val="120000"/>
              </a:lnSpc>
              <a:spcBef>
                <a:spcPts val="0"/>
              </a:spcBef>
              <a:spcAft>
                <a:spcPts val="0"/>
              </a:spcAft>
            </a:pPr>
            <a:r>
              <a:rPr sz="1200" b="1" i="0">
                <a:solidFill>
                  <a:srgbClr val="005EB8"/>
                </a:solidFill>
                <a:latin typeface="Arial"/>
              </a:rPr>
              <a:t>Already in place: </a:t>
            </a:r>
            <a:r>
              <a:rPr sz="1200" b="0" i="0">
                <a:solidFill>
                  <a:srgbClr val="14181C"/>
                </a:solidFill>
                <a:latin typeface="Arial"/>
              </a:rPr>
              <a:t>family profiles with unique IDs · two government schemes applied automatically by age (RBSK, Vay Vandana) · health reports turned into a plan · English and Hindi · voice questions and read-aloud · estimator trained on 1,949 PM-JAY packages that retrains itself · chat memory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14</a:t>
            </a:r>
          </a:p>
        </p:txBody>
      </p:sp>
      <p:sp>
        <p:nvSpPr>
          <p:cNvPr id="4" name="Rectangle 3"/>
          <p:cNvSpPr/>
          <p:nvPr/>
        </p:nvSpPr>
        <p:spPr>
          <a:xfrm>
            <a:off x="0" y="0"/>
            <a:ext cx="12191695" cy="68580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20240"/>
            <a:ext cx="10543032" cy="1097280"/>
          </a:xfrm>
          <a:prstGeom prst="rect">
            <a:avLst/>
          </a:prstGeom>
          <a:noFill/>
        </p:spPr>
        <p:txBody>
          <a:bodyPr wrap="square" lIns="0" rIns="0" tIns="0" bIns="0" anchor="t">
            <a:spAutoFit/>
          </a:bodyPr>
          <a:lstStyle/>
          <a:p>
            <a:pPr algn="ctr">
              <a:spcBef>
                <a:spcPts val="0"/>
              </a:spcBef>
              <a:spcAft>
                <a:spcPts val="0"/>
              </a:spcAft>
            </a:pPr>
            <a:r>
              <a:rPr sz="7200" b="1" i="0">
                <a:solidFill>
                  <a:srgbClr val="FFFFFF"/>
                </a:solidFill>
                <a:latin typeface="Rockwell"/>
              </a:rPr>
              <a:t>ClaimCast</a:t>
            </a:r>
          </a:p>
        </p:txBody>
      </p:sp>
      <p:sp>
        <p:nvSpPr>
          <p:cNvPr id="6" name="TextBox 5"/>
          <p:cNvSpPr txBox="1"/>
          <p:nvPr/>
        </p:nvSpPr>
        <p:spPr>
          <a:xfrm>
            <a:off x="822960" y="3063240"/>
            <a:ext cx="10543032" cy="548640"/>
          </a:xfrm>
          <a:prstGeom prst="rect">
            <a:avLst/>
          </a:prstGeom>
          <a:noFill/>
        </p:spPr>
        <p:txBody>
          <a:bodyPr wrap="square" lIns="0" rIns="0" tIns="0" bIns="0" anchor="t">
            <a:spAutoFit/>
          </a:bodyPr>
          <a:lstStyle/>
          <a:p>
            <a:pPr algn="ctr">
              <a:spcBef>
                <a:spcPts val="0"/>
              </a:spcBef>
              <a:spcAft>
                <a:spcPts val="0"/>
              </a:spcAft>
            </a:pPr>
            <a:r>
              <a:rPr sz="2400" b="0" i="1">
                <a:solidFill>
                  <a:srgbClr val="C4DCEF"/>
                </a:solidFill>
                <a:latin typeface="Rockwell"/>
              </a:rPr>
              <a:t>The decision, before the bill.</a:t>
            </a:r>
          </a:p>
        </p:txBody>
      </p:sp>
      <p:sp>
        <p:nvSpPr>
          <p:cNvPr id="7" name="TextBox 6"/>
          <p:cNvSpPr txBox="1"/>
          <p:nvPr/>
        </p:nvSpPr>
        <p:spPr>
          <a:xfrm>
            <a:off x="822960" y="4206240"/>
            <a:ext cx="10543032" cy="457200"/>
          </a:xfrm>
          <a:prstGeom prst="rect">
            <a:avLst/>
          </a:prstGeom>
          <a:noFill/>
        </p:spPr>
        <p:txBody>
          <a:bodyPr wrap="square" lIns="0" rIns="0" tIns="0" bIns="0" anchor="t">
            <a:spAutoFit/>
          </a:bodyPr>
          <a:lstStyle/>
          <a:p>
            <a:pPr algn="ctr">
              <a:spcBef>
                <a:spcPts val="0"/>
              </a:spcBef>
              <a:spcAft>
                <a:spcPts val="0"/>
              </a:spcAft>
            </a:pPr>
            <a:r>
              <a:rPr sz="1800" b="1" i="0">
                <a:solidFill>
                  <a:srgbClr val="FFFFFF"/>
                </a:solidFill>
                <a:latin typeface="Arial"/>
              </a:rPr>
              <a:t>Thank you  ·  Questions welcome</a:t>
            </a:r>
          </a:p>
        </p:txBody>
      </p:sp>
      <p:sp>
        <p:nvSpPr>
          <p:cNvPr id="8" name="TextBox 7"/>
          <p:cNvSpPr txBox="1"/>
          <p:nvPr/>
        </p:nvSpPr>
        <p:spPr>
          <a:xfrm>
            <a:off x="822960" y="6035040"/>
            <a:ext cx="10543032" cy="320040"/>
          </a:xfrm>
          <a:prstGeom prst="rect">
            <a:avLst/>
          </a:prstGeom>
          <a:noFill/>
        </p:spPr>
        <p:txBody>
          <a:bodyPr wrap="square" lIns="0" rIns="0" tIns="0" bIns="0" anchor="t">
            <a:spAutoFit/>
          </a:bodyPr>
          <a:lstStyle/>
          <a:p>
            <a:pPr algn="ctr">
              <a:spcBef>
                <a:spcPts val="0"/>
              </a:spcBef>
              <a:spcAft>
                <a:spcPts val="0"/>
              </a:spcAft>
            </a:pPr>
            <a:r>
              <a:rPr sz="1050" b="0" i="0">
                <a:solidFill>
                  <a:srgbClr val="C4DCEF"/>
                </a:solidFill>
                <a:latin typeface="Arial"/>
              </a:rPr>
              <a:t>Estimates, not guarantees  ·  money only, no medical advice  ·  demo uses made-up patients and hospitals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169</Words>
  <Application>Microsoft Office PowerPoint</Application>
  <PresentationFormat>Widescreen</PresentationFormat>
  <Paragraphs>26</Paragraphs>
  <Slides>5</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Aptos</vt:lpstr>
      <vt:lpstr>Arial</vt:lpstr>
      <vt:lpstr>Calibri</vt:lpstr>
      <vt:lpstr>Calibri Light</vt:lpstr>
      <vt:lpstr>GE Inspira Sans</vt:lpstr>
      <vt:lpstr>Times New Roman</vt:lpstr>
      <vt:lpstr>Office Theme</vt:lpstr>
      <vt:lpstr>Precision Care Challenge 2026</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Precision Care Challenge 2023</dc:title>
  <dc:creator>Sailesh, Surekha (GE HealthCare)</dc:creator>
  <cp:lastModifiedBy>Shetty, Sheeja</cp:lastModifiedBy>
  <cp:revision>3</cp:revision>
  <dcterms:created xsi:type="dcterms:W3CDTF">2023-07-11T13:48:39Z</dcterms:created>
  <dcterms:modified xsi:type="dcterms:W3CDTF">2026-08-03T06:50:47Z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3c574c9-73b0-47a5-a0cf-661fbc02804c_Enabled">
    <vt:lpwstr>true</vt:lpwstr>
  </property>
  <property fmtid="{D5CDD505-2E9C-101B-9397-08002B2CF9AE}" pid="3" name="MSIP_Label_e3c574c9-73b0-47a5-a0cf-661fbc02804c_SetDate">
    <vt:lpwstr>2026-08-03T06:50:02Z</vt:lpwstr>
  </property>
  <property fmtid="{D5CDD505-2E9C-101B-9397-08002B2CF9AE}" pid="4" name="MSIP_Label_e3c574c9-73b0-47a5-a0cf-661fbc02804c_Method">
    <vt:lpwstr>Privileged</vt:lpwstr>
  </property>
  <property fmtid="{D5CDD505-2E9C-101B-9397-08002B2CF9AE}" pid="5" name="MSIP_Label_e3c574c9-73b0-47a5-a0cf-661fbc02804c_Name">
    <vt:lpwstr>Public</vt:lpwstr>
  </property>
  <property fmtid="{D5CDD505-2E9C-101B-9397-08002B2CF9AE}" pid="6" name="MSIP_Label_e3c574c9-73b0-47a5-a0cf-661fbc02804c_SiteId">
    <vt:lpwstr>9a309606-d6ec-4188-a28a-298812b4bbbf</vt:lpwstr>
  </property>
  <property fmtid="{D5CDD505-2E9C-101B-9397-08002B2CF9AE}" pid="7" name="MSIP_Label_e3c574c9-73b0-47a5-a0cf-661fbc02804c_ActionId">
    <vt:lpwstr>c058a829-f1f8-4104-8ea0-5c992c4f1f6b</vt:lpwstr>
  </property>
  <property fmtid="{D5CDD505-2E9C-101B-9397-08002B2CF9AE}" pid="8" name="MSIP_Label_e3c574c9-73b0-47a5-a0cf-661fbc02804c_ContentBits">
    <vt:lpwstr>2</vt:lpwstr>
  </property>
  <property fmtid="{D5CDD505-2E9C-101B-9397-08002B2CF9AE}" pid="9" name="MSIP_Label_e3c574c9-73b0-47a5-a0cf-661fbc02804c_Tag">
    <vt:lpwstr>10, 0, 1, 1</vt:lpwstr>
  </property>
  <property fmtid="{D5CDD505-2E9C-101B-9397-08002B2CF9AE}" pid="10" name="ClassificationContentMarkingFooterLocations">
    <vt:lpwstr>Office Theme:8</vt:lpwstr>
  </property>
  <property fmtid="{D5CDD505-2E9C-101B-9397-08002B2CF9AE}" pid="11" name="ClassificationContentMarkingFooterText">
    <vt:lpwstr>-Public-</vt:lpwstr>
  </property>
</Properties>
</file>