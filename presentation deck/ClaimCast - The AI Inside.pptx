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6"/>
    <p:sldId id="258" r:id="rId5"/>
    <p:sldId id="259" r:id="rId4"/>
    <p:sldId id="260" r:id="rId3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Middle estimate</c:v>
                </c:pt>
              </c:strCache>
            </c:strRef>
          </c:tx>
          <c:spPr>
            <a:solidFill>
              <a:srgbClr val="005EB8"/>
            </a:solidFill>
          </c:spPr>
          <c:dPt>
            <c:idx val="0"/>
            <c:spPr>
              <a:solidFill>
                <a:srgbClr val="C4DCEF"/>
              </a:solidFill>
            </c:spPr>
          </c:dPt>
          <c:cat>
            <c:strRef>
              <c:f>Sheet1!$A$2:$A$4</c:f>
              <c:strCache>
                <c:ptCount val="3"/>
                <c:pt idx="0">
                  <c:v>Before</c:v>
                </c:pt>
                <c:pt idx="1">
                  <c:v>After 5
bills</c:v>
                </c:pt>
                <c:pt idx="2">
                  <c:v>After 10
(retrained)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83881</c:v>
                </c:pt>
                <c:pt idx="1">
                  <c:v>92336</c:v>
                </c:pt>
                <c:pt idx="2">
                  <c:v>92731</c:v>
                </c:pt>
              </c:numCache>
            </c:numRef>
          </c:val>
        </c:ser>
        <c:dLbls>
          <c:numFmt formatCode="&quot;₹&quot;#,##0" sourceLinked="0"/>
          <c:txPr>
            <a:bodyPr/>
            <a:lstStyle/>
            <a:p>
              <a:pPr>
                <a:defRPr sz="1050" b="1">
                  <a:solidFill>
                    <a:srgbClr val="14181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8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871C0-8BEE-4F2C-9BA2-9663CC719E2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2771B-BEB5-4FB3-B61F-E76DEDD33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7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companion deck: it assumes the audience has seen (or will see) the main ClaimCast pitch, and goes deep on one question from it -- 'where's the AI, and why should I trust it?' No claim here repeats a number from the main deck without being re-derived from the code in this same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frame for the whole deck. The right column's four items are the ones the main deck's slide 6 labels 'Not AI, on purpose'; CGHS matching is called out specifically because it sits inside an otherwise AI-heavy pipeline (health.ts: bestMatch/matchTests, a coverage-scored word match, never asked of a model).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through the three stops. Each is a literal upload button or chat box in the running prototype -- Intake.tsx's Your insurance and Your health steps, and ChatDock.tsx, reachable from every family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Provider order is models.ts's chosen(): Vertex (VERTEX_PROJECT) &gt; Gemini AI Studio (GEMINI_API_KEY) &gt; Anthropic (ANTHROPIC_API_KEY) &gt; Groq (GROQ_API_KEY) &gt; OpenRouter (OPENROUTER_API_KEY) -- the first key present wins, EXTRACTION_PROVIDER can force one. Ask ClaimCast's chat() overrides this: OpenRouter first whenever its key is set, since Llama 3.3 70B is the one the chat is priced and tuned against; the deck's chain shown here is the policy- and report-reading order. The dashed green boxes are the 'checked by code' steps: verification re-derives nothing an AI said, it only looks for it in bytes the model did not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extract.ts: pageText() via pdf.js, retrieval.ts's TF-IDF chunker finds passages per field, models.ts calls whichever provider chosen() picks, found() checks every span against the document's own text character for character (whitespace-normalised only). 17 fields: EXTRACTED_FIELDS in contracts, counted directly, 29 Sep 2026. The reader never sees the sum insured or the room limit as ground truth -- it proposes, the family confirms, and Intake.tsx will not let an unconfirmed figure reach the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chat.ts's chat(): OpenRouter (Llama 3.3 70B) whenever OPENROUTER_API_KEY is set, else the same provider chain as extraction. Facts come from caseFacts() (engine) and careFacts() (health report). recall() in sessions.ts picks the 3 nearest remembered questions by the same TF-IDF retrieval as the RAG passages. 37 facts and the grounding check are exercised by chat.check.ts on every code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health.ts: transcribe() (Gemini 2.5 Flash via OpenRouter) for a photo or a scanned PDF whose text layer is under 20 characters after whitespace is stripped; readReport() retries once on invalid JSON, then falls back to readByRules() if no provider is configured or both tries fail. matchTests()/bestMatch(): TF-IDF-weighted word overlap against the 776 seeded CGHS tests, MIN_COVERAGE = 0.5. health.check.ts fixes 14 report phrasings to their correct CGHS code as a regression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live test as the main deck's self-learning slide, re-derived here for this session rather than copied: reported via /api/outcomes, retrain triggered by maybeRetrain() in server.ts once RETRAIN_EVERY=10 new settled bills exist, POST /retrain rebuilds the XGBoost booster on the combined tariff + outcome pool. The test bills were deleted afterwards. The right column is the distinction worth making to an AI-literate audience: prompt-time context (RAG passages, memory, worked examples) is not the same thing as training, and ClaimCast only ever does the former to a hosted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776: db.diagnosticTest.count(), seeded from the CGHS rate list, verified live this session. 37: chat.check.ts's own console output, verified live this session, not carried over from an earlier one. '100% of rupee figures checked' describes the mechanism (every figure is checked, unconditionally), not a claim that every check passes -- an unsupported one is exactly what the mechanism is for catching.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A272-1B98-7756-B21D-54AAC768F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D5F1B-4535-A2CC-2E76-4C3E08AB7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4CE0A-13B3-E099-E264-C749A7B6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7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1EDA-F949-7762-7345-3EC6336A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A73D-C754-E2B5-B616-EE148043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2A365-36F6-273A-E85F-BE3BCFAA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5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CC3A-3FE1-0608-AF69-62F314B8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7BFE7-64BF-F955-094B-CA2D54AD6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3996-BA9A-1D0B-135F-621431AB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6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690F-9551-239D-5BE0-BB7D7E64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0743-FEC6-B634-E47C-2987E9236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011FE-B5BC-2B1A-0E68-A1AA89031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95E66-F455-7267-A757-23F63A21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1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B620-4238-7450-B7BC-8A6EA49F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87683-D4EF-2932-696B-91C26373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3E9DB-B890-C5C4-54FD-A2AB329D6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FCF46-E11B-100C-6B4F-FB77397BB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BEB23-E520-032B-ECF0-C43E6673B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0DAEA-7228-8F58-41E8-8B79C6E6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99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3E66-949C-AC89-6293-B7A652B9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72F4F-E0A7-505D-B933-0946FE12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74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C9473-7CFF-9FF1-EBDE-A4075A96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5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FF25-1B80-BD56-5515-20E9EE08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FCBF-D5F2-3396-AB47-A27716D1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207F9-5A0E-F62C-4DA1-4DCB33A1F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BD095-FCD1-90DA-7B92-6409F2C0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74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142A-5BB7-2BA1-A4F3-94EB9E8B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38CC8-3D10-819F-0FB9-BEF0A1036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9A2A6-26B8-2245-BD02-03BC123ED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4A55A-9700-199B-4EAC-4DA03BE5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8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DEF5-A1E3-0C1C-2C6E-142BA128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65151-E340-3CEB-4AFA-7C5714CDE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38010-95BD-A089-B2CF-B4AF734A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28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232CA-53A0-450B-6F51-AB548EF16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16648-C986-9603-5B32-52BCDD9F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CB21-880F-CDC8-E646-6D4260DE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387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16AD6-6273-F245-1B4D-3F28F5ED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9F935-570D-F9DE-AA2F-2A8E4ECB0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6088-B3A2-F26B-E57E-9062E942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45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3749039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3A76E-8DAD-6730-42AF-16D46B969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502920"/>
            <a:ext cx="10543032" cy="310896"/>
          </a:xfrm>
        </p:spPr>
        <p:txBody>
          <a:bodyPr/>
          <a:lstStyle/>
          <a:p>
            <a:pPr algn="ctr"/>
            <a:r>
              <a:rPr sz="1100" b="1">
                <a:solidFill>
                  <a:srgbClr val="C4DCEF"/>
                </a:solidFill>
                <a:latin typeface="Arial"/>
              </a:rPr>
              <a:t>PRECISION CARE CHALLENGE 2026   ·   GE HEALTHCARE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0015F-B2D4-B19B-0042-89659684D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1078992"/>
            <a:ext cx="10543032" cy="1188720"/>
          </a:xfrm>
        </p:spPr>
        <p:txBody>
          <a:bodyPr/>
          <a:lstStyle/>
          <a:p>
            <a:pPr algn="ctr"/>
            <a:r>
              <a:rPr sz="6800" b="1">
                <a:solidFill>
                  <a:srgbClr val="FFFFFF"/>
                </a:solidFill>
                <a:latin typeface="Rockwell"/>
              </a:rPr>
              <a:t>ClaimCast</a:t>
            </a:r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4956048" y="2286000"/>
            <a:ext cx="2286000" cy="310896"/>
          </a:xfrm>
          <a:prstGeom prst="roundRect">
            <a:avLst>
              <a:gd name="adj" fmla="val 28000"/>
            </a:avLst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50" b="1">
                <a:solidFill>
                  <a:srgbClr val="C4DCEF"/>
                </a:solidFill>
                <a:latin typeface="Arial"/>
              </a:rPr>
              <a:t>THE AI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286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4DCEF"/>
                </a:solidFill>
                <a:latin typeface="Arial"/>
              </a:rPr>
              <a:t>Where language models read, where they answer, and what stops either from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deciding a rupee</a:t>
            </a:r>
            <a:r>
              <a:rPr sz="1700" b="0" i="0">
                <a:solidFill>
                  <a:srgbClr val="C4DCEF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43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COMPANION DECK</a:t>
            </a:r>
            <a:r>
              <a:rPr sz="1200" b="0" i="0">
                <a:solidFill>
                  <a:srgbClr val="2B3138"/>
                </a:solidFill>
                <a:latin typeface="Arial"/>
              </a:rPr>
              <a:t>   ·   architecture, the three AI pipelines, and how every answer is 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430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4181C"/>
                </a:solidFill>
                <a:latin typeface="Rockwell"/>
              </a:rPr>
              <a:t>Team Rocket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138"/>
                </a:solidFill>
                <a:latin typeface="Arial"/>
              </a:rPr>
              <a:t>Indraprastha Institute of Information Technology, Delhi (IIIT-Delhi)</a:t>
            </a:r>
          </a:p>
        </p:txBody>
      </p:sp>
    </p:spTree>
    <p:extLst>
      <p:ext uri="{BB962C8B-B14F-4D97-AF65-F5344CB8AC3E}">
        <p14:creationId xmlns:p14="http://schemas.microsoft.com/office/powerpoint/2010/main" val="213019577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· The AI Inside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C"/>
                </a:solidFill>
                <a:latin typeface="Rockwell"/>
              </a:rPr>
              <a:t>One rule decides everything on this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91672" cy="1234440"/>
          </a:xfrm>
          <a:prstGeom prst="roundRect">
            <a:avLst>
              <a:gd name="adj" fmla="val 8000"/>
            </a:avLst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Rockwell"/>
              </a:rPr>
              <a:t>Language models read documents and explain figures.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DCEF"/>
                </a:solidFill>
                <a:latin typeface="Rockwell"/>
              </a:rPr>
              <a:t>They never compute a rupee.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257800" cy="3063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EB8"/>
                </a:solidFill>
                <a:latin typeface="Arial"/>
              </a:rPr>
              <a:t>WHERE AI IS USED — three tasks, nowhere else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364992"/>
            <a:ext cx="347472" cy="347472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Reading your policy PDF 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proposes 17 details, each quoted to a page — nothing prices until you confirm it.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42232"/>
            <a:ext cx="347472" cy="347472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14800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Ask ClaimCast (chat) 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explains the figures the engine already worked out — never a new one.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919472"/>
            <a:ext cx="347472" cy="347472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92040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1C"/>
                </a:solidFill>
                <a:latin typeface="Arial"/>
              </a:rPr>
              <a:t>Reading a health report 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proposes a diagnosis, tests and a treatment, each quoted — same gate.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743200"/>
            <a:ext cx="52578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926080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7A4D"/>
                </a:solidFill>
                <a:latin typeface="Arial"/>
              </a:rPr>
              <a:t>NEVER AI — deterministic, checked by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310128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007A4D"/>
                </a:solidFill>
                <a:latin typeface="Arial"/>
              </a:rPr>
              <a:t>•  </a:t>
            </a:r>
            <a:r>
              <a:rPr sz="1150" b="1">
                <a:solidFill>
                  <a:srgbClr val="14181C"/>
                </a:solidFill>
                <a:latin typeface="Arial"/>
              </a:rPr>
              <a:t>The money engine — </a:t>
            </a:r>
            <a:r>
              <a:rPr sz="1150">
                <a:solidFill>
                  <a:srgbClr val="2B3138"/>
                </a:solidFill>
                <a:latin typeface="Arial"/>
              </a:rPr>
              <a:t>IRDAI and policy rules, the same code in the browser and on the server.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007A4D"/>
                </a:solidFill>
                <a:latin typeface="Arial"/>
              </a:rPr>
              <a:t>•  </a:t>
            </a:r>
            <a:r>
              <a:rPr sz="1150" b="1">
                <a:solidFill>
                  <a:srgbClr val="14181C"/>
                </a:solidFill>
                <a:latin typeface="Arial"/>
              </a:rPr>
              <a:t>The bill-range model — </a:t>
            </a:r>
            <a:r>
              <a:rPr sz="1150">
                <a:solidFill>
                  <a:srgbClr val="2B3138"/>
                </a:solidFill>
                <a:latin typeface="Arial"/>
              </a:rPr>
              <a:t>XGBoost, fitted on tariffs and settled bills, not a language model.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007A4D"/>
                </a:solidFill>
                <a:latin typeface="Arial"/>
              </a:rPr>
              <a:t>•  </a:t>
            </a:r>
            <a:r>
              <a:rPr sz="1150" b="1">
                <a:solidFill>
                  <a:srgbClr val="14181C"/>
                </a:solidFill>
                <a:latin typeface="Arial"/>
              </a:rPr>
              <a:t>Matching a scan to its CGHS code — </a:t>
            </a:r>
            <a:r>
              <a:rPr sz="1150">
                <a:solidFill>
                  <a:srgbClr val="2B3138"/>
                </a:solidFill>
                <a:latin typeface="Arial"/>
              </a:rPr>
              <a:t>fixed word-overlap rules, even inside the health-report pipeline.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007A4D"/>
                </a:solidFill>
                <a:latin typeface="Arial"/>
              </a:rPr>
              <a:t>•  </a:t>
            </a:r>
            <a:r>
              <a:rPr sz="1150" b="1">
                <a:solidFill>
                  <a:srgbClr val="14181C"/>
                </a:solidFill>
                <a:latin typeface="Arial"/>
              </a:rPr>
              <a:t>Voice in and read-aloud — </a:t>
            </a:r>
            <a:r>
              <a:rPr sz="1150">
                <a:solidFill>
                  <a:srgbClr val="2B3138"/>
                </a:solidFill>
                <a:latin typeface="Arial"/>
              </a:rPr>
              <a:t>the browser's own speech engine, no call leaves the device.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52160"/>
            <a:ext cx="11091672" cy="713232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52160"/>
            <a:ext cx="10561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EB8"/>
                </a:solidFill>
                <a:latin typeface="Arial"/>
              </a:rPr>
              <a:t>The check: </a:t>
            </a:r>
            <a:r>
              <a:rPr sz="1150" b="0" i="0">
                <a:solidFill>
                  <a:srgbClr val="14181C"/>
                </a:solidFill>
                <a:latin typeface="Arial"/>
              </a:rPr>
              <a:t>every ₹ figure a model's answer contains is looked for, after the fact, in what the engine actually computed or a quote actually verified. One that is not found is shown on screen as unsupported.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· The AI Inside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C"/>
                </a:solidFill>
                <a:latin typeface="Rockwell"/>
              </a:rPr>
              <a:t>Three doors into the family's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872"/>
                </a:solidFill>
                <a:latin typeface="Arial"/>
              </a:rPr>
              <a:t>Everywhere else — choosing a hospital, a room, a scheme — is priced by the engine, untouched by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59352"/>
            <a:ext cx="10515600" cy="36576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62072" y="3200399"/>
            <a:ext cx="36576" cy="777240"/>
          </a:xfrm>
          <a:prstGeom prst="rect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3749039"/>
            <a:ext cx="457200" cy="457200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417320"/>
            <a:ext cx="3200400" cy="2331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1645920"/>
            <a:ext cx="26974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181C"/>
                </a:solidFill>
                <a:latin typeface="Rockwell"/>
              </a:rPr>
              <a:t>Start → Your insurance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2B3138"/>
                </a:solidFill>
                <a:latin typeface="Arial"/>
              </a:rPr>
              <a:t>Upload the policy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2" y="3337560"/>
            <a:ext cx="2697480" cy="292608"/>
          </a:xfrm>
          <a:prstGeom prst="roundRect">
            <a:avLst>
              <a:gd name="adj" fmla="val 28000"/>
            </a:avLst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C4DCEF"/>
                </a:solidFill>
                <a:latin typeface="Arial"/>
              </a:rPr>
              <a:t>GEMINI 2.5 PRO READS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28232" y="3200399"/>
            <a:ext cx="36576" cy="777240"/>
          </a:xfrm>
          <a:prstGeom prst="rect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0" y="3749039"/>
            <a:ext cx="457200" cy="457200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417320"/>
            <a:ext cx="3200400" cy="2331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1645920"/>
            <a:ext cx="26974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181C"/>
                </a:solidFill>
                <a:latin typeface="Rockwell"/>
              </a:rPr>
              <a:t>Start → Your health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2B3138"/>
                </a:solidFill>
                <a:latin typeface="Arial"/>
              </a:rPr>
              <a:t>Upload the report or a photo.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3337560"/>
            <a:ext cx="2697480" cy="292608"/>
          </a:xfrm>
          <a:prstGeom prst="roundRect">
            <a:avLst>
              <a:gd name="adj" fmla="val 28000"/>
            </a:avLst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C4DCEF"/>
                </a:solidFill>
                <a:latin typeface="Arial"/>
              </a:rPr>
              <a:t>LLAMA 3.3 70B READS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94392" y="3200399"/>
            <a:ext cx="36576" cy="777240"/>
          </a:xfrm>
          <a:prstGeom prst="rect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84080" y="3749039"/>
            <a:ext cx="457200" cy="457200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417320"/>
            <a:ext cx="3200400" cy="2331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9952" y="1645920"/>
            <a:ext cx="26974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181C"/>
                </a:solidFill>
                <a:latin typeface="Rockwell"/>
              </a:rPr>
              <a:t>Any tab → Ask ClaimCast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2B3138"/>
                </a:solidFill>
                <a:latin typeface="Arial"/>
              </a:rPr>
              <a:t>Type or speak a question.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9952" y="3337560"/>
            <a:ext cx="2697480" cy="292608"/>
          </a:xfrm>
          <a:prstGeom prst="roundRect">
            <a:avLst>
              <a:gd name="adj" fmla="val 28000"/>
            </a:avLst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C4DCEF"/>
                </a:solidFill>
                <a:latin typeface="Arial"/>
              </a:rPr>
              <a:t>LLAMA 3.3 70B ANSWERS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8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09160"/>
            <a:ext cx="10561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7A4D"/>
                </a:solidFill>
                <a:latin typeface="Arial"/>
              </a:rPr>
              <a:t>Nowhere else. </a:t>
            </a:r>
            <a:r>
              <a:rPr sz="1250" b="0" i="0">
                <a:solidFill>
                  <a:srgbClr val="14181C"/>
                </a:solidFill>
                <a:latin typeface="Arial"/>
              </a:rPr>
              <a:t>The path, the working, every hospital, room and implant comparison, every government scheme, the bill range — all the same deterministic engine, whichever of these three doors was or was not opened. An AI reading fails closed: no extraction, no answer, no report — none of it ever substitutes for the engine's own arithmetic.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· The AI Inside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C"/>
                </a:solidFill>
                <a:latin typeface="Rockwell"/>
              </a:rPr>
              <a:t>The architecture,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872"/>
                </a:solidFill>
                <a:latin typeface="Arial"/>
              </a:rPr>
              <a:t>One request in, one of two kinds of answer out: worked by the engine, or read and then checked.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1367" y="1298448"/>
            <a:ext cx="3108960" cy="512064"/>
          </a:xfrm>
          <a:prstGeom prst="roundRect">
            <a:avLst>
              <a:gd name="adj" fmla="val 8000"/>
            </a:avLst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298448"/>
            <a:ext cx="29260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Browser  ·  React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the family's screen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95263" y="1828800"/>
            <a:ext cx="201168" cy="237744"/>
          </a:xfrm>
          <a:prstGeom prst="down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41367" y="2103120"/>
            <a:ext cx="3108960" cy="512064"/>
          </a:xfrm>
          <a:prstGeom prst="roundRect">
            <a:avLst>
              <a:gd name="adj" fmla="val 8000"/>
            </a:avLst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2807" y="2103120"/>
            <a:ext cx="292607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API  ·  Fastify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one request per screen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76956" y="2670048"/>
            <a:ext cx="201168" cy="219456"/>
          </a:xfrm>
          <a:prstGeom prst="down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8929116" y="2670048"/>
            <a:ext cx="201168" cy="219456"/>
          </a:xfrm>
          <a:prstGeom prst="down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926080"/>
            <a:ext cx="4526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4343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7A4D"/>
                </a:solidFill>
                <a:latin typeface="Arial"/>
              </a:rPr>
              <a:t>Money engine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872"/>
                </a:solidFill>
                <a:latin typeface="Arial"/>
              </a:rPr>
              <a:t>deterministic — IRDAI + policy rules, same
code in the browser and on the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926080"/>
            <a:ext cx="4526280" cy="1051560"/>
          </a:xfrm>
          <a:prstGeom prst="roundRect">
            <a:avLst>
              <a:gd name="adj" fmla="val 8000"/>
            </a:avLst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035808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AI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328416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DCEF"/>
                </a:solidFill>
                <a:latin typeface="Arial"/>
              </a:rPr>
              <a:t>whichever key is set, first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611880"/>
            <a:ext cx="4251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DCEF"/>
                </a:solidFill>
                <a:latin typeface="Arial"/>
              </a:rPr>
              <a:t>Vertex Gemini 2.5 Pro → Gemini (AI Studio) → Claude → Groq → OpenRouter Llama 3.3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929116" y="4023360"/>
            <a:ext cx="201168" cy="201168"/>
          </a:xfrm>
          <a:prstGeom prst="down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0" y="4251960"/>
            <a:ext cx="45262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25196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A4D"/>
                </a:solidFill>
                <a:latin typeface="Arial"/>
              </a:rPr>
              <a:t>Verification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872"/>
                </a:solidFill>
                <a:latin typeface="Arial"/>
              </a:rPr>
              <a:t>every quote searched in the document's own bytes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929116" y="4791456"/>
            <a:ext cx="201168" cy="182880"/>
          </a:xfrm>
          <a:prstGeom prst="down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0" y="5001768"/>
            <a:ext cx="4526280" cy="502920"/>
          </a:xfrm>
          <a:prstGeom prst="roundRect">
            <a:avLst>
              <a:gd name="adj" fmla="val 8000"/>
            </a:avLst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50017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The family confirms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field by field, beside the line it came from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3076956" y="4023360"/>
            <a:ext cx="201168" cy="1600200"/>
          </a:xfrm>
          <a:prstGeom prst="down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617720"/>
            <a:ext cx="3977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5F6872"/>
                </a:solidFill>
                <a:latin typeface="Arial"/>
              </a:rPr>
              <a:t>nothing to read or verify 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F6872"/>
                </a:solidFill>
                <a:latin typeface="Arial"/>
              </a:rPr>
              <a:t>priced the same way either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669280"/>
            <a:ext cx="10378440" cy="457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66928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3F7D"/>
                </a:solidFill>
                <a:latin typeface="Arial"/>
              </a:rPr>
              <a:t>Priced by the engine, and saved  ·  PostgreSQL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· The AI Inside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C"/>
                </a:solidFill>
                <a:latin typeface="Rockwell"/>
              </a:rPr>
              <a:t>Pipeline: reading your policy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872"/>
                </a:solidFill>
                <a:latin typeface="Arial"/>
              </a:rPr>
              <a:t>extract.ts / models.ts — six steps from a file to a priced admission.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1 · Upload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A PDF policy schedule.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02180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39924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04516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4516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2 · Retrieve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TF-IDF finds the likely passage for each detail.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93464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1208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95799" y="1627632"/>
            <a:ext cx="329184" cy="329184"/>
          </a:xfrm>
          <a:prstGeom prst="ellipse">
            <a:avLst/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799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3 · Read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Drafts 17 fields, each with a quoted line and page.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4747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2492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7083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3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4 · Verify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Every quote searched in the PDF's own 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7083" y="2962656"/>
            <a:ext cx="1234440" cy="237744"/>
          </a:xfrm>
          <a:prstGeom prst="roundRect">
            <a:avLst>
              <a:gd name="adj" fmla="val 28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07A4D"/>
                </a:solidFill>
                <a:latin typeface="Arial"/>
              </a:rPr>
              <a:t>CHECKED BY CODE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76032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3776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78367" y="1627632"/>
            <a:ext cx="329184" cy="329184"/>
          </a:xfrm>
          <a:prstGeom prst="ellipse">
            <a:avLst/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8367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5 · Confirm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The family agrees or fixes each field, beside its quote.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67316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05060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69652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9652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6 · Price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Only now does the engine read a single figure.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9652" y="2962656"/>
            <a:ext cx="1159459" cy="237744"/>
          </a:xfrm>
          <a:prstGeom prst="roundRect">
            <a:avLst>
              <a:gd name="adj" fmla="val 28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07A4D"/>
                </a:solidFill>
                <a:latin typeface="Arial"/>
              </a:rPr>
              <a:t>ENGINE, NOT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52044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520440"/>
            <a:ext cx="10561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EB8"/>
                </a:solidFill>
                <a:latin typeface="Arial"/>
              </a:rPr>
              <a:t>An unverified quote is not dropped. </a:t>
            </a:r>
            <a:r>
              <a:rPr sz="1150" b="0" i="0">
                <a:solidFill>
                  <a:srgbClr val="14181C"/>
                </a:solidFill>
                <a:latin typeface="Arial"/>
              </a:rPr>
              <a:t>It is shown on the confirm screen marked “please check this one” — the family sees exactly which figure a model could not prove against the page, and confirms or corrects it there.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17720"/>
            <a:ext cx="110916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4181C"/>
                </a:solidFill>
                <a:latin typeface="Arial"/>
              </a:rPr>
              <a:t>Reused everywhere a report is read: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the same retrieve-then-verify shape (chunkPages/retrieve, then found()) runs for the health-report pipeline and for “Ask ClaimCast” answering from your uploaded policy — one implementation, checked once.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181C"/>
                </a:solidFill>
                <a:latin typeface="Arial"/>
              </a:rPr>
              <a:t>Learns between readings: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a detail people often correct earns a warning on the next family's screen, and their corrections — only if they agreed to share them — become worked examples in the next model call.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· The AI Inside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C"/>
                </a:solidFill>
                <a:latin typeface="Rockwell"/>
              </a:rPr>
              <a:t>Pipeline: Ask ClaimCast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872"/>
                </a:solidFill>
                <a:latin typeface="Arial"/>
              </a:rPr>
              <a:t>chat.ts — an answer is only ever a phrasing of figures the engine already worked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01350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29968"/>
            <a:ext cx="170261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1 · Ask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Typed or spoken, English or Hindi.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80436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18180" y="1463040"/>
            <a:ext cx="201350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82772" y="1627632"/>
            <a:ext cx="329184" cy="329184"/>
          </a:xfrm>
          <a:prstGeom prst="ellipse">
            <a:avLst/>
          </a:prstGeom>
          <a:solidFill>
            <a:srgbClr val="00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2772" y="2029968"/>
            <a:ext cx="170261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2 · Gather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Engine facts, health facts, policy passages, 3 remembered answers.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9977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87721" y="1463040"/>
            <a:ext cx="201350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2313" y="1627632"/>
            <a:ext cx="329184" cy="329184"/>
          </a:xfrm>
          <a:prstGeom prst="ellipse">
            <a:avLst/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2313" y="2029968"/>
            <a:ext cx="170261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3 · Answer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The model replies in JSON — a phrasing, never a calculation.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19518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57262" y="1463040"/>
            <a:ext cx="201350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21854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1854" y="2029968"/>
            <a:ext cx="170261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4 · Ground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Every ₹ figure must match a fact or a verified quote.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21854" y="2962656"/>
            <a:ext cx="1234440" cy="237744"/>
          </a:xfrm>
          <a:prstGeom prst="roundRect">
            <a:avLst>
              <a:gd name="adj" fmla="val 28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07A4D"/>
                </a:solidFill>
                <a:latin typeface="Arial"/>
              </a:rPr>
              <a:t>CHECKED BY CODE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89059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26803" y="1463040"/>
            <a:ext cx="201350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91395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1395" y="2029968"/>
            <a:ext cx="170261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5 · Show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A figure that fails is flagged on screen, not hidden.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91395" y="2962656"/>
            <a:ext cx="1009497" cy="237744"/>
          </a:xfrm>
          <a:prstGeom prst="roundRect">
            <a:avLst>
              <a:gd name="adj" fmla="val 28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07A4D"/>
                </a:solidFill>
                <a:latin typeface="Arial"/>
              </a:rPr>
              <a:t>NEVER SILENT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5661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30752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EB8"/>
                </a:solidFill>
                <a:latin typeface="Rockwell"/>
              </a:rPr>
              <a:t>37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138"/>
                </a:solidFill>
                <a:latin typeface="Arial"/>
              </a:rPr>
              <a:t>engine facts computed for the reference admission — every one numbered, so a model can cite “F12” instead of copying a sentence back.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5661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3730752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A4D"/>
                </a:solidFill>
                <a:latin typeface="Arial"/>
              </a:rPr>
              <a:t>MEMORY, NOT RETRAINING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2B3138"/>
                </a:solidFill>
                <a:latin typeface="Arial"/>
              </a:rPr>
              <a:t>The 3 most similar remembered answers guide how a question is explained — no weights move, and an answer that once contained an unsupported figure is never remembered.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2064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181C"/>
                </a:solidFill>
                <a:latin typeface="Arial"/>
              </a:rPr>
              <a:t>Grounding, precisely: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groundChat() extracts every ₹ figure in the model's reply with a recogniser for ₹ / Rs. / lakh, and checks each one against the union of the numbered facts' own amounts and any policy quote already verified. A figure that matches neither is returned to the screen as unsupported — the answer is still shown, the figure is still marked.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· The AI Inside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C"/>
                </a:solidFill>
                <a:latin typeface="Rockwell"/>
              </a:rPr>
              <a:t>Pipeline: reading a health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872"/>
                </a:solidFill>
                <a:latin typeface="Arial"/>
              </a:rPr>
              <a:t>health.ts — a photo, a PDF or typed text becomes a priced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1 · Upload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PDF, photo, or typed.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02180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39924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04516" y="1627632"/>
            <a:ext cx="329184" cy="329184"/>
          </a:xfrm>
          <a:prstGeom prst="ellipse">
            <a:avLst/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4516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2 · Transcribe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A photo is read by Gemini 2.5 Flash first.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93464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1208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95799" y="1627632"/>
            <a:ext cx="329184" cy="329184"/>
          </a:xfrm>
          <a:prstGeom prst="ellipse">
            <a:avLst/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799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3 · Read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Drafts a diagnosis, tests and a treatment, each quoted.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4747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2492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87083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3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4 · Verify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Every quote searched in the report's own 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7083" y="2962656"/>
            <a:ext cx="1234440" cy="237744"/>
          </a:xfrm>
          <a:prstGeom prst="roundRect">
            <a:avLst>
              <a:gd name="adj" fmla="val 28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07A4D"/>
                </a:solidFill>
                <a:latin typeface="Arial"/>
              </a:rPr>
              <a:t>CHECKED BY CODE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76032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3776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78367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8367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5 · Match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Each test matched to a CGHS code by word overlap.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8367" y="2962656"/>
            <a:ext cx="559612" cy="237744"/>
          </a:xfrm>
          <a:prstGeom prst="roundRect">
            <a:avLst>
              <a:gd name="adj" fmla="val 28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07A4D"/>
                </a:solidFill>
                <a:latin typeface="Arial"/>
              </a:rPr>
              <a:t>NOT AI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767316" y="2258568"/>
            <a:ext cx="219456" cy="237744"/>
          </a:xfrm>
          <a:prstGeom prst="rightArrow">
            <a:avLst/>
          </a:prstGeom>
          <a:solidFill>
            <a:srgbClr val="C4D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05060" y="1463040"/>
            <a:ext cx="16352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69652" y="1627632"/>
            <a:ext cx="329184" cy="329184"/>
          </a:xfrm>
          <a:prstGeom prst="ellipse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ckwel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9652" y="2029968"/>
            <a:ext cx="13243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6 · Confirm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The family confirms; CGHS and PM-JAY rates apply.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69652" y="2962656"/>
            <a:ext cx="1159459" cy="237744"/>
          </a:xfrm>
          <a:prstGeom prst="roundRect">
            <a:avLst>
              <a:gd name="adj" fmla="val 28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07A4D"/>
                </a:solidFill>
                <a:latin typeface="Arial"/>
              </a:rPr>
              <a:t>ENGINE, NOT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56616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E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566160"/>
            <a:ext cx="105613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7A4D"/>
                </a:solidFill>
                <a:latin typeface="Arial"/>
              </a:rPr>
              <a:t>Step 5 is the one worth pausing on. </a:t>
            </a:r>
            <a:r>
              <a:rPr sz="1150" b="0" i="0">
                <a:solidFill>
                  <a:srgbClr val="14181C"/>
                </a:solidFill>
                <a:latin typeface="Arial"/>
              </a:rPr>
              <a:t>matchTests() scores every CGHS test name against the report's words, weighted by how telling each word is (rarer words count for more); bestMatch() accepts a match only above a fixed coverage threshold. No model is ever asked to price a scan or name a code — the same rule a report with no AI configured falls back to (readByRules(), keyword patterns over the report's lines).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4632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561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EB8"/>
                </a:solidFill>
                <a:latin typeface="Arial"/>
              </a:rPr>
              <a:t>Measured cost per read: </a:t>
            </a:r>
            <a:r>
              <a:rPr sz="1150" b="0" i="0">
                <a:solidFill>
                  <a:srgbClr val="2B3138"/>
                </a:solidFill>
                <a:latin typeface="Arial"/>
              </a:rPr>
              <a:t>about 4 paise for a PDF or typed report, about 8 for a photo (the extra step through Gemini Flash) — from the OpenRouter usage counter over three reads of each, 29 Sep 2026.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· The AI Inside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C"/>
                </a:solidFill>
                <a:latin typeface="Rockwell"/>
              </a:rPr>
              <a:t>What learns, and what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872"/>
                </a:solidFill>
                <a:latin typeface="Arial"/>
              </a:rPr>
              <a:t>Only one part of the system changes its own numbers. The AI is given better context — its weights never 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7A4D"/>
                </a:solidFill>
                <a:latin typeface="Arial"/>
              </a:rPr>
              <a:t>RETRAINED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10512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81C"/>
                </a:solidFill>
                <a:latin typeface="Rockwell"/>
              </a:rPr>
              <a:t>The bill-range model (XGBoost)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68680" y="2331720"/>
          <a:ext cx="470916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4617720"/>
            <a:ext cx="4800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138"/>
                </a:solidFill>
                <a:latin typeface="Arial"/>
              </a:rPr>
              <a:t>Live test, 29 Sep 2026: 10 ankle-surgery bills reported ~60% above the estimate. Every bill corrects the live forecast at once; at 10 new bills the model retrained itself into a new version (2026-09-29.1 → .2), unattended.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1371600"/>
            <a:ext cx="553212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A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3619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7A4D"/>
                </a:solidFill>
                <a:latin typeface="Arial"/>
              </a:rPr>
              <a:t>NOT RETRAINED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10512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81C"/>
                </a:solidFill>
                <a:latin typeface="Rockwell"/>
              </a:rPr>
              <a:t>The three AI readers</a:t>
            </a:r>
          </a:p>
        </p:txBody>
      </p:sp>
      <p:sp>
        <p:nvSpPr>
          <p:cNvPr id="14" name="Oval 13"/>
          <p:cNvSpPr/>
          <p:nvPr/>
        </p:nvSpPr>
        <p:spPr>
          <a:xfrm>
            <a:off x="6382512" y="2450592"/>
            <a:ext cx="310896" cy="310896"/>
          </a:xfrm>
          <a:prstGeom prst="ellipse">
            <a:avLst/>
          </a:prstGeom>
          <a:solidFill>
            <a:srgbClr val="00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42316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181C"/>
                </a:solidFill>
                <a:latin typeface="Arial"/>
              </a:rPr>
              <a:t>Policy fixes → the PDF reader  </a:t>
            </a:r>
            <a:r>
              <a:rPr sz="1050" b="0" i="0">
                <a:solidFill>
                  <a:srgbClr val="2B3138"/>
                </a:solidFill>
                <a:latin typeface="Arial"/>
              </a:rPr>
              <a:t>A detail people often correct earns a warning for the next family; corrections shared by consent become worked examples in the next prompt — the model's weights are untouched.</a:t>
            </a:r>
          </a:p>
        </p:txBody>
      </p:sp>
      <p:sp>
        <p:nvSpPr>
          <p:cNvPr id="16" name="Oval 15"/>
          <p:cNvSpPr/>
          <p:nvPr/>
        </p:nvSpPr>
        <p:spPr>
          <a:xfrm>
            <a:off x="6382512" y="3502152"/>
            <a:ext cx="310896" cy="310896"/>
          </a:xfrm>
          <a:prstGeom prst="ellipse">
            <a:avLst/>
          </a:prstGeom>
          <a:solidFill>
            <a:srgbClr val="00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347472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181C"/>
                </a:solidFill>
                <a:latin typeface="Arial"/>
              </a:rPr>
              <a:t>Saved chats → the chat's memory  </a:t>
            </a:r>
            <a:r>
              <a:rPr sz="1050" b="0" i="0">
                <a:solidFill>
                  <a:srgbClr val="2B3138"/>
                </a:solidFill>
                <a:latin typeface="Arial"/>
              </a:rPr>
              <a:t>The 3 most similar remembered answers shape how a new one is explained. An answer once flagged unsupported is never remembered.</a:t>
            </a:r>
          </a:p>
        </p:txBody>
      </p:sp>
      <p:sp>
        <p:nvSpPr>
          <p:cNvPr id="18" name="Oval 17"/>
          <p:cNvSpPr/>
          <p:nvPr/>
        </p:nvSpPr>
        <p:spPr>
          <a:xfrm>
            <a:off x="6382512" y="4553712"/>
            <a:ext cx="310896" cy="310896"/>
          </a:xfrm>
          <a:prstGeom prst="ellipse">
            <a:avLst/>
          </a:prstGeom>
          <a:solidFill>
            <a:srgbClr val="00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452628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181C"/>
                </a:solidFill>
                <a:latin typeface="Arial"/>
              </a:rPr>
              <a:t>Everything else  </a:t>
            </a:r>
            <a:r>
              <a:rPr sz="1050" b="0" i="0">
                <a:solidFill>
                  <a:srgbClr val="2B3138"/>
                </a:solidFill>
                <a:latin typeface="Arial"/>
              </a:rPr>
              <a:t>the reading and answering models are hosted, general-purpose language models. ClaimCast never fine-tunes or retrains one.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872"/>
                </a:solidFill>
                <a:latin typeface="Arial"/>
              </a:rPr>
              <a:t>ClaimCast · The AI Inside  ·  Team Rocket, IIIT-Delhi  ·  Precision Care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81C"/>
                </a:solidFill>
                <a:latin typeface="Rockwell"/>
              </a:rPr>
              <a:t>Verified, not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872"/>
                </a:solidFill>
                <a:latin typeface="Arial"/>
              </a:rPr>
              <a:t>Numbers a judge can re-run, not a promise to take on faith.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33472" cy="1965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361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EB8"/>
                </a:solidFill>
                <a:latin typeface="Rockwell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48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81C"/>
                </a:solidFill>
                <a:latin typeface="Arial"/>
              </a:rPr>
              <a:t>policy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138"/>
                </a:solidFill>
                <a:latin typeface="Arial"/>
              </a:rPr>
              <a:t>each cited to a quote and a page; none used until the family confirms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371600"/>
            <a:ext cx="2633472" cy="1965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361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EB8"/>
                </a:solidFill>
                <a:latin typeface="Rockwell"/>
              </a:rP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81C"/>
                </a:solidFill>
                <a:latin typeface="Arial"/>
              </a:rPr>
              <a:t>engine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87168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138"/>
                </a:solidFill>
                <a:latin typeface="Arial"/>
              </a:rPr>
              <a:t>numbered statements a chat answer may cite — never a number it invents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371600"/>
            <a:ext cx="2633472" cy="1965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EB8"/>
                </a:solidFill>
                <a:latin typeface="Rockwell"/>
              </a:rPr>
              <a:t>776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48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81C"/>
                </a:solidFill>
                <a:latin typeface="Arial"/>
              </a:rPr>
              <a:t>CGHS tests seeded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87168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138"/>
                </a:solidFill>
                <a:latin typeface="Arial"/>
              </a:rPr>
              <a:t>the list a health-report scan is matched against, by rule, not by a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371600"/>
            <a:ext cx="2633472" cy="1965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53619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EB8"/>
                </a:solidFill>
                <a:latin typeface="Rockwell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148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81C"/>
                </a:solidFill>
                <a:latin typeface="Arial"/>
              </a:rPr>
              <a:t>of ₹ figures checked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487168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138"/>
                </a:solidFill>
                <a:latin typeface="Arial"/>
              </a:rPr>
              <a:t>in every chat and every extraction, against facts or verified quotes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1188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11880"/>
            <a:ext cx="105613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EB8"/>
                </a:solidFill>
                <a:latin typeface="Arial"/>
              </a:rPr>
              <a:t>Checked on every change, automatically: </a:t>
            </a:r>
            <a:r>
              <a:rPr sz="1200" b="0" i="0">
                <a:solidFill>
                  <a:srgbClr val="14181C"/>
                </a:solidFill>
                <a:latin typeface="Arial"/>
              </a:rPr>
              <a:t>extract.check.ts proves the mockup policy's own fields are quotable from its own PDF before anything is asked to find them; chat.check.ts proves an invented figure and a fabricated citation are both caught; health.check.ts fixes 14 report phrasings to the right CGHS code. None of these three passes by trusting the model to have got it right.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8000"/>
            </a:avLst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10561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DCEF"/>
                </a:solidFill>
                <a:latin typeface="Arial"/>
              </a:rPr>
              <a:t>What this buys the family: </a:t>
            </a:r>
            <a:r>
              <a:rPr sz="1300" b="0" i="0">
                <a:solidFill>
                  <a:srgbClr val="FFFFFF"/>
                </a:solidFill>
                <a:latin typeface="Arial"/>
              </a:rPr>
              <a:t>a wrong or invented figure does not reach the screen silently. It reaches the screen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named as unsupported</a:t>
            </a:r>
            <a:r>
              <a:rPr sz="1300" b="0" i="0">
                <a:solidFill>
                  <a:srgbClr val="FFFFFF"/>
                </a:solidFill>
                <a:latin typeface="Arial"/>
              </a:rPr>
              <a:t>, beside the engine's own number, which is always the one the bill is actually computed from.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Arial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3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FFFFFF"/>
                </a:solidFill>
                <a:latin typeface="Rockwell"/>
              </a:rPr>
              <a:t>ClaimCast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43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C4DCEF"/>
                </a:solidFill>
                <a:latin typeface="Rockwell"/>
              </a:rPr>
              <a:t>Reads. Explains. Never decides the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Thank you  ·  Questions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DCEF"/>
                </a:solidFill>
                <a:latin typeface="Arial"/>
              </a:rPr>
              <a:t>Every figure in this deck was re-derived from the running code on 29–30 Sep 2026, not carried over.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GE Inspira Sans</vt:lpstr>
      <vt:lpstr>Times New Roman</vt:lpstr>
      <vt:lpstr>Office Theme</vt:lpstr>
      <vt:lpstr>Precision Care Challenge 2026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Care Challenge 2023</dc:title>
  <dc:creator>Sailesh, Surekha (GE HealthCare)</dc:creator>
  <cp:lastModifiedBy>Shetty, Sheeja</cp:lastModifiedBy>
  <cp:revision>3</cp:revision>
  <dcterms:created xsi:type="dcterms:W3CDTF">2023-07-11T13:48:39Z</dcterms:created>
  <dcterms:modified xsi:type="dcterms:W3CDTF">2026-08-03T06:50:47Z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c574c9-73b0-47a5-a0cf-661fbc02804c_Enabled">
    <vt:lpwstr>true</vt:lpwstr>
  </property>
  <property fmtid="{D5CDD505-2E9C-101B-9397-08002B2CF9AE}" pid="3" name="MSIP_Label_e3c574c9-73b0-47a5-a0cf-661fbc02804c_SetDate">
    <vt:lpwstr>2026-08-03T06:50:02Z</vt:lpwstr>
  </property>
  <property fmtid="{D5CDD505-2E9C-101B-9397-08002B2CF9AE}" pid="4" name="MSIP_Label_e3c574c9-73b0-47a5-a0cf-661fbc02804c_Method">
    <vt:lpwstr>Privileged</vt:lpwstr>
  </property>
  <property fmtid="{D5CDD505-2E9C-101B-9397-08002B2CF9AE}" pid="5" name="MSIP_Label_e3c574c9-73b0-47a5-a0cf-661fbc02804c_Name">
    <vt:lpwstr>Public</vt:lpwstr>
  </property>
  <property fmtid="{D5CDD505-2E9C-101B-9397-08002B2CF9AE}" pid="6" name="MSIP_Label_e3c574c9-73b0-47a5-a0cf-661fbc02804c_SiteId">
    <vt:lpwstr>9a309606-d6ec-4188-a28a-298812b4bbbf</vt:lpwstr>
  </property>
  <property fmtid="{D5CDD505-2E9C-101B-9397-08002B2CF9AE}" pid="7" name="MSIP_Label_e3c574c9-73b0-47a5-a0cf-661fbc02804c_ActionId">
    <vt:lpwstr>c058a829-f1f8-4104-8ea0-5c992c4f1f6b</vt:lpwstr>
  </property>
  <property fmtid="{D5CDD505-2E9C-101B-9397-08002B2CF9AE}" pid="8" name="MSIP_Label_e3c574c9-73b0-47a5-a0cf-661fbc02804c_ContentBits">
    <vt:lpwstr>2</vt:lpwstr>
  </property>
  <property fmtid="{D5CDD505-2E9C-101B-9397-08002B2CF9AE}" pid="9" name="MSIP_Label_e3c574c9-73b0-47a5-a0cf-661fbc02804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-Public-</vt:lpwstr>
  </property>
</Properties>
</file>